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823"/>
          </a:solidFill>
          <a:ln w="12700">
            <a:solidFill>
              <a:srgbClr val="F4A8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F4A823"/>
                </a:solidFill>
              </a:rPr>
              <a:t>GRADUATE RESEARCH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KPI Robustness in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Public Transit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269748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1"/>
                </a:solidFill>
              </a:rPr>
              <a:t>How Sensitive Is On-Time Performance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8FA3B1"/>
                </a:solidFill>
              </a:rPr>
              <a:t>to Measurement Choices?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3520440"/>
            <a:ext cx="4114800" cy="3657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3703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Your Name</a:t>
            </a:r>
            <a:pPr indent="0" marL="0">
              <a:buNone/>
            </a:pPr>
            <a:r>
              <a:rPr lang="en-US" sz="1300" dirty="0">
                <a:solidFill>
                  <a:srgbClr val="8FA3B1"/>
                </a:solidFill>
              </a:rPr>
              <a:t>   |   Graduate Seminar in Transportation Analytics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</a:rPr>
              <a:t>March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A823"/>
                </a:solidFill>
              </a:rPr>
              <a:t>MOTIVATION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10058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68680"/>
            <a:ext cx="8138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"SEPTA says a bus is on time if it's within 5 minutes of schedule.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What if that window were 3 minutes? The number changes.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The question is: by how much — and does it change the story?"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057400"/>
            <a:ext cx="2651760" cy="2514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057400"/>
            <a:ext cx="2651760" cy="64008"/>
          </a:xfrm>
          <a:prstGeom prst="rect">
            <a:avLst/>
          </a:prstGeom>
          <a:solidFill>
            <a:srgbClr val="F4A823"/>
          </a:solidFill>
          <a:ln w="12700">
            <a:solidFill>
              <a:srgbClr val="F4A8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1945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26517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Single published number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090672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Agencies report OTP as one clean figure — hiding the definitional choices that produced it.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2057400"/>
            <a:ext cx="2651760" cy="2514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2057400"/>
            <a:ext cx="2651760" cy="64008"/>
          </a:xfrm>
          <a:prstGeom prst="rect">
            <a:avLst/>
          </a:prstGeom>
          <a:solidFill>
            <a:srgbClr val="F4A823"/>
          </a:solidFill>
          <a:ln w="12700">
            <a:solidFill>
              <a:srgbClr val="F4A8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21945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37560" y="26517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Incomparable metrics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3090672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Two agencies both report "OTP" but measure it differently — comparisons are meaningless.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35040" y="2057400"/>
            <a:ext cx="2651760" cy="2514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2057400"/>
            <a:ext cx="2651760" cy="64008"/>
          </a:xfrm>
          <a:prstGeom prst="rect">
            <a:avLst/>
          </a:prstGeom>
          <a:solidFill>
            <a:srgbClr val="F4A823"/>
          </a:solidFill>
          <a:ln w="12700">
            <a:solidFill>
              <a:srgbClr val="F4A8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21945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172200" y="26517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No sensitivity standard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72200" y="3090672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No protocol exists to quantify how fragile a reported KPI is to reasonable data choices.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A823"/>
                </a:solidFill>
              </a:rPr>
              <a:t>CURRENT STATE OF 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</a:rPr>
              <a:t>Same metric. Different rules. Incomparable results.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These are real, publicly documented OTP definitions from four U.S. transit agencies: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84124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463040"/>
                <a:gridCol w="1554480"/>
                <a:gridCol w="1554480"/>
                <a:gridCol w="17373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Agency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Late Threshold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Early Threshold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Measured At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Cancellations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Spokane Transit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</a:rPr>
                        <a:t>+5 min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D9B6F"/>
                          </a:solidFill>
                        </a:rPr>
                        <a:t>0 min (strict)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Timepoints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FA3B1"/>
                          </a:solidFill>
                        </a:rPr>
                        <a:t>Not stated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MTA New York (subway)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</a:rPr>
                        <a:t>+5 min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FA3B1"/>
                          </a:solidFill>
                        </a:rPr>
                        <a:t>Any early = OK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Final stop only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D94F3D"/>
                          </a:solidFill>
                        </a:rPr>
                        <a:t>Counted as late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Metra (Chicago)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</a:rPr>
                        <a:t>+6 min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FA3B1"/>
                          </a:solidFill>
                        </a:rPr>
                        <a:t>Any early = OK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Final stop only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D9B6F"/>
                          </a:solidFill>
                        </a:rPr>
                        <a:t>Excluded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D1B2A"/>
                          </a:solidFill>
                        </a:rPr>
                        <a:t>SEPTA (Philadelphia)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D94F3D"/>
                          </a:solidFill>
                        </a:rPr>
                        <a:t>Not published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D94F3D"/>
                          </a:solidFill>
                        </a:rPr>
                        <a:t>Not published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D94F3D"/>
                          </a:solidFill>
                        </a:rPr>
                        <a:t>Not specified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D94F3D"/>
                          </a:solidFill>
                        </a:rPr>
                        <a:t>Not specified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526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FA3B1"/>
                </a:solidFill>
              </a:rPr>
              <a:t>Sources: Metra OTP Report; MTA 2020 Annual Performance Metrics Report; Swiftly/Spokane Transit webinar; SEPTA Tracking Progress dashboard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65760" y="4069080"/>
            <a:ext cx="8412480" cy="411480"/>
          </a:xfrm>
          <a:prstGeom prst="rect">
            <a:avLst/>
          </a:prstGeom>
          <a:solidFill>
            <a:srgbClr val="FFF3CD"/>
          </a:solidFill>
          <a:ln w="12700">
            <a:solidFill>
              <a:srgbClr val="F4A82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4069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5E00"/>
                </a:solidFill>
              </a:rPr>
              <a:t>⚠  SEPTA — the agency in this study — does not publicly disclose its OTP definition. This is not an accusation. It is evidence the problem is real.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A823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 KPI Robustness Protocol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1"/>
                </a:solidFill>
              </a:rPr>
              <a:t>Instead of reporting OTP as a single number, report it with a robustness band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A3B1"/>
                </a:solidFill>
              </a:rPr>
              <a:t>that shows how much the metric moves across reasonable definitional choices.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148840"/>
            <a:ext cx="2651760" cy="2560320"/>
          </a:xfrm>
          <a:prstGeom prst="rect">
            <a:avLst/>
          </a:prstGeom>
          <a:solidFill>
            <a:srgbClr val="1B3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2240280"/>
            <a:ext cx="640080" cy="640080"/>
          </a:xfrm>
          <a:prstGeom prst="ellipse">
            <a:avLst/>
          </a:prstGeom>
          <a:solidFill>
            <a:srgbClr val="F4A823"/>
          </a:solidFill>
          <a:ln w="12700">
            <a:solidFill>
              <a:srgbClr val="F4A8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29718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Define specifications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401568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Enumerate ~12–18 reasonable preprocessing choices: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lateness threshold, stop selection, cancellation handling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017520" y="3337560"/>
            <a:ext cx="182880" cy="54864"/>
          </a:xfrm>
          <a:prstGeom prst="rect">
            <a:avLst/>
          </a:prstGeom>
          <a:solidFill>
            <a:srgbClr val="F4A823"/>
          </a:solidFill>
          <a:ln w="12700">
            <a:solidFill>
              <a:srgbClr val="F4A82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2148840"/>
            <a:ext cx="2651760" cy="2560320"/>
          </a:xfrm>
          <a:prstGeom prst="rect">
            <a:avLst/>
          </a:prstGeom>
          <a:solidFill>
            <a:srgbClr val="1B3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2240280"/>
            <a:ext cx="640080" cy="640080"/>
          </a:xfrm>
          <a:prstGeom prst="ellipse">
            <a:avLst/>
          </a:prstGeom>
          <a:solidFill>
            <a:srgbClr val="F4A823"/>
          </a:solidFill>
          <a:ln w="12700">
            <a:solidFill>
              <a:srgbClr val="F4A8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37560" y="29718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Compute OTP under all specs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3401568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Run the same underlying data through every scenario using SEPTA GTFS + live GTFS-RT feeds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52160" y="3337560"/>
            <a:ext cx="182880" cy="54864"/>
          </a:xfrm>
          <a:prstGeom prst="rect">
            <a:avLst/>
          </a:prstGeom>
          <a:solidFill>
            <a:srgbClr val="F4A823"/>
          </a:solidFill>
          <a:ln w="12700">
            <a:solidFill>
              <a:srgbClr val="F4A82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2148840"/>
            <a:ext cx="2651760" cy="2560320"/>
          </a:xfrm>
          <a:prstGeom prst="rect">
            <a:avLst/>
          </a:prstGeom>
          <a:solidFill>
            <a:srgbClr val="1B3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40880" y="2240280"/>
            <a:ext cx="640080" cy="640080"/>
          </a:xfrm>
          <a:prstGeom prst="ellipse">
            <a:avLst/>
          </a:prstGeom>
          <a:solidFill>
            <a:srgbClr val="F4A823"/>
          </a:solidFill>
          <a:ln w="12700">
            <a:solidFill>
              <a:srgbClr val="F4A8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172200" y="29718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Report the robustness band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72200" y="3401568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OTP = 82% ± 4pp.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Identify which choices drive the most variance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A823"/>
                </a:solidFill>
              </a:rPr>
              <a:t>DATA &amp; CURRENT STATUS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</a:rPr>
              <a:t>This is already running — not just planned.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4A823"/>
                </a:solidFill>
              </a:rPr>
              <a:t>DATA SOURCES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39319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91640"/>
            <a:ext cx="64008" cy="713232"/>
          </a:xfrm>
          <a:prstGeom prst="rect">
            <a:avLst/>
          </a:prstGeom>
          <a:solidFill>
            <a:srgbClr val="F4A823"/>
          </a:solidFill>
          <a:ln w="12700">
            <a:solidFill>
              <a:srgbClr val="F4A8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783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GTFS Static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2057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~2.4M rows, ~42K trips — downloaded &amp; explored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514600"/>
            <a:ext cx="39319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514600"/>
            <a:ext cx="64008" cy="713232"/>
          </a:xfrm>
          <a:prstGeom prst="rect">
            <a:avLst/>
          </a:prstGeom>
          <a:solidFill>
            <a:srgbClr val="F4A823"/>
          </a:solidFill>
          <a:ln w="12700">
            <a:solidFill>
              <a:srgbClr val="F4A8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606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GTFS-RT Live Feed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28803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Bus trip updates, vehicle positions, alerts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337560"/>
            <a:ext cx="39319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337560"/>
            <a:ext cx="64008" cy="713232"/>
          </a:xfrm>
          <a:prstGeom prst="rect">
            <a:avLst/>
          </a:prstGeom>
          <a:solidFill>
            <a:srgbClr val="F4A823"/>
          </a:solidFill>
          <a:ln w="12700">
            <a:solidFill>
              <a:srgbClr val="F4A8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429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SEPTA (Philadelphia)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" y="37033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Publicly available, versioned schedule releases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663440" y="1325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4A823"/>
                </a:solidFill>
              </a:rPr>
              <a:t>LIVE INFRASTRUCTURE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1691640"/>
            <a:ext cx="4114800" cy="2423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1828800"/>
            <a:ext cx="164592" cy="164592"/>
          </a:xfrm>
          <a:prstGeom prst="ellipse">
            <a:avLst/>
          </a:prstGeom>
          <a:solidFill>
            <a:srgbClr val="2D9B6F"/>
          </a:solidFill>
          <a:ln w="12700">
            <a:solidFill>
              <a:srgbClr val="2D9B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17830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9B6F"/>
                </a:solidFill>
              </a:rPr>
              <a:t>LIVE — Archiver running now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2103120"/>
            <a:ext cx="3886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fetcher-1 | Interval: 60s
</a:t>
            </a:r>
            <a:pPr indent="0" marL="0">
              <a:buNone/>
            </a:pPr>
            <a:r>
              <a:rPr lang="en-US" sz="900" dirty="0">
                <a:solidFill>
                  <a:srgbClr val="F4A8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[20260228T221026Z]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347,547 bytes
</a:t>
            </a:r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/data/raw/gtfs_rt/bus_trip_updates/
</a:t>
            </a:r>
            <a:pPr indent="0" marL="0">
              <a:buNone/>
            </a:pPr>
            <a:r>
              <a:rPr lang="en-US" sz="900" dirty="0">
                <a:solidFill>
                  <a:srgbClr val="F4A8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[20260228T221126Z]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351,203 bytes
</a:t>
            </a:r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/data/raw/gtfs_rt/bus_trip_updates/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44348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</a:rPr>
              <a:t>Next step: scope 2–3 bus routes → define specification set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A823"/>
                </a:solidFill>
              </a:rPr>
              <a:t>SOLUTION SKETCH &amp; TIMELINE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011680" cy="39776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2011680" cy="73152"/>
          </a:xfrm>
          <a:prstGeom prst="rect">
            <a:avLst/>
          </a:prstGeom>
          <a:solidFill>
            <a:srgbClr val="F4A823"/>
          </a:solidFill>
          <a:ln w="12700">
            <a:solidFill>
              <a:srgbClr val="F4A8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4A823"/>
                </a:solidFill>
              </a:rPr>
              <a:t>NOW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4447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823"/>
                </a:solidFill>
              </a:rPr>
              <a:t>Scope + Static Analysis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965960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823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Pick 2–3 bus routes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2606040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823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Understand scheduled headways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3246120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823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Define KPI specification set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50592" y="822960"/>
            <a:ext cx="201168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50592" y="822960"/>
            <a:ext cx="2011680" cy="73152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42032" y="9601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FA3B1"/>
                </a:solidFill>
              </a:rPr>
              <a:t>NEXT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542032" y="1188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Phase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42032" y="14447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</a:rPr>
              <a:t>Parse GTFS-RT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60320" y="1965960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823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Decode protobuf files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60320" y="2606040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823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Match trips to schedule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60320" y="3246120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823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Reconstruct stop events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26864" y="822960"/>
            <a:ext cx="201168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26864" y="822960"/>
            <a:ext cx="2011680" cy="73152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18304" y="9601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FA3B1"/>
                </a:solidFill>
              </a:rPr>
              <a:t>MID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18304" y="1188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Phase 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18304" y="14447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</a:rPr>
              <a:t>Compute &amp; Compare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36592" y="1965960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823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OTP under all ~15 specs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36592" y="2606040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823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Measure sensitivity bands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36592" y="3246120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823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Identify which choices matter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03136" y="822960"/>
            <a:ext cx="201168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03136" y="822960"/>
            <a:ext cx="2011680" cy="73152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94576" y="9601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FA3B1"/>
                </a:solidFill>
              </a:rPr>
              <a:t>FINAL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894576" y="1188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Phase 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94576" y="14447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</a:rPr>
              <a:t>Dashboard + Paper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12864" y="1965960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823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Robustness band visualization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12864" y="2606040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823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Spec curve analysis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12864" y="3246120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823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Reproducible open repo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A823"/>
                </a:solidFill>
              </a:rPr>
              <a:t>WHAT SUCCESS LOOKS LIKE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Four concrete deliverables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023360" cy="1463040"/>
          </a:xfrm>
          <a:prstGeom prst="rect">
            <a:avLst/>
          </a:prstGeom>
          <a:solidFill>
            <a:srgbClr val="1B3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63040"/>
            <a:ext cx="73152" cy="1463040"/>
          </a:xfrm>
          <a:prstGeom prst="rect">
            <a:avLst/>
          </a:prstGeom>
          <a:solidFill>
            <a:srgbClr val="F4A823"/>
          </a:solidFill>
          <a:ln w="12700">
            <a:solidFill>
              <a:srgbClr val="F4A8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00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43000" y="157276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Reproducible Pipeline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19202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Open GitHub repo — every KPI tied to an exact GTFS release and set of specification parameters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1463040"/>
            <a:ext cx="4023360" cy="1463040"/>
          </a:xfrm>
          <a:prstGeom prst="rect">
            <a:avLst/>
          </a:prstGeom>
          <a:solidFill>
            <a:srgbClr val="1B3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1463040"/>
            <a:ext cx="73152" cy="1463040"/>
          </a:xfrm>
          <a:prstGeom prst="rect">
            <a:avLst/>
          </a:prstGeom>
          <a:solidFill>
            <a:srgbClr val="F4A823"/>
          </a:solidFill>
          <a:ln w="12700">
            <a:solidFill>
              <a:srgbClr val="F4A8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600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94960" y="157276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Robustness Dashboard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94960" y="19202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OTP shown as a band across scenarios, not a single number. Includes spec curve and driver analysis.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154680"/>
            <a:ext cx="4023360" cy="1463040"/>
          </a:xfrm>
          <a:prstGeom prst="rect">
            <a:avLst/>
          </a:prstGeom>
          <a:solidFill>
            <a:srgbClr val="1B3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154680"/>
            <a:ext cx="73152" cy="1463040"/>
          </a:xfrm>
          <a:prstGeom prst="rect">
            <a:avLst/>
          </a:prstGeom>
          <a:solidFill>
            <a:srgbClr val="F4A823"/>
          </a:solidFill>
          <a:ln w="12700">
            <a:solidFill>
              <a:srgbClr val="F4A8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2918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43000" y="326440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Protocol Checklist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3000" y="36118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One-page standard: every KPI report must declare its specification choices and sensitivity range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17720" y="3154680"/>
            <a:ext cx="4023360" cy="1463040"/>
          </a:xfrm>
          <a:prstGeom prst="rect">
            <a:avLst/>
          </a:prstGeom>
          <a:solidFill>
            <a:srgbClr val="1B3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17720" y="3154680"/>
            <a:ext cx="73152" cy="1463040"/>
          </a:xfrm>
          <a:prstGeom prst="rect">
            <a:avLst/>
          </a:prstGeom>
          <a:solidFill>
            <a:srgbClr val="F4A823"/>
          </a:solidFill>
          <a:ln w="12700">
            <a:solidFill>
              <a:srgbClr val="F4A8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2918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394960" y="326440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Research Paper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94960" y="36118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Answering: which preprocessing choices matter most, and by how much — with SEPTA as the case study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KPI Robustness in Public Transit</dc:title>
  <dc:subject>PptxGenJS Presentation</dc:subject>
  <dc:creator>PptxGenJS</dc:creator>
  <cp:lastModifiedBy>PptxGenJS</cp:lastModifiedBy>
  <cp:revision>1</cp:revision>
  <dcterms:created xsi:type="dcterms:W3CDTF">2026-03-19T19:20:05Z</dcterms:created>
  <dcterms:modified xsi:type="dcterms:W3CDTF">2026-03-19T19:20:05Z</dcterms:modified>
</cp:coreProperties>
</file>