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5" d="100"/>
          <a:sy n="165" d="100"/>
        </p:scale>
        <p:origin x="232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Mean OTP range (pp)</c:v>
                </c:pt>
              </c:strCache>
            </c:strRef>
          </c:tx>
          <c:spPr>
            <a:solidFill>
              <a:srgbClr val="E8B547"/>
            </a:solidFill>
            <a:effectLst/>
          </c:spPr>
          <c:invertIfNegative val="0"/>
          <c:dLbls>
            <c:numFmt formatCode="0.0" sourceLinked="0"/>
            <c:spPr>
              <a:noFill/>
              <a:ln>
                <a:noFill/>
              </a:ln>
              <a:effectLst/>
            </c:spPr>
            <c:txPr>
              <a:bodyPr/>
              <a:lstStyle/>
              <a:p>
                <a:pPr>
                  <a:defRPr sz="1100" b="0" i="0" u="none" strike="noStrike">
                    <a:solidFill>
                      <a:srgbClr val="1A243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Snapshot rule</c:v>
                </c:pt>
                <c:pt idx="1">
                  <c:v>Lateness window</c:v>
                </c:pt>
                <c:pt idx="2">
                  <c:v>Early treatment</c:v>
                </c:pt>
                <c:pt idx="3">
                  <c:v>Stop selection</c:v>
                </c:pt>
                <c:pt idx="4">
                  <c:v>Time of day</c:v>
                </c:pt>
                <c:pt idx="5">
                  <c:v>Delay basis</c:v>
                </c:pt>
              </c:strCache>
            </c:strRef>
          </c:cat>
          <c:val>
            <c:numRef>
              <c:f>Sheet1!$B$2:$B$7</c:f>
              <c:numCache>
                <c:formatCode>General</c:formatCode>
                <c:ptCount val="6"/>
                <c:pt idx="0">
                  <c:v>30.7</c:v>
                </c:pt>
                <c:pt idx="1">
                  <c:v>27.3</c:v>
                </c:pt>
                <c:pt idx="2">
                  <c:v>14.8</c:v>
                </c:pt>
                <c:pt idx="3">
                  <c:v>9.6</c:v>
                </c:pt>
                <c:pt idx="4">
                  <c:v>7.5</c:v>
                </c:pt>
                <c:pt idx="5">
                  <c:v>0</c:v>
                </c:pt>
              </c:numCache>
            </c:numRef>
          </c:val>
          <c:extLst>
            <c:ext xmlns:c16="http://schemas.microsoft.com/office/drawing/2014/chart" uri="{C3380CC4-5D6E-409C-BE32-E72D297353CC}">
              <c16:uniqueId val="{00000000-598D-4985-AE3D-EC9964BF6009}"/>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2438"/>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5433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Tobi. This is the final results presentation for my final project: KPI Robustness in On-Time Performance Measurement.</a:t>
            </a:r>
          </a:p>
          <a:p>
            <a:r>
              <a:rPr lang="en-US" dirty="0"/>
              <a:t>The question I’m asking is pretty simple: when a transit agency or analyst tells you a bus route is, say, 75 percent on time, how much does that number depend on the choices someone made to compute it?</a:t>
            </a:r>
          </a:p>
          <a:p>
            <a:r>
              <a:rPr lang="en-US" dirty="0"/>
              <a:t>The answer is: a lot more than I expected.</a:t>
            </a:r>
          </a:p>
          <a:p>
            <a:r>
              <a:rPr lang="en-US" dirty="0"/>
              <a:t>[next slide]</a:t>
            </a:r>
          </a:p>
          <a:p>
            <a:r>
              <a:rPr lang="en-US" dirty="0"/>
              <a:t>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setup.</a:t>
            </a:r>
          </a:p>
          <a:p>
            <a:r>
              <a:rPr lang="en-US" dirty="0"/>
              <a:t>Transit agencies publish on-time performance numbers all the time. SEPTA, the MTA in New York, Metra in Chicago — they all report OTP as a single clean percentage on a dashboard somewhere.</a:t>
            </a:r>
          </a:p>
          <a:p>
            <a:r>
              <a:rPr lang="en-US" dirty="0"/>
              <a:t>But if you’re an outside analyst — a researcher, a journalist, or someone at a watchdog group — and you want to compute OTP yourself from public real-time data, you have to make a lot of methodological choices first.</a:t>
            </a:r>
          </a:p>
          <a:p>
            <a:r>
              <a:rPr lang="en-US" dirty="0"/>
              <a:t>Some are obvious. What counts as on time — three minutes late? Five minutes late? Some are less obvious: how do you handle early arrivals? Which stops do you measure at?</a:t>
            </a:r>
          </a:p>
          <a:p>
            <a:r>
              <a:rPr lang="en-US" dirty="0"/>
              <a:t>And then there are choices that happen even earlier in the pipeline, before the OTP definition is even applied. </a:t>
            </a:r>
          </a:p>
          <a:p>
            <a:r>
              <a:rPr lang="en-US" dirty="0"/>
              <a:t>The result is what you see on the slide: hidden choices, upstream reconstruction decisions, and the same data producing dramatically different numbers depending on the method.</a:t>
            </a:r>
          </a:p>
          <a:p>
            <a:r>
              <a:rPr lang="en-US" dirty="0"/>
              <a:t>[next slide]</a:t>
            </a:r>
          </a:p>
          <a:p>
            <a:r>
              <a:rPr lang="en-US" dirty="0"/>
              <a:t>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core of the project.</a:t>
            </a:r>
          </a:p>
          <a:p>
            <a:r>
              <a:rPr lang="en-US" dirty="0"/>
              <a:t>When you compute OTP from public GTFS-RT data — that’s the standard real-time transit feed format — you go through these five steps.</a:t>
            </a:r>
          </a:p>
          <a:p>
            <a:r>
              <a:rPr lang="en-US" dirty="0"/>
              <a:t>You archive the live feed. You match the real-time updates to the static schedule. You assign each event to a service date, which is trickier than it sounds because some bus trips cross midnight. You reconstruct the stop event. And finally, you apply the OTP definition.</a:t>
            </a:r>
          </a:p>
          <a:p>
            <a:r>
              <a:rPr lang="en-US" dirty="0"/>
              <a:t>The literature on OTP definitions has been around for years. Lateness windows, stop selection, how to handle early arrivals — those are the choices people usually discuss. Those mostly live in step five.</a:t>
            </a:r>
          </a:p>
          <a:p>
            <a:r>
              <a:rPr lang="en-US" dirty="0"/>
              <a:t>But step four gets much less attention.</a:t>
            </a:r>
          </a:p>
          <a:p>
            <a:r>
              <a:rPr lang="en-US" dirty="0"/>
              <a:t>Here’s why it matters. GTFS-RT is not a finished historical record. It is a stream of live predictions. As a bus approaches a stop, the feed updates the predicted arrival time over and over. So for one scheduled stop event, you may have many different predictions.</a:t>
            </a:r>
          </a:p>
          <a:p>
            <a:r>
              <a:rPr lang="en-US" dirty="0"/>
              <a:t>Which one represents the stop? You have to pick. That choice — the snapshot-selection rule — is the under-examined methodological choice I’m focusing on.</a:t>
            </a:r>
          </a:p>
          <a:p>
            <a:r>
              <a:rPr lang="en-US" dirty="0"/>
              <a:t>I compare three rules: closest, which picks the prediction closest to scheduled time; last_before, which picks the last prediction before scheduled time; and latest, which picks the chronologically last prediction available. In this study, latest is treated as the closest GTFS-RT-only proxy for what actually happened.</a:t>
            </a:r>
          </a:p>
          <a:p>
            <a:r>
              <a:rPr lang="en-US" dirty="0"/>
              <a:t>Hold those three names in your head. We’ll come back to them.</a:t>
            </a:r>
          </a:p>
          <a:p>
            <a:r>
              <a:rPr lang="en-US" dirty="0"/>
              <a:t>[next slide]</a:t>
            </a:r>
          </a:p>
          <a:p>
            <a:r>
              <a:rPr lang="en-US" dirty="0"/>
              <a:t>3</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word on the framework.</a:t>
            </a:r>
          </a:p>
          <a:p>
            <a:r>
              <a:rPr lang="en-US" dirty="0"/>
              <a:t>I’m building on specification-curve analysis and multiverse analysis. The basic idea is: instead of computing the metric once with one set of choices, compute it across a structured set of reasonable choices and report the distribution.</a:t>
            </a:r>
          </a:p>
          <a:p>
            <a:r>
              <a:rPr lang="en-US" dirty="0"/>
              <a:t>I chose six dimensions because each one represents a choice an external analyst has to make when computing OTP from the data.</a:t>
            </a:r>
          </a:p>
          <a:p>
            <a:r>
              <a:rPr lang="en-US" dirty="0"/>
              <a:t>First is snapshot rule. This is the GTFS-RT-specific choice. Since the feed gives repeated predictions for the same scheduled stop, I need a rule for deciding which prediction represents the stop event.</a:t>
            </a:r>
          </a:p>
          <a:p>
            <a:r>
              <a:rPr lang="en-US" dirty="0"/>
              <a:t>Second is lateness window. This is the classic OTP definition choice: how many minutes early or late still counts as on time? I test a strict 0 to 3 minute window, a moderate -1 to +5 window, and a wider -2 to +7 window.</a:t>
            </a:r>
          </a:p>
          <a:p>
            <a:r>
              <a:rPr lang="en-US" dirty="0"/>
              <a:t>Third is early treatment. Early buses are tricky because they may look “not late,” but from a rider perspective, an early bus can be worse than a late bus because you might miss it completely. So I compare counting early arrivals as failures versus ignoring them.</a:t>
            </a:r>
          </a:p>
          <a:p>
            <a:r>
              <a:rPr lang="en-US" dirty="0"/>
              <a:t>Fourth is stop selection. Some OTP systems measure all stops, while others focus on timepoints or terminals. That matters because endpoint performance may not represent the whole route.</a:t>
            </a:r>
          </a:p>
          <a:p>
            <a:r>
              <a:rPr lang="en-US" dirty="0"/>
              <a:t>Fifth is time of day. Reliability can differ between AM peak, midday, PM peak, evening, and all-day service, so I include those windows separately.</a:t>
            </a:r>
          </a:p>
          <a:p>
            <a:r>
              <a:rPr lang="en-US" dirty="0"/>
              <a:t>Sixth is delay basis: arrival versus departure time. In SEPTA’s static GTFS feed, those scheduled times are encoded identically at every stop, so this dimension ends up producing no variation. But I kept it because it is still a real choice in GTFS-based analysis, and the zero result tells us something about the feed.</a:t>
            </a:r>
          </a:p>
          <a:p>
            <a:r>
              <a:rPr lang="en-US" dirty="0"/>
              <a:t>Crossing those six dimensions gives 540 specifications per route. With two routes, that gives 1,080 total specifications.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final finding.</a:t>
            </a:r>
          </a:p>
          <a:p>
            <a:r>
              <a:rPr lang="en-US" dirty="0"/>
              <a:t>The full design creates 1,080 total specifications. For the main results, I focus on the high-sample specifications — 864 total, or 432 per route.</a:t>
            </a:r>
          </a:p>
          <a:p>
            <a:r>
              <a:rPr lang="en-US" dirty="0"/>
              <a:t>For Route 23, OTP ranges from 20.3 percent all the way up to 99.8 percent. The median is 67 percent. That is a 79.5 percentage-point spread.</a:t>
            </a:r>
          </a:p>
          <a:p>
            <a:r>
              <a:rPr lang="en-US" dirty="0"/>
              <a:t>Route 47 shows almost the same pattern: 20.3 percent at the low end, 99.3 percent at the high end, with a median of 60 percent.</a:t>
            </a:r>
          </a:p>
          <a:p>
            <a:r>
              <a:rPr lang="en-US" dirty="0"/>
              <a:t>So the same underlying data — the same routes, same agency, same time period — can produce values from about 20 percent on time to almost 100 percent on time.</a:t>
            </a:r>
          </a:p>
          <a:p>
            <a:r>
              <a:rPr lang="en-US" dirty="0"/>
              <a:t>That does not mean every number is equally useful for every purpose. It means the reported number depends heavily on which reasonable specification was used.</a:t>
            </a:r>
          </a:p>
          <a:p>
            <a:r>
              <a:rPr lang="en-US" dirty="0"/>
              <a:t>If someone publishes only one OTP number from public GTFS-RT data without disclosing the method, the reader has no way to know which version of the question that number answered.</a:t>
            </a:r>
          </a:p>
          <a:p>
            <a:r>
              <a:rPr lang="en-US" dirty="0"/>
              <a:t>[next slide]</a:t>
            </a:r>
          </a:p>
          <a:p>
            <a:r>
              <a:rPr lang="en-US" dirty="0"/>
              <a:t>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specification curve.</a:t>
            </a:r>
          </a:p>
          <a:p>
            <a:r>
              <a:rPr lang="en-US" dirty="0"/>
              <a:t>You do not need to read every tick mark. The point is the overall pattern.</a:t>
            </a:r>
          </a:p>
          <a:p>
            <a:r>
              <a:rPr lang="en-US" dirty="0"/>
              <a:t>The top panel shows the OTP estimates sorted from lowest to highest. Route 23 is in dark blue, and Route 47 is in gold. The curve starts around 20 percent and rises to almost 100 percent. The dashed lines mark the medians: 67 percent for Route 23 and 60 percent for Route 47.</a:t>
            </a:r>
          </a:p>
          <a:p>
            <a:r>
              <a:rPr lang="en-US" dirty="0"/>
              <a:t>The bottom panel shows which methodological choices produced those values. The color groups correspond to the main specification dimensions: snapshot rule, lateness window, early treatment, stop selection, and time of day. Delay basis is omitted here because it produces identical values in SEPTA’s data.</a:t>
            </a:r>
          </a:p>
          <a:p>
            <a:r>
              <a:rPr lang="en-US" dirty="0"/>
              <a:t>If you look at the snapshot-rule group at the top. The closest rule clusters toward the high-OTP side. The latest and last_before rules appear much more on the lower side. That pattern is the snapshot-rule effect made visible.</a:t>
            </a:r>
          </a:p>
          <a:p>
            <a:r>
              <a:rPr lang="en-US" dirty="0"/>
              <a:t>The lateness window also behaves the way we would expect: stricter windows show up more on the low-OTP side, while wider windows show up more on the high-OTP side.</a:t>
            </a:r>
          </a:p>
          <a:p>
            <a:r>
              <a:rPr lang="en-US" dirty="0"/>
              <a:t>The key takeaway is that the curve itself is the answer. There is no single privileged point. The reported OTP depends on which path through the specification space the analyst chose.</a:t>
            </a:r>
          </a:p>
          <a:p>
            <a:r>
              <a:rPr lang="en-US" dirty="0"/>
              <a:t>[next slide]</a:t>
            </a:r>
          </a:p>
          <a:p>
            <a:r>
              <a:rPr lang="en-US" dirty="0"/>
              <a:t>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showed the pattern visually. This slide quantifies it.</a:t>
            </a:r>
          </a:p>
          <a:p>
            <a:r>
              <a:rPr lang="en-US" dirty="0"/>
              <a:t>For each dimension, I held all the other choices fixed and measured how much OTP changed when I varied only that one dimension. Then I averaged across all combinations.</a:t>
            </a:r>
          </a:p>
          <a:p>
            <a:r>
              <a:rPr lang="en-US" dirty="0"/>
              <a:t>Snapshot selection is the largest source of variation. It produces a mean OTP range of 30.7 percentage points.</a:t>
            </a:r>
          </a:p>
          <a:p>
            <a:r>
              <a:rPr lang="en-US" dirty="0"/>
              <a:t>That is larger than any other dimension, including the lateness window, which comes second at 27.3 percentage points.</a:t>
            </a:r>
          </a:p>
          <a:p>
            <a:r>
              <a:rPr lang="en-US" dirty="0"/>
              <a:t>Early treatment comes third at about 15 points. Stop selection is 9.6 points. Time of day is 7.5.</a:t>
            </a:r>
          </a:p>
          <a:p>
            <a:r>
              <a:rPr lang="en-US" dirty="0"/>
              <a:t>In this case study, stop selection was smaller than I expected, especially because prior work suggests stop sampling can matter for OTP. That does not mean stop selection is unimportant generally. It means that in this GTFS-RT reconstruction setting, snapshot selection moved the KPI more.</a:t>
            </a:r>
          </a:p>
          <a:p>
            <a:r>
              <a:rPr lang="en-US" dirty="0"/>
              <a:t>Delay basis contributes zero because SEPTA’s static GTFS feed encodes arrival and departure times identically at each stop.</a:t>
            </a:r>
          </a:p>
          <a:p>
            <a:r>
              <a:rPr lang="en-US" dirty="0"/>
              <a:t>Snapshot selection is the largest source of variation in this case study, and it is less visible than choices like the lateness window because it happens upstream during event reconstruction.</a:t>
            </a:r>
          </a:p>
          <a:p>
            <a:r>
              <a:rPr lang="en-US" dirty="0"/>
              <a:t>[next slide]</a:t>
            </a:r>
          </a:p>
          <a:p>
            <a:r>
              <a:rPr lang="en-US" dirty="0"/>
              <a:t>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takes a closer look at the largest sensitivity dimension: snapshot selection.</a:t>
            </a:r>
          </a:p>
          <a:p>
            <a:r>
              <a:rPr lang="en-US" dirty="0"/>
              <a:t>The direction of this result is not surprising. If a rule selects the prediction closest to scheduled time, it will tend to produce higher OTP, because OTP itself rewards closeness to scheduled time. I am not treating closest as the recommended reporting rule. I include it as a plausible but outcome-biased reconstruction shortcut.</a:t>
            </a:r>
          </a:p>
          <a:p>
            <a:r>
              <a:rPr lang="en-US" dirty="0"/>
              <a:t>The important point is the size of the effect. Holding everything else fixed — minus-one to plus-five lateness window, count early as late, all stops, all day, arrival-based delay — changing only the snapshot rule moves Route 23 from 87.4 percent with closest to 56.0 percent with latest. Route 47 moves from 86.2 percent to 48.8 percent.</a:t>
            </a:r>
          </a:p>
          <a:p>
            <a:r>
              <a:rPr lang="en-US" dirty="0"/>
              <a:t>Same data. Same lateness window. Same stops. Same time period. The only thing that changed is which GTFS-RT prediction represents the stop event.</a:t>
            </a:r>
          </a:p>
          <a:p>
            <a:r>
              <a:rPr lang="en-US" dirty="0"/>
              <a:t>The takeaway is that the reconstruction step can change the final KPI before the OTP window is even applied.</a:t>
            </a:r>
          </a:p>
          <a:p>
            <a:r>
              <a:rPr lang="en-US" dirty="0"/>
              <a:t>[next slide]</a:t>
            </a:r>
          </a:p>
          <a:p>
            <a:r>
              <a:rPr lang="en-US" dirty="0"/>
              <a:t>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objection is: are the extreme specifications just bugs or edge cases?</a:t>
            </a:r>
          </a:p>
          <a:p>
            <a:r>
              <a:rPr lang="en-US" dirty="0"/>
              <a:t>I do not think so. They are produced by combinations of individually reasonable choices.</a:t>
            </a:r>
          </a:p>
          <a:p>
            <a:r>
              <a:rPr lang="en-US" dirty="0"/>
              <a:t>The high-end specifications share a pattern: closest snapshot rule, ignore early arrivals, wider lateness window, and AM peak. Each of those can be defended in isolation. But together, they select strongly for stop events that look on time, producing values near 99 percent.</a:t>
            </a:r>
          </a:p>
          <a:p>
            <a:r>
              <a:rPr lang="en-US" dirty="0"/>
              <a:t>The low-end specifications have a different pattern: last_before or latest, count early arrivals as failures, strict 0-to-3-minute window, and terminals only. That combines stricter reconstruction with a stricter OTP definition, so it produces values near 20 percent.</a:t>
            </a:r>
          </a:p>
          <a:p>
            <a:r>
              <a:rPr lang="en-US" dirty="0"/>
              <a:t>Neither endpoint should be treated as “the” correct value. The point is that without disclosure, the reader cannot tell which question the reported OTP number actually answered.</a:t>
            </a:r>
          </a:p>
          <a:p>
            <a:r>
              <a:rPr lang="en-US" dirty="0"/>
              <a:t>[next slide]</a:t>
            </a:r>
          </a:p>
          <a:p>
            <a:r>
              <a:rPr lang="en-US" dirty="0"/>
              <a:t>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do about this?</a:t>
            </a:r>
          </a:p>
          <a:p>
            <a:r>
              <a:rPr lang="en-US" dirty="0"/>
              <a:t>The practical contribution is a minimum disclosure checklist for GTFS-RT-based OTP reports.</a:t>
            </a:r>
          </a:p>
          <a:p>
            <a:r>
              <a:rPr lang="en-US" dirty="0"/>
              <a:t>I would not read all eleven items here. The point is that an OTP number should come with its methodology: lateness window, early-arrival treatment, stop selection, service-date rule, trip matching, sample size, exclusions, feed interval, and GTFS version.</a:t>
            </a:r>
          </a:p>
          <a:p>
            <a:r>
              <a:rPr lang="en-US" dirty="0"/>
              <a:t>In the GTFS-RT performance work I reviewed, this choice was usually treated as a pipeline detail rather than highlighted as part of the reported KPI methodology.</a:t>
            </a:r>
          </a:p>
          <a:p>
            <a:r>
              <a:rPr lang="en-US" dirty="0"/>
              <a:t>But in my results, it was the largest source of variation.</a:t>
            </a:r>
          </a:p>
          <a:p>
            <a:r>
              <a:rPr lang="en-US" dirty="0"/>
              <a:t>So the practical recommendation is simple: if you publish OTP from public GTFS-RT data, disclose how stop events were reconstructed, not just what lateness window you used.</a:t>
            </a:r>
          </a:p>
          <a:p>
            <a:r>
              <a:rPr lang="en-US" dirty="0"/>
              <a:t>[next slide]</a:t>
            </a:r>
          </a:p>
          <a:p>
            <a:r>
              <a:rPr lang="en-US" dirty="0"/>
              <a:t>10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limitations.</a:t>
            </a:r>
          </a:p>
          <a:p>
            <a:r>
              <a:rPr lang="en-US" dirty="0"/>
              <a:t>This is two routes, one agency, and about three weeks of data. I cannot claim the exact magnitudes generalize to every transit system.</a:t>
            </a:r>
          </a:p>
          <a:p>
            <a:r>
              <a:rPr lang="en-US" dirty="0"/>
              <a:t>I also do not have SEPTA’s internal AVL data, so I cannot validate latest against ground truth. It is a GTFS-RT-only proxy.</a:t>
            </a:r>
          </a:p>
          <a:p>
            <a:r>
              <a:rPr lang="en-US" dirty="0"/>
              <a:t>And the project focuses on OTP, even though for high-frequency service, headway regularity may better represent rider experience.</a:t>
            </a:r>
          </a:p>
          <a:p>
            <a:r>
              <a:rPr lang="en-US" dirty="0"/>
              <a:t>Future work would be a cross-agency comparison, a GTFS-RT versus AVL ground-truth comparison, and applying the same robustness protocol to headway-based reliability.</a:t>
            </a:r>
          </a:p>
          <a:p>
            <a:r>
              <a:rPr lang="en-US" dirty="0"/>
              <a:t>A final extension would be a dashboard or reporting interface that lets users explore the specification curve interactively.</a:t>
            </a:r>
          </a:p>
          <a:p>
            <a:r>
              <a:rPr lang="en-US" dirty="0"/>
              <a:t>[next slide]</a:t>
            </a:r>
          </a:p>
          <a:p>
            <a:r>
              <a:rPr lang="en-US" dirty="0"/>
              <a:t>11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talk.</a:t>
            </a:r>
          </a:p>
          <a:p>
            <a:r>
              <a:rPr lang="en-US" dirty="0"/>
              <a:t>The bottom line is simple: OTP from public GTFS-RT should not be reported as a single unqualified number.</a:t>
            </a:r>
          </a:p>
          <a:p>
            <a:r>
              <a:rPr lang="en-US" dirty="0"/>
              <a:t>Disclose how stop events were reconstructed. Disclose how “on time” was defined. And show how sensitive the result is to reasonable alternatives.</a:t>
            </a:r>
          </a:p>
          <a:p>
            <a:r>
              <a:rPr lang="en-US" dirty="0"/>
              <a:t>Thank you — I’m happy to take questions.</a:t>
            </a:r>
          </a:p>
          <a:p>
            <a:r>
              <a:rPr lang="en-US" dirty="0"/>
              <a:t>12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438"/>
        </a:solidFill>
        <a:effectLst/>
      </p:bgPr>
    </p:bg>
    <p:spTree>
      <p:nvGrpSpPr>
        <p:cNvPr id="1" name=""/>
        <p:cNvGrpSpPr/>
        <p:nvPr/>
      </p:nvGrpSpPr>
      <p:grpSpPr>
        <a:xfrm>
          <a:off x="0" y="0"/>
          <a:ext cx="0" cy="0"/>
          <a:chOff x="0" y="0"/>
          <a:chExt cx="0" cy="0"/>
        </a:xfrm>
      </p:grpSpPr>
      <p:sp>
        <p:nvSpPr>
          <p:cNvPr id="2" name="Text 0"/>
          <p:cNvSpPr/>
          <p:nvPr/>
        </p:nvSpPr>
        <p:spPr>
          <a:xfrm>
            <a:off x="731520" y="640080"/>
            <a:ext cx="5486400" cy="36576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FINAL RESULTS</a:t>
            </a:r>
            <a:endParaRPr lang="en-US" sz="1100" dirty="0"/>
          </a:p>
        </p:txBody>
      </p:sp>
      <p:sp>
        <p:nvSpPr>
          <p:cNvPr id="3" name="Text 1"/>
          <p:cNvSpPr/>
          <p:nvPr/>
        </p:nvSpPr>
        <p:spPr>
          <a:xfrm>
            <a:off x="731520" y="1463040"/>
            <a:ext cx="10058400" cy="868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KPI Robustness in</a:t>
            </a:r>
            <a:endParaRPr lang="en-US" sz="4800" dirty="0"/>
          </a:p>
        </p:txBody>
      </p:sp>
      <p:sp>
        <p:nvSpPr>
          <p:cNvPr id="4" name="Text 2"/>
          <p:cNvSpPr/>
          <p:nvPr/>
        </p:nvSpPr>
        <p:spPr>
          <a:xfrm>
            <a:off x="731520" y="2331720"/>
            <a:ext cx="10058400" cy="868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On-Time Performance</a:t>
            </a:r>
            <a:endParaRPr lang="en-US" sz="4800" dirty="0"/>
          </a:p>
        </p:txBody>
      </p:sp>
      <p:sp>
        <p:nvSpPr>
          <p:cNvPr id="5" name="Text 3"/>
          <p:cNvSpPr/>
          <p:nvPr/>
        </p:nvSpPr>
        <p:spPr>
          <a:xfrm>
            <a:off x="731520" y="3200400"/>
            <a:ext cx="10058400" cy="868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Measurement</a:t>
            </a:r>
            <a:endParaRPr lang="en-US" sz="4800" dirty="0"/>
          </a:p>
        </p:txBody>
      </p:sp>
      <p:sp>
        <p:nvSpPr>
          <p:cNvPr id="6" name="Text 4"/>
          <p:cNvSpPr/>
          <p:nvPr/>
        </p:nvSpPr>
        <p:spPr>
          <a:xfrm>
            <a:off x="731520" y="4297680"/>
            <a:ext cx="10058400" cy="457200"/>
          </a:xfrm>
          <a:prstGeom prst="rect">
            <a:avLst/>
          </a:prstGeom>
          <a:noFill/>
          <a:ln/>
        </p:spPr>
        <p:txBody>
          <a:bodyPr wrap="square" lIns="0" tIns="0" rIns="0" bIns="0" rtlCol="0" anchor="ctr"/>
          <a:lstStyle/>
          <a:p>
            <a:pPr marL="0" indent="0">
              <a:buNone/>
            </a:pPr>
            <a:r>
              <a:rPr lang="en-US" sz="1800" i="1" dirty="0">
                <a:solidFill>
                  <a:srgbClr val="B8B5A8"/>
                </a:solidFill>
                <a:latin typeface="Cambria" pitchFamily="34" charset="0"/>
                <a:ea typeface="Cambria" pitchFamily="34" charset="-122"/>
                <a:cs typeface="Cambria" pitchFamily="34" charset="-120"/>
              </a:rPr>
              <a:t>How sensitive is OTP to defensible methodological choices?</a:t>
            </a:r>
            <a:endParaRPr lang="en-US" sz="1800" dirty="0"/>
          </a:p>
        </p:txBody>
      </p:sp>
      <p:sp>
        <p:nvSpPr>
          <p:cNvPr id="7" name="Shape 5"/>
          <p:cNvSpPr/>
          <p:nvPr/>
        </p:nvSpPr>
        <p:spPr>
          <a:xfrm>
            <a:off x="731520" y="5212080"/>
            <a:ext cx="4572000" cy="0"/>
          </a:xfrm>
          <a:prstGeom prst="line">
            <a:avLst/>
          </a:prstGeom>
          <a:noFill/>
          <a:ln w="12700">
            <a:solidFill>
              <a:srgbClr val="E8B547"/>
            </a:solidFill>
            <a:prstDash val="solid"/>
          </a:ln>
        </p:spPr>
        <p:txBody>
          <a:bodyPr/>
          <a:lstStyle/>
          <a:p>
            <a:endParaRPr lang="en-US"/>
          </a:p>
        </p:txBody>
      </p:sp>
      <p:sp>
        <p:nvSpPr>
          <p:cNvPr id="8" name="Text 6"/>
          <p:cNvSpPr/>
          <p:nvPr/>
        </p:nvSpPr>
        <p:spPr>
          <a:xfrm>
            <a:off x="731520" y="5486400"/>
            <a:ext cx="5486400" cy="365760"/>
          </a:xfrm>
          <a:prstGeom prst="rect">
            <a:avLst/>
          </a:prstGeom>
          <a:noFill/>
          <a:ln/>
        </p:spPr>
        <p:txBody>
          <a:bodyPr wrap="square" lIns="0" tIns="0" rIns="0" bIns="0" rtlCol="0" anchor="ctr"/>
          <a:lstStyle/>
          <a:p>
            <a:pPr marL="0" indent="0">
              <a:buNone/>
            </a:pPr>
            <a:r>
              <a:rPr lang="en-US" sz="1600" b="1" dirty="0">
                <a:solidFill>
                  <a:srgbClr val="E8B547"/>
                </a:solidFill>
                <a:latin typeface="Calibri" pitchFamily="34" charset="0"/>
                <a:ea typeface="Calibri" pitchFamily="34" charset="-122"/>
                <a:cs typeface="Calibri" pitchFamily="34" charset="-120"/>
              </a:rPr>
              <a:t>Tobias Bussiek</a:t>
            </a:r>
            <a:endParaRPr lang="en-US" sz="1600" dirty="0"/>
          </a:p>
        </p:txBody>
      </p:sp>
      <p:sp>
        <p:nvSpPr>
          <p:cNvPr id="9" name="Text 7"/>
          <p:cNvSpPr/>
          <p:nvPr/>
        </p:nvSpPr>
        <p:spPr>
          <a:xfrm>
            <a:off x="731520" y="5852160"/>
            <a:ext cx="5486400" cy="320040"/>
          </a:xfrm>
          <a:prstGeom prst="rect">
            <a:avLst/>
          </a:prstGeom>
          <a:noFill/>
          <a:ln/>
        </p:spPr>
        <p:txBody>
          <a:bodyPr wrap="square" lIns="0" tIns="0" rIns="0" bIns="0" rtlCol="0" anchor="ctr"/>
          <a:lstStyle/>
          <a:p>
            <a:pPr marL="0" indent="0">
              <a:buNone/>
            </a:pPr>
            <a:r>
              <a:rPr lang="en-US" sz="1200" dirty="0">
                <a:solidFill>
                  <a:srgbClr val="B8B5A8"/>
                </a:solidFill>
                <a:latin typeface="Calibri" pitchFamily="34" charset="0"/>
                <a:ea typeface="Calibri" pitchFamily="34" charset="-122"/>
                <a:cs typeface="Calibri" pitchFamily="34" charset="-120"/>
              </a:rPr>
              <a:t>West Chester University of Pennsylvania</a:t>
            </a:r>
            <a:endParaRPr lang="en-US" sz="1200" dirty="0"/>
          </a:p>
        </p:txBody>
      </p:sp>
      <p:sp>
        <p:nvSpPr>
          <p:cNvPr id="10" name="Text 8"/>
          <p:cNvSpPr/>
          <p:nvPr/>
        </p:nvSpPr>
        <p:spPr>
          <a:xfrm>
            <a:off x="731520" y="6217920"/>
            <a:ext cx="5486400" cy="320040"/>
          </a:xfrm>
          <a:prstGeom prst="rect">
            <a:avLst/>
          </a:prstGeom>
          <a:noFill/>
          <a:ln/>
        </p:spPr>
        <p:txBody>
          <a:bodyPr wrap="square" lIns="0" tIns="0" rIns="0" bIns="0" rtlCol="0" anchor="ctr"/>
          <a:lstStyle/>
          <a:p>
            <a:pPr marL="0" indent="0">
              <a:buNone/>
            </a:pPr>
            <a:r>
              <a:rPr lang="en-US" sz="1200" dirty="0">
                <a:solidFill>
                  <a:srgbClr val="B8B5A8"/>
                </a:solidFill>
                <a:latin typeface="Calibri" pitchFamily="34" charset="0"/>
                <a:ea typeface="Calibri" pitchFamily="34" charset="-122"/>
                <a:cs typeface="Calibri" pitchFamily="34" charset="-120"/>
              </a:rPr>
              <a:t>April 2026</a:t>
            </a:r>
            <a:endParaRPr lang="en-US" sz="1200" dirty="0"/>
          </a:p>
        </p:txBody>
      </p:sp>
      <p:pic>
        <p:nvPicPr>
          <p:cNvPr id="11" name="Image 0" descr="preencoded.png"/>
          <p:cNvPicPr>
            <a:picLocks noChangeAspect="1"/>
          </p:cNvPicPr>
          <p:nvPr/>
        </p:nvPicPr>
        <p:blipFill>
          <a:blip r:embed="rId3"/>
          <a:stretch>
            <a:fillRect/>
          </a:stretch>
        </p:blipFill>
        <p:spPr>
          <a:xfrm>
            <a:off x="10058400" y="53035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2438"/>
          </a:solidFill>
          <a:ln w="12700">
            <a:solidFill>
              <a:srgbClr val="1A2438"/>
            </a:solidFill>
            <a:prstDash val="solid"/>
          </a:ln>
        </p:spPr>
        <p:txBody>
          <a:bodyPr/>
          <a:lstStyle/>
          <a:p>
            <a:endParaRPr lang="en-US"/>
          </a:p>
        </p:txBody>
      </p:sp>
      <p:sp>
        <p:nvSpPr>
          <p:cNvPr id="3" name="Text 1"/>
          <p:cNvSpPr/>
          <p:nvPr/>
        </p:nvSpPr>
        <p:spPr>
          <a:xfrm>
            <a:off x="548640" y="0"/>
            <a:ext cx="10972800" cy="64008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THE PROBLEM</a:t>
            </a:r>
            <a:endParaRPr lang="en-US" sz="1100" dirty="0"/>
          </a:p>
        </p:txBody>
      </p:sp>
      <p:sp>
        <p:nvSpPr>
          <p:cNvPr id="4" name="Shape 2"/>
          <p:cNvSpPr/>
          <p:nvPr/>
        </p:nvSpPr>
        <p:spPr>
          <a:xfrm>
            <a:off x="731520" y="1005840"/>
            <a:ext cx="10698480" cy="1188720"/>
          </a:xfrm>
          <a:prstGeom prst="rect">
            <a:avLst/>
          </a:prstGeom>
          <a:solidFill>
            <a:srgbClr val="1A2438"/>
          </a:solidFill>
          <a:ln w="12700">
            <a:solidFill>
              <a:srgbClr val="1A2438"/>
            </a:solidFill>
            <a:prstDash val="solid"/>
          </a:ln>
        </p:spPr>
        <p:txBody>
          <a:bodyPr/>
          <a:lstStyle/>
          <a:p>
            <a:endParaRPr lang="en-US"/>
          </a:p>
        </p:txBody>
      </p:sp>
      <p:sp>
        <p:nvSpPr>
          <p:cNvPr id="5" name="Text 3"/>
          <p:cNvSpPr/>
          <p:nvPr/>
        </p:nvSpPr>
        <p:spPr>
          <a:xfrm>
            <a:off x="1005840" y="1097280"/>
            <a:ext cx="10149840" cy="1005840"/>
          </a:xfrm>
          <a:prstGeom prst="rect">
            <a:avLst/>
          </a:prstGeom>
          <a:noFill/>
          <a:ln/>
        </p:spPr>
        <p:txBody>
          <a:bodyPr wrap="square" lIns="0" tIns="0" rIns="0" bIns="0" rtlCol="0" anchor="ctr"/>
          <a:lstStyle/>
          <a:p>
            <a:pPr marL="0" indent="0">
              <a:buNone/>
            </a:pPr>
            <a:r>
              <a:rPr lang="en-US" sz="2200" i="1" dirty="0">
                <a:solidFill>
                  <a:srgbClr val="FFFFFF"/>
                </a:solidFill>
                <a:latin typeface="Cambria" pitchFamily="34" charset="0"/>
                <a:ea typeface="Cambria" pitchFamily="34" charset="-122"/>
                <a:cs typeface="Cambria" pitchFamily="34" charset="-120"/>
              </a:rPr>
              <a:t>OTP is reported as a single percentage.</a:t>
            </a:r>
            <a:endParaRPr lang="en-US" sz="2200" dirty="0"/>
          </a:p>
          <a:p>
            <a:pPr marL="0" indent="0">
              <a:buNone/>
            </a:pPr>
            <a:r>
              <a:rPr lang="en-US" sz="1400" dirty="0">
                <a:solidFill>
                  <a:srgbClr val="B8B5A8"/>
                </a:solidFill>
                <a:latin typeface="Calibri" pitchFamily="34" charset="0"/>
                <a:ea typeface="Calibri" pitchFamily="34" charset="-122"/>
                <a:cs typeface="Calibri" pitchFamily="34" charset="-120"/>
              </a:rPr>
              <a:t>But computing OTP from public GTFS-RT data requires methodological choices </a:t>
            </a:r>
            <a:endParaRPr lang="en-US" sz="2200" dirty="0"/>
          </a:p>
          <a:p>
            <a:pPr marL="0" indent="0">
              <a:buNone/>
            </a:pPr>
            <a:r>
              <a:rPr lang="en-US" sz="1400" dirty="0">
                <a:solidFill>
                  <a:srgbClr val="B8B5A8"/>
                </a:solidFill>
                <a:latin typeface="Calibri" pitchFamily="34" charset="0"/>
                <a:ea typeface="Calibri" pitchFamily="34" charset="-122"/>
                <a:cs typeface="Calibri" pitchFamily="34" charset="-120"/>
              </a:rPr>
              <a:t>and reasonable choices produce dramatically different numbers.</a:t>
            </a:r>
            <a:endParaRPr lang="en-US" sz="2200" dirty="0"/>
          </a:p>
        </p:txBody>
      </p:sp>
      <p:sp>
        <p:nvSpPr>
          <p:cNvPr id="6" name="Shape 4"/>
          <p:cNvSpPr/>
          <p:nvPr/>
        </p:nvSpPr>
        <p:spPr>
          <a:xfrm>
            <a:off x="822960" y="2651760"/>
            <a:ext cx="3291840" cy="3383280"/>
          </a:xfrm>
          <a:prstGeom prst="rect">
            <a:avLst/>
          </a:prstGeom>
          <a:solidFill>
            <a:srgbClr val="FFFFFF"/>
          </a:solidFill>
          <a:ln w="6350">
            <a:solidFill>
              <a:srgbClr val="D9D5C8"/>
            </a:solidFill>
            <a:prstDash val="solid"/>
          </a:ln>
          <a:effectLst>
            <a:outerShdw blurRad="76200" dist="12700" dir="5400000" algn="bl" rotWithShape="0">
              <a:srgbClr val="000000">
                <a:alpha val="6000"/>
              </a:srgbClr>
            </a:outerShdw>
          </a:effectLst>
        </p:spPr>
        <p:txBody>
          <a:bodyPr/>
          <a:lstStyle/>
          <a:p>
            <a:endParaRPr lang="en-US"/>
          </a:p>
        </p:txBody>
      </p:sp>
      <p:sp>
        <p:nvSpPr>
          <p:cNvPr id="7" name="Shape 5"/>
          <p:cNvSpPr/>
          <p:nvPr/>
        </p:nvSpPr>
        <p:spPr>
          <a:xfrm>
            <a:off x="822960" y="2651760"/>
            <a:ext cx="3291840" cy="54864"/>
          </a:xfrm>
          <a:prstGeom prst="rect">
            <a:avLst/>
          </a:prstGeom>
          <a:solidFill>
            <a:srgbClr val="E8B547"/>
          </a:solidFill>
          <a:ln w="12700">
            <a:solidFill>
              <a:srgbClr val="E8B547"/>
            </a:solidFill>
            <a:prstDash val="solid"/>
          </a:ln>
        </p:spPr>
        <p:txBody>
          <a:bodyPr/>
          <a:lstStyle/>
          <a:p>
            <a:endParaRPr lang="en-US"/>
          </a:p>
        </p:txBody>
      </p:sp>
      <p:sp>
        <p:nvSpPr>
          <p:cNvPr id="8" name="Shape 6"/>
          <p:cNvSpPr/>
          <p:nvPr/>
        </p:nvSpPr>
        <p:spPr>
          <a:xfrm>
            <a:off x="1188720" y="3017520"/>
            <a:ext cx="502920" cy="502920"/>
          </a:xfrm>
          <a:prstGeom prst="rect">
            <a:avLst/>
          </a:prstGeom>
          <a:solidFill>
            <a:srgbClr val="E8B547"/>
          </a:solidFill>
          <a:ln w="12700">
            <a:solidFill>
              <a:srgbClr val="E8B547"/>
            </a:solidFill>
            <a:prstDash val="solid"/>
          </a:ln>
        </p:spPr>
        <p:txBody>
          <a:bodyPr/>
          <a:lstStyle/>
          <a:p>
            <a:endParaRPr lang="en-US"/>
          </a:p>
        </p:txBody>
      </p:sp>
      <p:sp>
        <p:nvSpPr>
          <p:cNvPr id="9" name="Text 7"/>
          <p:cNvSpPr/>
          <p:nvPr/>
        </p:nvSpPr>
        <p:spPr>
          <a:xfrm>
            <a:off x="1188720" y="3017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188720" y="3749040"/>
            <a:ext cx="2560320" cy="822960"/>
          </a:xfrm>
          <a:prstGeom prst="rect">
            <a:avLst/>
          </a:prstGeom>
          <a:noFill/>
          <a:ln/>
        </p:spPr>
        <p:txBody>
          <a:bodyPr wrap="square" lIns="0" tIns="0" rIns="0" bIns="0" rtlCol="0" anchor="t"/>
          <a:lstStyle/>
          <a:p>
            <a:pPr marL="0" indent="0">
              <a:buNone/>
            </a:pPr>
            <a:r>
              <a:rPr lang="en-US" sz="2200" b="1" dirty="0">
                <a:solidFill>
                  <a:srgbClr val="1A2438"/>
                </a:solidFill>
                <a:latin typeface="Cambria" pitchFamily="34" charset="0"/>
                <a:ea typeface="Cambria" pitchFamily="34" charset="-122"/>
                <a:cs typeface="Cambria" pitchFamily="34" charset="-120"/>
              </a:rPr>
              <a:t>Hidden choices</a:t>
            </a:r>
            <a:endParaRPr lang="en-US" sz="2200" dirty="0"/>
          </a:p>
        </p:txBody>
      </p:sp>
      <p:sp>
        <p:nvSpPr>
          <p:cNvPr id="11" name="Text 9"/>
          <p:cNvSpPr/>
          <p:nvPr/>
        </p:nvSpPr>
        <p:spPr>
          <a:xfrm>
            <a:off x="1203960" y="4407408"/>
            <a:ext cx="2560320" cy="1188720"/>
          </a:xfrm>
          <a:prstGeom prst="rect">
            <a:avLst/>
          </a:prstGeom>
          <a:noFill/>
          <a:ln/>
        </p:spPr>
        <p:txBody>
          <a:bodyPr wrap="square" lIns="0" tIns="0" rIns="0" bIns="0" rtlCol="0" anchor="t"/>
          <a:lstStyle/>
          <a:p>
            <a:pPr marL="0" indent="0">
              <a:spcAft>
                <a:spcPts val="600"/>
              </a:spcAft>
              <a:buNone/>
            </a:pPr>
            <a:r>
              <a:rPr lang="en-US" sz="1300" dirty="0">
                <a:solidFill>
                  <a:srgbClr val="4A4A4A"/>
                </a:solidFill>
                <a:latin typeface="Calibri" pitchFamily="34" charset="0"/>
                <a:ea typeface="Calibri" pitchFamily="34" charset="-122"/>
                <a:cs typeface="Calibri" pitchFamily="34" charset="-120"/>
              </a:rPr>
              <a:t>Computing OTP from GTFS-RT requires picking lateness windows, handling early arrivals, selecting stops, and deduplicating overlapping real-time predictions.</a:t>
            </a:r>
            <a:endParaRPr lang="en-US" sz="1300" dirty="0"/>
          </a:p>
        </p:txBody>
      </p:sp>
      <p:sp>
        <p:nvSpPr>
          <p:cNvPr id="12" name="Shape 10"/>
          <p:cNvSpPr/>
          <p:nvPr/>
        </p:nvSpPr>
        <p:spPr>
          <a:xfrm>
            <a:off x="4434840" y="2651760"/>
            <a:ext cx="3291840" cy="3383280"/>
          </a:xfrm>
          <a:prstGeom prst="rect">
            <a:avLst/>
          </a:prstGeom>
          <a:solidFill>
            <a:srgbClr val="FFFFFF"/>
          </a:solidFill>
          <a:ln w="6350">
            <a:solidFill>
              <a:srgbClr val="D9D5C8"/>
            </a:solidFill>
            <a:prstDash val="solid"/>
          </a:ln>
          <a:effectLst>
            <a:outerShdw blurRad="76200" dist="12700" dir="5400000" algn="bl" rotWithShape="0">
              <a:srgbClr val="000000">
                <a:alpha val="6000"/>
              </a:srgbClr>
            </a:outerShdw>
          </a:effectLst>
        </p:spPr>
        <p:txBody>
          <a:bodyPr/>
          <a:lstStyle/>
          <a:p>
            <a:endParaRPr lang="en-US"/>
          </a:p>
        </p:txBody>
      </p:sp>
      <p:sp>
        <p:nvSpPr>
          <p:cNvPr id="13" name="Shape 11"/>
          <p:cNvSpPr/>
          <p:nvPr/>
        </p:nvSpPr>
        <p:spPr>
          <a:xfrm>
            <a:off x="4434840" y="2651760"/>
            <a:ext cx="3291840" cy="54864"/>
          </a:xfrm>
          <a:prstGeom prst="rect">
            <a:avLst/>
          </a:prstGeom>
          <a:solidFill>
            <a:srgbClr val="2D9B8A"/>
          </a:solidFill>
          <a:ln w="12700">
            <a:solidFill>
              <a:srgbClr val="2D9B8A"/>
            </a:solidFill>
            <a:prstDash val="solid"/>
          </a:ln>
        </p:spPr>
        <p:txBody>
          <a:bodyPr/>
          <a:lstStyle/>
          <a:p>
            <a:endParaRPr lang="en-US"/>
          </a:p>
        </p:txBody>
      </p:sp>
      <p:sp>
        <p:nvSpPr>
          <p:cNvPr id="14" name="Shape 12"/>
          <p:cNvSpPr/>
          <p:nvPr/>
        </p:nvSpPr>
        <p:spPr>
          <a:xfrm>
            <a:off x="4800600" y="3017520"/>
            <a:ext cx="502920" cy="502920"/>
          </a:xfrm>
          <a:prstGeom prst="rect">
            <a:avLst/>
          </a:prstGeom>
          <a:solidFill>
            <a:srgbClr val="2D9B8A"/>
          </a:solidFill>
          <a:ln w="12700">
            <a:solidFill>
              <a:srgbClr val="2D9B8A"/>
            </a:solidFill>
            <a:prstDash val="solid"/>
          </a:ln>
        </p:spPr>
        <p:txBody>
          <a:bodyPr/>
          <a:lstStyle/>
          <a:p>
            <a:endParaRPr lang="en-US"/>
          </a:p>
        </p:txBody>
      </p:sp>
      <p:sp>
        <p:nvSpPr>
          <p:cNvPr id="15" name="Text 13"/>
          <p:cNvSpPr/>
          <p:nvPr/>
        </p:nvSpPr>
        <p:spPr>
          <a:xfrm>
            <a:off x="4800600" y="3017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4"/>
          <p:cNvSpPr/>
          <p:nvPr/>
        </p:nvSpPr>
        <p:spPr>
          <a:xfrm>
            <a:off x="4800600" y="3749040"/>
            <a:ext cx="2560320" cy="822960"/>
          </a:xfrm>
          <a:prstGeom prst="rect">
            <a:avLst/>
          </a:prstGeom>
          <a:noFill/>
          <a:ln/>
        </p:spPr>
        <p:txBody>
          <a:bodyPr wrap="square" lIns="0" tIns="0" rIns="0" bIns="0" rtlCol="0" anchor="t"/>
          <a:lstStyle/>
          <a:p>
            <a:pPr marL="0" indent="0">
              <a:buNone/>
            </a:pPr>
            <a:r>
              <a:rPr lang="en-US" sz="2200" b="1" dirty="0">
                <a:solidFill>
                  <a:srgbClr val="1A2438"/>
                </a:solidFill>
                <a:latin typeface="Cambria" pitchFamily="34" charset="0"/>
                <a:ea typeface="Cambria" pitchFamily="34" charset="-122"/>
                <a:cs typeface="Cambria" pitchFamily="34" charset="-120"/>
              </a:rPr>
              <a:t>Invisible upstream</a:t>
            </a:r>
            <a:endParaRPr lang="en-US" sz="2200" dirty="0"/>
          </a:p>
        </p:txBody>
      </p:sp>
      <p:sp>
        <p:nvSpPr>
          <p:cNvPr id="17" name="Text 15"/>
          <p:cNvSpPr/>
          <p:nvPr/>
        </p:nvSpPr>
        <p:spPr>
          <a:xfrm>
            <a:off x="4815840" y="4407408"/>
            <a:ext cx="2560320" cy="1188720"/>
          </a:xfrm>
          <a:prstGeom prst="rect">
            <a:avLst/>
          </a:prstGeom>
          <a:noFill/>
          <a:ln/>
        </p:spPr>
        <p:txBody>
          <a:bodyPr wrap="square" lIns="0" tIns="0" rIns="0" bIns="0" rtlCol="0" anchor="t"/>
          <a:lstStyle/>
          <a:p>
            <a:pPr marL="0" indent="0">
              <a:spcAft>
                <a:spcPts val="600"/>
              </a:spcAft>
              <a:buNone/>
            </a:pPr>
            <a:r>
              <a:rPr lang="en-US" sz="1300" dirty="0">
                <a:solidFill>
                  <a:srgbClr val="4A4A4A"/>
                </a:solidFill>
                <a:latin typeface="Calibri" pitchFamily="34" charset="0"/>
                <a:ea typeface="Calibri" pitchFamily="34" charset="-122"/>
                <a:cs typeface="Calibri" pitchFamily="34" charset="-120"/>
              </a:rPr>
              <a:t>Some choices are recognizable as methodology (e.g., the 5-minute window). Others happen earlier, during stop-event reconstruction, and rarely appear in published reports.</a:t>
            </a:r>
            <a:endParaRPr lang="en-US" sz="1300" dirty="0"/>
          </a:p>
        </p:txBody>
      </p:sp>
      <p:sp>
        <p:nvSpPr>
          <p:cNvPr id="18" name="Shape 16"/>
          <p:cNvSpPr/>
          <p:nvPr/>
        </p:nvSpPr>
        <p:spPr>
          <a:xfrm>
            <a:off x="8046720" y="2651760"/>
            <a:ext cx="3291840" cy="3383280"/>
          </a:xfrm>
          <a:prstGeom prst="rect">
            <a:avLst/>
          </a:prstGeom>
          <a:solidFill>
            <a:srgbClr val="FFFFFF"/>
          </a:solidFill>
          <a:ln w="6350">
            <a:solidFill>
              <a:srgbClr val="D9D5C8"/>
            </a:solidFill>
            <a:prstDash val="solid"/>
          </a:ln>
          <a:effectLst>
            <a:outerShdw blurRad="76200" dist="12700" dir="5400000" algn="bl" rotWithShape="0">
              <a:srgbClr val="000000">
                <a:alpha val="6000"/>
              </a:srgbClr>
            </a:outerShdw>
          </a:effectLst>
        </p:spPr>
        <p:txBody>
          <a:bodyPr/>
          <a:lstStyle/>
          <a:p>
            <a:endParaRPr lang="en-US"/>
          </a:p>
        </p:txBody>
      </p:sp>
      <p:sp>
        <p:nvSpPr>
          <p:cNvPr id="19" name="Shape 17"/>
          <p:cNvSpPr/>
          <p:nvPr/>
        </p:nvSpPr>
        <p:spPr>
          <a:xfrm>
            <a:off x="8046720" y="2651760"/>
            <a:ext cx="3291840" cy="54864"/>
          </a:xfrm>
          <a:prstGeom prst="rect">
            <a:avLst/>
          </a:prstGeom>
          <a:solidFill>
            <a:srgbClr val="4A7BC2"/>
          </a:solidFill>
          <a:ln w="12700">
            <a:solidFill>
              <a:srgbClr val="4A7BC2"/>
            </a:solidFill>
            <a:prstDash val="solid"/>
          </a:ln>
        </p:spPr>
        <p:txBody>
          <a:bodyPr/>
          <a:lstStyle/>
          <a:p>
            <a:endParaRPr lang="en-US"/>
          </a:p>
        </p:txBody>
      </p:sp>
      <p:sp>
        <p:nvSpPr>
          <p:cNvPr id="20" name="Shape 18"/>
          <p:cNvSpPr/>
          <p:nvPr/>
        </p:nvSpPr>
        <p:spPr>
          <a:xfrm>
            <a:off x="8412480" y="3017520"/>
            <a:ext cx="502920" cy="502920"/>
          </a:xfrm>
          <a:prstGeom prst="rect">
            <a:avLst/>
          </a:prstGeom>
          <a:solidFill>
            <a:srgbClr val="4A7BC2"/>
          </a:solidFill>
          <a:ln w="12700">
            <a:solidFill>
              <a:srgbClr val="4A7BC2"/>
            </a:solidFill>
            <a:prstDash val="solid"/>
          </a:ln>
        </p:spPr>
        <p:txBody>
          <a:bodyPr/>
          <a:lstStyle/>
          <a:p>
            <a:endParaRPr lang="en-US"/>
          </a:p>
        </p:txBody>
      </p:sp>
      <p:sp>
        <p:nvSpPr>
          <p:cNvPr id="21" name="Text 19"/>
          <p:cNvSpPr/>
          <p:nvPr/>
        </p:nvSpPr>
        <p:spPr>
          <a:xfrm>
            <a:off x="8412480" y="30175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20"/>
          <p:cNvSpPr/>
          <p:nvPr/>
        </p:nvSpPr>
        <p:spPr>
          <a:xfrm>
            <a:off x="8412480" y="3739897"/>
            <a:ext cx="2743200" cy="822960"/>
          </a:xfrm>
          <a:prstGeom prst="rect">
            <a:avLst/>
          </a:prstGeom>
          <a:noFill/>
          <a:ln/>
        </p:spPr>
        <p:txBody>
          <a:bodyPr wrap="square" lIns="0" tIns="0" rIns="0" bIns="0" rtlCol="0" anchor="t"/>
          <a:lstStyle/>
          <a:p>
            <a:pPr marL="0" indent="0">
              <a:buNone/>
            </a:pPr>
            <a:r>
              <a:rPr lang="en-US" sz="2200" b="1" dirty="0">
                <a:solidFill>
                  <a:srgbClr val="1A2438"/>
                </a:solidFill>
                <a:latin typeface="Cambria" pitchFamily="34" charset="0"/>
                <a:ea typeface="Cambria" pitchFamily="34" charset="-122"/>
                <a:cs typeface="Cambria" pitchFamily="34" charset="-120"/>
              </a:rPr>
              <a:t>Same data, different number</a:t>
            </a:r>
            <a:endParaRPr lang="en-US" sz="2200" dirty="0"/>
          </a:p>
        </p:txBody>
      </p:sp>
      <p:sp>
        <p:nvSpPr>
          <p:cNvPr id="23" name="Text 21"/>
          <p:cNvSpPr/>
          <p:nvPr/>
        </p:nvSpPr>
        <p:spPr>
          <a:xfrm>
            <a:off x="8427720" y="4407408"/>
            <a:ext cx="2560320" cy="1188720"/>
          </a:xfrm>
          <a:prstGeom prst="rect">
            <a:avLst/>
          </a:prstGeom>
          <a:noFill/>
          <a:ln/>
        </p:spPr>
        <p:txBody>
          <a:bodyPr wrap="square" lIns="0" tIns="0" rIns="0" bIns="0" rtlCol="0" anchor="t"/>
          <a:lstStyle/>
          <a:p>
            <a:pPr marL="0" indent="0">
              <a:spcAft>
                <a:spcPts val="600"/>
              </a:spcAft>
              <a:buNone/>
            </a:pPr>
            <a:r>
              <a:rPr lang="en-US" sz="1300" dirty="0">
                <a:solidFill>
                  <a:srgbClr val="4A4A4A"/>
                </a:solidFill>
                <a:latin typeface="Calibri" pitchFamily="34" charset="0"/>
                <a:ea typeface="Calibri" pitchFamily="34" charset="-122"/>
                <a:cs typeface="Calibri" pitchFamily="34" charset="-120"/>
              </a:rPr>
              <a:t>Across reasonable choices, the same underlying data can be reported as 20% on-time, 99% on-time, or anywhere in between. The reader cannot tell which methodology produced the number.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2438"/>
          </a:solidFill>
          <a:ln w="12700">
            <a:solidFill>
              <a:srgbClr val="1A2438"/>
            </a:solidFill>
            <a:prstDash val="solid"/>
          </a:ln>
        </p:spPr>
        <p:txBody>
          <a:bodyPr/>
          <a:lstStyle/>
          <a:p>
            <a:endParaRPr lang="en-US"/>
          </a:p>
        </p:txBody>
      </p:sp>
      <p:sp>
        <p:nvSpPr>
          <p:cNvPr id="3" name="Text 1"/>
          <p:cNvSpPr/>
          <p:nvPr/>
        </p:nvSpPr>
        <p:spPr>
          <a:xfrm>
            <a:off x="548640" y="0"/>
            <a:ext cx="10972800" cy="64008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WHERE THE CHOICES LIVE</a:t>
            </a:r>
            <a:endParaRPr lang="en-US" sz="1100" dirty="0"/>
          </a:p>
        </p:txBody>
      </p:sp>
      <p:sp>
        <p:nvSpPr>
          <p:cNvPr id="4" name="Text 2"/>
          <p:cNvSpPr/>
          <p:nvPr/>
        </p:nvSpPr>
        <p:spPr>
          <a:xfrm>
            <a:off x="731520" y="914400"/>
            <a:ext cx="10698480" cy="548640"/>
          </a:xfrm>
          <a:prstGeom prst="rect">
            <a:avLst/>
          </a:prstGeom>
          <a:noFill/>
          <a:ln/>
        </p:spPr>
        <p:txBody>
          <a:bodyPr wrap="square" lIns="0" tIns="0" rIns="0" bIns="0" rtlCol="0" anchor="ctr"/>
          <a:lstStyle/>
          <a:p>
            <a:pPr marL="0" indent="0">
              <a:buNone/>
            </a:pPr>
            <a:r>
              <a:rPr lang="en-US" sz="2600" b="1" dirty="0">
                <a:solidFill>
                  <a:srgbClr val="1A2438"/>
                </a:solidFill>
                <a:latin typeface="Cambria" pitchFamily="34" charset="0"/>
                <a:ea typeface="Cambria" pitchFamily="34" charset="-122"/>
                <a:cs typeface="Cambria" pitchFamily="34" charset="-120"/>
              </a:rPr>
              <a:t>GTFS-RT pipeline choices are part of KPI methodology</a:t>
            </a:r>
            <a:endParaRPr lang="en-US" sz="2600" dirty="0"/>
          </a:p>
        </p:txBody>
      </p:sp>
      <p:sp>
        <p:nvSpPr>
          <p:cNvPr id="5" name="Text 3"/>
          <p:cNvSpPr/>
          <p:nvPr/>
        </p:nvSpPr>
        <p:spPr>
          <a:xfrm>
            <a:off x="731520" y="1508760"/>
            <a:ext cx="1069848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Each step in reconstructing a stop event from real-time predictions involves a methodological choice.</a:t>
            </a:r>
            <a:endParaRPr lang="en-US" sz="1300" dirty="0"/>
          </a:p>
        </p:txBody>
      </p:sp>
      <p:sp>
        <p:nvSpPr>
          <p:cNvPr id="6" name="Shape 4"/>
          <p:cNvSpPr/>
          <p:nvPr/>
        </p:nvSpPr>
        <p:spPr>
          <a:xfrm>
            <a:off x="731520" y="2194560"/>
            <a:ext cx="1993392" cy="1463040"/>
          </a:xfrm>
          <a:prstGeom prst="rect">
            <a:avLst/>
          </a:prstGeom>
          <a:solidFill>
            <a:srgbClr val="FFFFFF"/>
          </a:solidFill>
          <a:ln w="6350">
            <a:solidFill>
              <a:srgbClr val="D9D5C8"/>
            </a:solidFill>
            <a:prstDash val="solid"/>
          </a:ln>
        </p:spPr>
        <p:txBody>
          <a:bodyPr/>
          <a:lstStyle/>
          <a:p>
            <a:endParaRPr lang="en-US"/>
          </a:p>
        </p:txBody>
      </p:sp>
      <p:sp>
        <p:nvSpPr>
          <p:cNvPr id="7" name="Shape 5"/>
          <p:cNvSpPr/>
          <p:nvPr/>
        </p:nvSpPr>
        <p:spPr>
          <a:xfrm>
            <a:off x="731520" y="2194560"/>
            <a:ext cx="1993392" cy="54864"/>
          </a:xfrm>
          <a:prstGeom prst="rect">
            <a:avLst/>
          </a:prstGeom>
          <a:solidFill>
            <a:srgbClr val="2D9B8A"/>
          </a:solidFill>
          <a:ln w="12700">
            <a:solidFill>
              <a:srgbClr val="2D9B8A"/>
            </a:solidFill>
            <a:prstDash val="solid"/>
          </a:ln>
        </p:spPr>
        <p:txBody>
          <a:bodyPr/>
          <a:lstStyle/>
          <a:p>
            <a:endParaRPr lang="en-US"/>
          </a:p>
        </p:txBody>
      </p:sp>
      <p:sp>
        <p:nvSpPr>
          <p:cNvPr id="8" name="Text 6"/>
          <p:cNvSpPr/>
          <p:nvPr/>
        </p:nvSpPr>
        <p:spPr>
          <a:xfrm>
            <a:off x="914400" y="2377440"/>
            <a:ext cx="1627632" cy="274320"/>
          </a:xfrm>
          <a:prstGeom prst="rect">
            <a:avLst/>
          </a:prstGeom>
          <a:noFill/>
          <a:ln/>
        </p:spPr>
        <p:txBody>
          <a:bodyPr wrap="square" lIns="0" tIns="0" rIns="0" bIns="0" rtlCol="0" anchor="ctr"/>
          <a:lstStyle/>
          <a:p>
            <a:pPr marL="0" indent="0">
              <a:buNone/>
            </a:pPr>
            <a:r>
              <a:rPr lang="en-US" sz="900" b="1" kern="0" spc="400" dirty="0">
                <a:solidFill>
                  <a:srgbClr val="2D9B8A"/>
                </a:solidFill>
                <a:latin typeface="Calibri" pitchFamily="34" charset="0"/>
                <a:ea typeface="Calibri" pitchFamily="34" charset="-122"/>
                <a:cs typeface="Calibri" pitchFamily="34" charset="-120"/>
              </a:rPr>
              <a:t>STEP 1</a:t>
            </a:r>
            <a:endParaRPr lang="en-US" sz="900" dirty="0"/>
          </a:p>
        </p:txBody>
      </p:sp>
      <p:sp>
        <p:nvSpPr>
          <p:cNvPr id="9" name="Text 7"/>
          <p:cNvSpPr/>
          <p:nvPr/>
        </p:nvSpPr>
        <p:spPr>
          <a:xfrm>
            <a:off x="914400" y="2750681"/>
            <a:ext cx="1627632" cy="502920"/>
          </a:xfrm>
          <a:prstGeom prst="rect">
            <a:avLst/>
          </a:prstGeom>
          <a:noFill/>
          <a:ln/>
        </p:spPr>
        <p:txBody>
          <a:bodyPr wrap="square" lIns="0" tIns="0" rIns="0" bIns="0" rtlCol="0" anchor="t"/>
          <a:lstStyle/>
          <a:p>
            <a:pPr marL="0" indent="0">
              <a:buNone/>
            </a:pPr>
            <a:r>
              <a:rPr lang="en-US" sz="1400" b="1" dirty="0">
                <a:solidFill>
                  <a:srgbClr val="1A2438"/>
                </a:solidFill>
                <a:latin typeface="Cambria" pitchFamily="34" charset="0"/>
                <a:ea typeface="Cambria" pitchFamily="34" charset="-122"/>
                <a:cs typeface="Cambria" pitchFamily="34" charset="-120"/>
              </a:rPr>
              <a:t>Archive feed</a:t>
            </a:r>
            <a:endParaRPr lang="en-US" sz="1400" dirty="0"/>
          </a:p>
        </p:txBody>
      </p:sp>
      <p:sp>
        <p:nvSpPr>
          <p:cNvPr id="10" name="Text 8"/>
          <p:cNvSpPr/>
          <p:nvPr/>
        </p:nvSpPr>
        <p:spPr>
          <a:xfrm>
            <a:off x="914400" y="3154680"/>
            <a:ext cx="1627632" cy="45720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Poll GTFS-RT every</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60 seconds</a:t>
            </a:r>
            <a:endParaRPr lang="en-US" sz="1000" dirty="0"/>
          </a:p>
        </p:txBody>
      </p:sp>
      <p:sp>
        <p:nvSpPr>
          <p:cNvPr id="11" name="Text 9"/>
          <p:cNvSpPr/>
          <p:nvPr/>
        </p:nvSpPr>
        <p:spPr>
          <a:xfrm>
            <a:off x="2734056" y="2743200"/>
            <a:ext cx="164592" cy="365760"/>
          </a:xfrm>
          <a:prstGeom prst="rect">
            <a:avLst/>
          </a:prstGeom>
          <a:noFill/>
          <a:ln/>
        </p:spPr>
        <p:txBody>
          <a:bodyPr wrap="square" lIns="0" tIns="0" rIns="0" bIns="0" rtlCol="0" anchor="ctr"/>
          <a:lstStyle/>
          <a:p>
            <a:pPr marL="0" indent="0" algn="ctr">
              <a:buNone/>
            </a:pPr>
            <a:r>
              <a:rPr lang="en-US" sz="1800" b="1" dirty="0">
                <a:solidFill>
                  <a:srgbClr val="6B7280"/>
                </a:solidFill>
                <a:latin typeface="Calibri" pitchFamily="34" charset="0"/>
                <a:ea typeface="Calibri" pitchFamily="34" charset="-122"/>
                <a:cs typeface="Calibri" pitchFamily="34" charset="-120"/>
              </a:rPr>
              <a:t>&gt;</a:t>
            </a:r>
            <a:endParaRPr lang="en-US" sz="1800" dirty="0"/>
          </a:p>
        </p:txBody>
      </p:sp>
      <p:sp>
        <p:nvSpPr>
          <p:cNvPr id="12" name="Shape 10"/>
          <p:cNvSpPr/>
          <p:nvPr/>
        </p:nvSpPr>
        <p:spPr>
          <a:xfrm>
            <a:off x="2889504" y="2194560"/>
            <a:ext cx="1993392" cy="1463040"/>
          </a:xfrm>
          <a:prstGeom prst="rect">
            <a:avLst/>
          </a:prstGeom>
          <a:solidFill>
            <a:srgbClr val="FFFFFF"/>
          </a:solidFill>
          <a:ln w="6350">
            <a:solidFill>
              <a:srgbClr val="D9D5C8"/>
            </a:solidFill>
            <a:prstDash val="solid"/>
          </a:ln>
        </p:spPr>
        <p:txBody>
          <a:bodyPr/>
          <a:lstStyle/>
          <a:p>
            <a:endParaRPr lang="en-US"/>
          </a:p>
        </p:txBody>
      </p:sp>
      <p:sp>
        <p:nvSpPr>
          <p:cNvPr id="13" name="Shape 11"/>
          <p:cNvSpPr/>
          <p:nvPr/>
        </p:nvSpPr>
        <p:spPr>
          <a:xfrm>
            <a:off x="2889504" y="2194560"/>
            <a:ext cx="1993392" cy="54864"/>
          </a:xfrm>
          <a:prstGeom prst="rect">
            <a:avLst/>
          </a:prstGeom>
          <a:solidFill>
            <a:srgbClr val="2D9B8A"/>
          </a:solidFill>
          <a:ln w="12700">
            <a:solidFill>
              <a:srgbClr val="2D9B8A"/>
            </a:solidFill>
            <a:prstDash val="solid"/>
          </a:ln>
        </p:spPr>
        <p:txBody>
          <a:bodyPr/>
          <a:lstStyle/>
          <a:p>
            <a:endParaRPr lang="en-US"/>
          </a:p>
        </p:txBody>
      </p:sp>
      <p:sp>
        <p:nvSpPr>
          <p:cNvPr id="14" name="Text 12"/>
          <p:cNvSpPr/>
          <p:nvPr/>
        </p:nvSpPr>
        <p:spPr>
          <a:xfrm>
            <a:off x="3072384" y="2377440"/>
            <a:ext cx="1627632" cy="274320"/>
          </a:xfrm>
          <a:prstGeom prst="rect">
            <a:avLst/>
          </a:prstGeom>
          <a:noFill/>
          <a:ln/>
        </p:spPr>
        <p:txBody>
          <a:bodyPr wrap="square" lIns="0" tIns="0" rIns="0" bIns="0" rtlCol="0" anchor="ctr"/>
          <a:lstStyle/>
          <a:p>
            <a:pPr marL="0" indent="0">
              <a:buNone/>
            </a:pPr>
            <a:r>
              <a:rPr lang="en-US" sz="900" b="1" kern="0" spc="400" dirty="0">
                <a:solidFill>
                  <a:srgbClr val="2D9B8A"/>
                </a:solidFill>
                <a:latin typeface="Calibri" pitchFamily="34" charset="0"/>
                <a:ea typeface="Calibri" pitchFamily="34" charset="-122"/>
                <a:cs typeface="Calibri" pitchFamily="34" charset="-120"/>
              </a:rPr>
              <a:t>STEP 2</a:t>
            </a:r>
            <a:endParaRPr lang="en-US" sz="900" dirty="0"/>
          </a:p>
        </p:txBody>
      </p:sp>
      <p:sp>
        <p:nvSpPr>
          <p:cNvPr id="15" name="Text 13"/>
          <p:cNvSpPr/>
          <p:nvPr/>
        </p:nvSpPr>
        <p:spPr>
          <a:xfrm>
            <a:off x="3072384" y="2750681"/>
            <a:ext cx="1627632" cy="502920"/>
          </a:xfrm>
          <a:prstGeom prst="rect">
            <a:avLst/>
          </a:prstGeom>
          <a:noFill/>
          <a:ln/>
        </p:spPr>
        <p:txBody>
          <a:bodyPr wrap="square" lIns="0" tIns="0" rIns="0" bIns="0" rtlCol="0" anchor="t"/>
          <a:lstStyle/>
          <a:p>
            <a:pPr marL="0" indent="0">
              <a:buNone/>
            </a:pPr>
            <a:r>
              <a:rPr lang="en-US" sz="1400" b="1" dirty="0">
                <a:solidFill>
                  <a:srgbClr val="1A2438"/>
                </a:solidFill>
                <a:latin typeface="Cambria" pitchFamily="34" charset="0"/>
                <a:ea typeface="Cambria" pitchFamily="34" charset="-122"/>
                <a:cs typeface="Cambria" pitchFamily="34" charset="-120"/>
              </a:rPr>
              <a:t>Match to schedule</a:t>
            </a:r>
            <a:endParaRPr lang="en-US" sz="1400" dirty="0"/>
          </a:p>
        </p:txBody>
      </p:sp>
      <p:sp>
        <p:nvSpPr>
          <p:cNvPr id="16" name="Text 14"/>
          <p:cNvSpPr/>
          <p:nvPr/>
        </p:nvSpPr>
        <p:spPr>
          <a:xfrm>
            <a:off x="3072384" y="3154680"/>
            <a:ext cx="1627632" cy="45720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Trip ID + stop</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sequence</a:t>
            </a:r>
            <a:endParaRPr lang="en-US" sz="1000" dirty="0"/>
          </a:p>
        </p:txBody>
      </p:sp>
      <p:sp>
        <p:nvSpPr>
          <p:cNvPr id="17" name="Text 15"/>
          <p:cNvSpPr/>
          <p:nvPr/>
        </p:nvSpPr>
        <p:spPr>
          <a:xfrm>
            <a:off x="4892040" y="2743200"/>
            <a:ext cx="164592" cy="365760"/>
          </a:xfrm>
          <a:prstGeom prst="rect">
            <a:avLst/>
          </a:prstGeom>
          <a:noFill/>
          <a:ln/>
        </p:spPr>
        <p:txBody>
          <a:bodyPr wrap="square" lIns="0" tIns="0" rIns="0" bIns="0" rtlCol="0" anchor="ctr"/>
          <a:lstStyle/>
          <a:p>
            <a:pPr marL="0" indent="0" algn="ctr">
              <a:buNone/>
            </a:pPr>
            <a:r>
              <a:rPr lang="en-US" sz="1800" b="1" dirty="0">
                <a:solidFill>
                  <a:srgbClr val="6B7280"/>
                </a:solidFill>
                <a:latin typeface="Calibri" pitchFamily="34" charset="0"/>
                <a:ea typeface="Calibri" pitchFamily="34" charset="-122"/>
                <a:cs typeface="Calibri" pitchFamily="34" charset="-120"/>
              </a:rPr>
              <a:t>&gt;</a:t>
            </a:r>
            <a:endParaRPr lang="en-US" sz="1800" dirty="0"/>
          </a:p>
        </p:txBody>
      </p:sp>
      <p:sp>
        <p:nvSpPr>
          <p:cNvPr id="18" name="Shape 16"/>
          <p:cNvSpPr/>
          <p:nvPr/>
        </p:nvSpPr>
        <p:spPr>
          <a:xfrm>
            <a:off x="5047488" y="2194560"/>
            <a:ext cx="1993392" cy="1463040"/>
          </a:xfrm>
          <a:prstGeom prst="rect">
            <a:avLst/>
          </a:prstGeom>
          <a:solidFill>
            <a:srgbClr val="FFFFFF"/>
          </a:solidFill>
          <a:ln w="6350">
            <a:solidFill>
              <a:srgbClr val="D9D5C8"/>
            </a:solidFill>
            <a:prstDash val="solid"/>
          </a:ln>
        </p:spPr>
        <p:txBody>
          <a:bodyPr/>
          <a:lstStyle/>
          <a:p>
            <a:endParaRPr lang="en-US"/>
          </a:p>
        </p:txBody>
      </p:sp>
      <p:sp>
        <p:nvSpPr>
          <p:cNvPr id="19" name="Shape 17"/>
          <p:cNvSpPr/>
          <p:nvPr/>
        </p:nvSpPr>
        <p:spPr>
          <a:xfrm>
            <a:off x="5047488" y="2194560"/>
            <a:ext cx="1993392" cy="54864"/>
          </a:xfrm>
          <a:prstGeom prst="rect">
            <a:avLst/>
          </a:prstGeom>
          <a:solidFill>
            <a:srgbClr val="2D9B8A"/>
          </a:solidFill>
          <a:ln w="12700">
            <a:solidFill>
              <a:srgbClr val="2D9B8A"/>
            </a:solidFill>
            <a:prstDash val="solid"/>
          </a:ln>
        </p:spPr>
        <p:txBody>
          <a:bodyPr/>
          <a:lstStyle/>
          <a:p>
            <a:endParaRPr lang="en-US"/>
          </a:p>
        </p:txBody>
      </p:sp>
      <p:sp>
        <p:nvSpPr>
          <p:cNvPr id="20" name="Text 18"/>
          <p:cNvSpPr/>
          <p:nvPr/>
        </p:nvSpPr>
        <p:spPr>
          <a:xfrm>
            <a:off x="5230368" y="2377440"/>
            <a:ext cx="1627632" cy="274320"/>
          </a:xfrm>
          <a:prstGeom prst="rect">
            <a:avLst/>
          </a:prstGeom>
          <a:noFill/>
          <a:ln/>
        </p:spPr>
        <p:txBody>
          <a:bodyPr wrap="square" lIns="0" tIns="0" rIns="0" bIns="0" rtlCol="0" anchor="ctr"/>
          <a:lstStyle/>
          <a:p>
            <a:pPr marL="0" indent="0">
              <a:buNone/>
            </a:pPr>
            <a:r>
              <a:rPr lang="en-US" sz="900" b="1" kern="0" spc="400" dirty="0">
                <a:solidFill>
                  <a:srgbClr val="2D9B8A"/>
                </a:solidFill>
                <a:latin typeface="Calibri" pitchFamily="34" charset="0"/>
                <a:ea typeface="Calibri" pitchFamily="34" charset="-122"/>
                <a:cs typeface="Calibri" pitchFamily="34" charset="-120"/>
              </a:rPr>
              <a:t>STEP 3</a:t>
            </a:r>
            <a:endParaRPr lang="en-US" sz="900" dirty="0"/>
          </a:p>
        </p:txBody>
      </p:sp>
      <p:sp>
        <p:nvSpPr>
          <p:cNvPr id="21" name="Text 19"/>
          <p:cNvSpPr/>
          <p:nvPr/>
        </p:nvSpPr>
        <p:spPr>
          <a:xfrm>
            <a:off x="5230368" y="2750681"/>
            <a:ext cx="1627632" cy="502920"/>
          </a:xfrm>
          <a:prstGeom prst="rect">
            <a:avLst/>
          </a:prstGeom>
          <a:noFill/>
          <a:ln/>
        </p:spPr>
        <p:txBody>
          <a:bodyPr wrap="square" lIns="0" tIns="0" rIns="0" bIns="0" rtlCol="0" anchor="t"/>
          <a:lstStyle/>
          <a:p>
            <a:pPr marL="0" indent="0">
              <a:buNone/>
            </a:pPr>
            <a:r>
              <a:rPr lang="en-US" sz="1400" b="1" dirty="0">
                <a:solidFill>
                  <a:srgbClr val="1A2438"/>
                </a:solidFill>
                <a:latin typeface="Cambria" pitchFamily="34" charset="0"/>
                <a:ea typeface="Cambria" pitchFamily="34" charset="-122"/>
                <a:cs typeface="Cambria" pitchFamily="34" charset="-120"/>
              </a:rPr>
              <a:t>Assign service date</a:t>
            </a:r>
            <a:endParaRPr lang="en-US" sz="1400" dirty="0"/>
          </a:p>
        </p:txBody>
      </p:sp>
      <p:sp>
        <p:nvSpPr>
          <p:cNvPr id="22" name="Text 20"/>
          <p:cNvSpPr/>
          <p:nvPr/>
        </p:nvSpPr>
        <p:spPr>
          <a:xfrm>
            <a:off x="5230368" y="3154680"/>
            <a:ext cx="1627632" cy="45720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Rolling 4 AM Eastern</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boundary</a:t>
            </a:r>
            <a:endParaRPr lang="en-US" sz="1000" dirty="0"/>
          </a:p>
        </p:txBody>
      </p:sp>
      <p:sp>
        <p:nvSpPr>
          <p:cNvPr id="23" name="Text 21"/>
          <p:cNvSpPr/>
          <p:nvPr/>
        </p:nvSpPr>
        <p:spPr>
          <a:xfrm>
            <a:off x="7050024" y="2743200"/>
            <a:ext cx="164592" cy="365760"/>
          </a:xfrm>
          <a:prstGeom prst="rect">
            <a:avLst/>
          </a:prstGeom>
          <a:noFill/>
          <a:ln/>
        </p:spPr>
        <p:txBody>
          <a:bodyPr wrap="square" lIns="0" tIns="0" rIns="0" bIns="0" rtlCol="0" anchor="ctr"/>
          <a:lstStyle/>
          <a:p>
            <a:pPr marL="0" indent="0" algn="ctr">
              <a:buNone/>
            </a:pPr>
            <a:r>
              <a:rPr lang="en-US" sz="1800" b="1" dirty="0">
                <a:solidFill>
                  <a:srgbClr val="6B7280"/>
                </a:solidFill>
                <a:latin typeface="Calibri" pitchFamily="34" charset="0"/>
                <a:ea typeface="Calibri" pitchFamily="34" charset="-122"/>
                <a:cs typeface="Calibri" pitchFamily="34" charset="-120"/>
              </a:rPr>
              <a:t>&gt;</a:t>
            </a:r>
            <a:endParaRPr lang="en-US" sz="1800" dirty="0"/>
          </a:p>
        </p:txBody>
      </p:sp>
      <p:sp>
        <p:nvSpPr>
          <p:cNvPr id="24" name="Shape 22"/>
          <p:cNvSpPr/>
          <p:nvPr/>
        </p:nvSpPr>
        <p:spPr>
          <a:xfrm>
            <a:off x="7205472" y="2194560"/>
            <a:ext cx="1993392" cy="1463040"/>
          </a:xfrm>
          <a:prstGeom prst="rect">
            <a:avLst/>
          </a:prstGeom>
          <a:solidFill>
            <a:srgbClr val="FFFFFF"/>
          </a:solidFill>
          <a:ln w="6350">
            <a:solidFill>
              <a:srgbClr val="D9D5C8"/>
            </a:solidFill>
            <a:prstDash val="solid"/>
          </a:ln>
        </p:spPr>
        <p:txBody>
          <a:bodyPr/>
          <a:lstStyle/>
          <a:p>
            <a:endParaRPr lang="en-US"/>
          </a:p>
        </p:txBody>
      </p:sp>
      <p:sp>
        <p:nvSpPr>
          <p:cNvPr id="25" name="Shape 23"/>
          <p:cNvSpPr/>
          <p:nvPr/>
        </p:nvSpPr>
        <p:spPr>
          <a:xfrm>
            <a:off x="7205472" y="2194560"/>
            <a:ext cx="1993392" cy="54864"/>
          </a:xfrm>
          <a:prstGeom prst="rect">
            <a:avLst/>
          </a:prstGeom>
          <a:solidFill>
            <a:srgbClr val="E8B547"/>
          </a:solidFill>
          <a:ln w="12700">
            <a:solidFill>
              <a:srgbClr val="E8B547"/>
            </a:solidFill>
            <a:prstDash val="solid"/>
          </a:ln>
        </p:spPr>
        <p:txBody>
          <a:bodyPr/>
          <a:lstStyle/>
          <a:p>
            <a:endParaRPr lang="en-US"/>
          </a:p>
        </p:txBody>
      </p:sp>
      <p:sp>
        <p:nvSpPr>
          <p:cNvPr id="26" name="Text 24"/>
          <p:cNvSpPr/>
          <p:nvPr/>
        </p:nvSpPr>
        <p:spPr>
          <a:xfrm>
            <a:off x="7388352" y="2377440"/>
            <a:ext cx="1627632" cy="274320"/>
          </a:xfrm>
          <a:prstGeom prst="rect">
            <a:avLst/>
          </a:prstGeom>
          <a:noFill/>
          <a:ln/>
        </p:spPr>
        <p:txBody>
          <a:bodyPr wrap="square" lIns="0" tIns="0" rIns="0" bIns="0" rtlCol="0" anchor="ctr"/>
          <a:lstStyle/>
          <a:p>
            <a:pPr marL="0" indent="0">
              <a:buNone/>
            </a:pPr>
            <a:r>
              <a:rPr lang="en-US" sz="900" b="1" kern="0" spc="400" dirty="0">
                <a:solidFill>
                  <a:srgbClr val="E8B547"/>
                </a:solidFill>
                <a:latin typeface="Calibri" pitchFamily="34" charset="0"/>
                <a:ea typeface="Calibri" pitchFamily="34" charset="-122"/>
                <a:cs typeface="Calibri" pitchFamily="34" charset="-120"/>
              </a:rPr>
              <a:t>STEP 4</a:t>
            </a:r>
            <a:endParaRPr lang="en-US" sz="900" dirty="0"/>
          </a:p>
        </p:txBody>
      </p:sp>
      <p:sp>
        <p:nvSpPr>
          <p:cNvPr id="27" name="Text 25"/>
          <p:cNvSpPr/>
          <p:nvPr/>
        </p:nvSpPr>
        <p:spPr>
          <a:xfrm>
            <a:off x="7388352" y="2651760"/>
            <a:ext cx="1627632" cy="502920"/>
          </a:xfrm>
          <a:prstGeom prst="rect">
            <a:avLst/>
          </a:prstGeom>
          <a:noFill/>
          <a:ln/>
        </p:spPr>
        <p:txBody>
          <a:bodyPr wrap="square" lIns="0" tIns="0" rIns="0" bIns="0" rtlCol="0" anchor="t"/>
          <a:lstStyle/>
          <a:p>
            <a:pPr marL="0" indent="0">
              <a:buNone/>
            </a:pPr>
            <a:r>
              <a:rPr lang="en-US" sz="1400" b="1" dirty="0">
                <a:solidFill>
                  <a:srgbClr val="1A2438"/>
                </a:solidFill>
                <a:latin typeface="Cambria" pitchFamily="34" charset="0"/>
                <a:ea typeface="Cambria" pitchFamily="34" charset="-122"/>
                <a:cs typeface="Cambria" pitchFamily="34" charset="-120"/>
              </a:rPr>
              <a:t>Reconstruct stop event</a:t>
            </a:r>
            <a:endParaRPr lang="en-US" sz="1400" dirty="0"/>
          </a:p>
        </p:txBody>
      </p:sp>
      <p:sp>
        <p:nvSpPr>
          <p:cNvPr id="28" name="Text 26"/>
          <p:cNvSpPr/>
          <p:nvPr/>
        </p:nvSpPr>
        <p:spPr>
          <a:xfrm>
            <a:off x="7388352" y="3154680"/>
            <a:ext cx="1627632" cy="45720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Pick which prediction</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represents the stop</a:t>
            </a:r>
            <a:endParaRPr lang="en-US" sz="1000" dirty="0"/>
          </a:p>
        </p:txBody>
      </p:sp>
      <p:sp>
        <p:nvSpPr>
          <p:cNvPr id="29" name="Text 27"/>
          <p:cNvSpPr/>
          <p:nvPr/>
        </p:nvSpPr>
        <p:spPr>
          <a:xfrm>
            <a:off x="9208008" y="2743200"/>
            <a:ext cx="164592" cy="365760"/>
          </a:xfrm>
          <a:prstGeom prst="rect">
            <a:avLst/>
          </a:prstGeom>
          <a:noFill/>
          <a:ln/>
        </p:spPr>
        <p:txBody>
          <a:bodyPr wrap="square" lIns="0" tIns="0" rIns="0" bIns="0" rtlCol="0" anchor="ctr"/>
          <a:lstStyle/>
          <a:p>
            <a:pPr marL="0" indent="0" algn="ctr">
              <a:buNone/>
            </a:pPr>
            <a:r>
              <a:rPr lang="en-US" sz="1800" b="1" dirty="0">
                <a:solidFill>
                  <a:srgbClr val="6B7280"/>
                </a:solidFill>
                <a:latin typeface="Calibri" pitchFamily="34" charset="0"/>
                <a:ea typeface="Calibri" pitchFamily="34" charset="-122"/>
                <a:cs typeface="Calibri" pitchFamily="34" charset="-120"/>
              </a:rPr>
              <a:t>&gt;</a:t>
            </a:r>
            <a:endParaRPr lang="en-US" sz="1800" dirty="0"/>
          </a:p>
        </p:txBody>
      </p:sp>
      <p:sp>
        <p:nvSpPr>
          <p:cNvPr id="30" name="Shape 28"/>
          <p:cNvSpPr/>
          <p:nvPr/>
        </p:nvSpPr>
        <p:spPr>
          <a:xfrm>
            <a:off x="9363456" y="2194560"/>
            <a:ext cx="1993392" cy="1463040"/>
          </a:xfrm>
          <a:prstGeom prst="rect">
            <a:avLst/>
          </a:prstGeom>
          <a:solidFill>
            <a:srgbClr val="FFFFFF"/>
          </a:solidFill>
          <a:ln w="6350">
            <a:solidFill>
              <a:srgbClr val="D9D5C8"/>
            </a:solidFill>
            <a:prstDash val="solid"/>
          </a:ln>
        </p:spPr>
        <p:txBody>
          <a:bodyPr/>
          <a:lstStyle/>
          <a:p>
            <a:endParaRPr lang="en-US"/>
          </a:p>
        </p:txBody>
      </p:sp>
      <p:sp>
        <p:nvSpPr>
          <p:cNvPr id="31" name="Shape 29"/>
          <p:cNvSpPr/>
          <p:nvPr/>
        </p:nvSpPr>
        <p:spPr>
          <a:xfrm>
            <a:off x="9363456" y="2194560"/>
            <a:ext cx="1993392" cy="54864"/>
          </a:xfrm>
          <a:prstGeom prst="rect">
            <a:avLst/>
          </a:prstGeom>
          <a:solidFill>
            <a:srgbClr val="4A7BC2"/>
          </a:solidFill>
          <a:ln w="12700">
            <a:solidFill>
              <a:srgbClr val="4A7BC2"/>
            </a:solidFill>
            <a:prstDash val="solid"/>
          </a:ln>
        </p:spPr>
        <p:txBody>
          <a:bodyPr/>
          <a:lstStyle/>
          <a:p>
            <a:endParaRPr lang="en-US"/>
          </a:p>
        </p:txBody>
      </p:sp>
      <p:sp>
        <p:nvSpPr>
          <p:cNvPr id="32" name="Text 30"/>
          <p:cNvSpPr/>
          <p:nvPr/>
        </p:nvSpPr>
        <p:spPr>
          <a:xfrm>
            <a:off x="9546336" y="2377440"/>
            <a:ext cx="1627632" cy="274320"/>
          </a:xfrm>
          <a:prstGeom prst="rect">
            <a:avLst/>
          </a:prstGeom>
          <a:noFill/>
          <a:ln/>
        </p:spPr>
        <p:txBody>
          <a:bodyPr wrap="square" lIns="0" tIns="0" rIns="0" bIns="0" rtlCol="0" anchor="ctr"/>
          <a:lstStyle/>
          <a:p>
            <a:pPr marL="0" indent="0">
              <a:buNone/>
            </a:pPr>
            <a:r>
              <a:rPr lang="en-US" sz="900" b="1" kern="0" spc="400" dirty="0">
                <a:solidFill>
                  <a:srgbClr val="4A7BC2"/>
                </a:solidFill>
                <a:latin typeface="Calibri" pitchFamily="34" charset="0"/>
                <a:ea typeface="Calibri" pitchFamily="34" charset="-122"/>
                <a:cs typeface="Calibri" pitchFamily="34" charset="-120"/>
              </a:rPr>
              <a:t>STEP 5</a:t>
            </a:r>
            <a:endParaRPr lang="en-US" sz="900" dirty="0"/>
          </a:p>
        </p:txBody>
      </p:sp>
      <p:sp>
        <p:nvSpPr>
          <p:cNvPr id="33" name="Text 31"/>
          <p:cNvSpPr/>
          <p:nvPr/>
        </p:nvSpPr>
        <p:spPr>
          <a:xfrm>
            <a:off x="9546336" y="2651760"/>
            <a:ext cx="1627632" cy="502920"/>
          </a:xfrm>
          <a:prstGeom prst="rect">
            <a:avLst/>
          </a:prstGeom>
          <a:noFill/>
          <a:ln/>
        </p:spPr>
        <p:txBody>
          <a:bodyPr wrap="square" lIns="0" tIns="0" rIns="0" bIns="0" rtlCol="0" anchor="t"/>
          <a:lstStyle/>
          <a:p>
            <a:pPr marL="0" indent="0">
              <a:buNone/>
            </a:pPr>
            <a:r>
              <a:rPr lang="en-US" sz="1400" b="1" dirty="0">
                <a:solidFill>
                  <a:srgbClr val="1A2438"/>
                </a:solidFill>
                <a:latin typeface="Cambria" pitchFamily="34" charset="0"/>
                <a:ea typeface="Cambria" pitchFamily="34" charset="-122"/>
                <a:cs typeface="Cambria" pitchFamily="34" charset="-120"/>
              </a:rPr>
              <a:t>Apply OTP definition</a:t>
            </a:r>
            <a:endParaRPr lang="en-US" sz="1400" dirty="0"/>
          </a:p>
        </p:txBody>
      </p:sp>
      <p:sp>
        <p:nvSpPr>
          <p:cNvPr id="34" name="Text 32"/>
          <p:cNvSpPr/>
          <p:nvPr/>
        </p:nvSpPr>
        <p:spPr>
          <a:xfrm>
            <a:off x="9546336" y="3154680"/>
            <a:ext cx="1627632" cy="457200"/>
          </a:xfrm>
          <a:prstGeom prst="rect">
            <a:avLst/>
          </a:prstGeom>
          <a:noFill/>
          <a:ln/>
        </p:spPr>
        <p:txBody>
          <a:bodyPr wrap="square" lIns="0" tIns="0" rIns="0" bIns="0" rtlCol="0" anchor="t"/>
          <a:lstStyle/>
          <a:p>
            <a:pPr marL="0" indent="0">
              <a:buNone/>
            </a:pPr>
            <a:r>
              <a:rPr lang="en-US" sz="1000" dirty="0">
                <a:solidFill>
                  <a:srgbClr val="6B7280"/>
                </a:solidFill>
                <a:latin typeface="Calibri" pitchFamily="34" charset="0"/>
                <a:ea typeface="Calibri" pitchFamily="34" charset="-122"/>
                <a:cs typeface="Calibri" pitchFamily="34" charset="-120"/>
              </a:rPr>
              <a:t>Lateness window,</a:t>
            </a:r>
            <a:endParaRPr lang="en-US" sz="1000" dirty="0"/>
          </a:p>
          <a:p>
            <a:pPr marL="0" indent="0">
              <a:buNone/>
            </a:pPr>
            <a:r>
              <a:rPr lang="en-US" sz="1000" dirty="0">
                <a:solidFill>
                  <a:srgbClr val="6B7280"/>
                </a:solidFill>
                <a:latin typeface="Calibri" pitchFamily="34" charset="0"/>
                <a:ea typeface="Calibri" pitchFamily="34" charset="-122"/>
                <a:cs typeface="Calibri" pitchFamily="34" charset="-120"/>
              </a:rPr>
              <a:t>early treatment</a:t>
            </a:r>
            <a:endParaRPr lang="en-US" sz="1000" dirty="0"/>
          </a:p>
        </p:txBody>
      </p:sp>
      <p:sp>
        <p:nvSpPr>
          <p:cNvPr id="35" name="Shape 33"/>
          <p:cNvSpPr/>
          <p:nvPr/>
        </p:nvSpPr>
        <p:spPr>
          <a:xfrm>
            <a:off x="731520" y="4023360"/>
            <a:ext cx="10698480" cy="2286000"/>
          </a:xfrm>
          <a:prstGeom prst="rect">
            <a:avLst/>
          </a:prstGeom>
          <a:solidFill>
            <a:srgbClr val="FFFFFF"/>
          </a:solidFill>
          <a:ln w="6350">
            <a:solidFill>
              <a:srgbClr val="D9D5C8"/>
            </a:solidFill>
            <a:prstDash val="solid"/>
          </a:ln>
        </p:spPr>
        <p:txBody>
          <a:bodyPr/>
          <a:lstStyle/>
          <a:p>
            <a:endParaRPr lang="en-US"/>
          </a:p>
        </p:txBody>
      </p:sp>
      <p:sp>
        <p:nvSpPr>
          <p:cNvPr id="36" name="Shape 34"/>
          <p:cNvSpPr/>
          <p:nvPr/>
        </p:nvSpPr>
        <p:spPr>
          <a:xfrm>
            <a:off x="731520" y="4023360"/>
            <a:ext cx="91440" cy="2286000"/>
          </a:xfrm>
          <a:prstGeom prst="rect">
            <a:avLst/>
          </a:prstGeom>
          <a:solidFill>
            <a:srgbClr val="E8B547"/>
          </a:solidFill>
          <a:ln w="12700">
            <a:solidFill>
              <a:srgbClr val="E8B547"/>
            </a:solidFill>
            <a:prstDash val="solid"/>
          </a:ln>
        </p:spPr>
        <p:txBody>
          <a:bodyPr/>
          <a:lstStyle/>
          <a:p>
            <a:endParaRPr lang="en-US"/>
          </a:p>
        </p:txBody>
      </p:sp>
      <p:sp>
        <p:nvSpPr>
          <p:cNvPr id="37" name="Text 35"/>
          <p:cNvSpPr/>
          <p:nvPr/>
        </p:nvSpPr>
        <p:spPr>
          <a:xfrm>
            <a:off x="1005840" y="4297680"/>
            <a:ext cx="10058400" cy="365760"/>
          </a:xfrm>
          <a:prstGeom prst="rect">
            <a:avLst/>
          </a:prstGeom>
          <a:noFill/>
          <a:ln/>
        </p:spPr>
        <p:txBody>
          <a:bodyPr wrap="square" lIns="0" tIns="0" rIns="0" bIns="0" rtlCol="0" anchor="ctr"/>
          <a:lstStyle/>
          <a:p>
            <a:pPr marL="0" indent="0">
              <a:buNone/>
            </a:pPr>
            <a:r>
              <a:rPr lang="en-US" sz="1100" b="1" kern="0" spc="600" dirty="0">
                <a:solidFill>
                  <a:srgbClr val="E8B547"/>
                </a:solidFill>
                <a:latin typeface="Calibri" pitchFamily="34" charset="0"/>
                <a:ea typeface="Calibri" pitchFamily="34" charset="-122"/>
                <a:cs typeface="Calibri" pitchFamily="34" charset="-120"/>
              </a:rPr>
              <a:t>STEP 4 GETS MUCH LESS ATTENTION</a:t>
            </a:r>
            <a:endParaRPr lang="en-US" sz="1100" dirty="0"/>
          </a:p>
        </p:txBody>
      </p:sp>
      <p:sp>
        <p:nvSpPr>
          <p:cNvPr id="38" name="Text 36"/>
          <p:cNvSpPr/>
          <p:nvPr/>
        </p:nvSpPr>
        <p:spPr>
          <a:xfrm>
            <a:off x="1005840" y="4663440"/>
            <a:ext cx="10058400" cy="457200"/>
          </a:xfrm>
          <a:prstGeom prst="rect">
            <a:avLst/>
          </a:prstGeom>
          <a:noFill/>
          <a:ln/>
        </p:spPr>
        <p:txBody>
          <a:bodyPr wrap="square" lIns="0" tIns="0" rIns="0" bIns="0" rtlCol="0" anchor="ctr"/>
          <a:lstStyle/>
          <a:p>
            <a:pPr marL="0" indent="0">
              <a:buNone/>
            </a:pPr>
            <a:r>
              <a:rPr lang="en-US" sz="2000" b="1" dirty="0">
                <a:solidFill>
                  <a:srgbClr val="1A2438"/>
                </a:solidFill>
                <a:latin typeface="Cambria" pitchFamily="34" charset="0"/>
                <a:ea typeface="Cambria" pitchFamily="34" charset="-122"/>
                <a:cs typeface="Cambria" pitchFamily="34" charset="-120"/>
              </a:rPr>
              <a:t>Snapshot selection: which prediction represents the stop event?</a:t>
            </a:r>
            <a:endParaRPr lang="en-US" sz="2000" dirty="0"/>
          </a:p>
        </p:txBody>
      </p:sp>
      <p:sp>
        <p:nvSpPr>
          <p:cNvPr id="39" name="Text 37"/>
          <p:cNvSpPr/>
          <p:nvPr/>
        </p:nvSpPr>
        <p:spPr>
          <a:xfrm>
            <a:off x="1005840" y="5166360"/>
            <a:ext cx="10058400" cy="1051560"/>
          </a:xfrm>
          <a:prstGeom prst="rect">
            <a:avLst/>
          </a:prstGeom>
          <a:noFill/>
          <a:ln/>
        </p:spPr>
        <p:txBody>
          <a:bodyPr wrap="square" lIns="0" tIns="0" rIns="0" bIns="0" rtlCol="0" anchor="t"/>
          <a:lstStyle/>
          <a:p>
            <a:pPr marL="0" indent="0">
              <a:buNone/>
            </a:pPr>
            <a:r>
              <a:rPr lang="en-US" sz="1300" dirty="0">
                <a:solidFill>
                  <a:srgbClr val="4A4A4A"/>
                </a:solidFill>
                <a:latin typeface="Calibri" pitchFamily="34" charset="0"/>
                <a:ea typeface="Calibri" pitchFamily="34" charset="-122"/>
                <a:cs typeface="Calibri" pitchFamily="34" charset="-120"/>
              </a:rPr>
              <a:t>GTFS-RT is a stream of overlapping live predictions, not a finished historical record. </a:t>
            </a:r>
            <a:endParaRPr lang="en-US" sz="1300" dirty="0"/>
          </a:p>
          <a:p>
            <a:pPr marL="0" indent="0">
              <a:buNone/>
            </a:pPr>
            <a:r>
              <a:rPr lang="en-US" sz="1300" dirty="0">
                <a:solidFill>
                  <a:srgbClr val="4A4A4A"/>
                </a:solidFill>
                <a:latin typeface="Calibri" pitchFamily="34" charset="0"/>
                <a:ea typeface="Calibri" pitchFamily="34" charset="-122"/>
                <a:cs typeface="Calibri" pitchFamily="34" charset="-120"/>
              </a:rPr>
              <a:t>A single scheduled stop appears in many snapshots as the bus approaches. The analyst must pick one.</a:t>
            </a:r>
            <a:endParaRPr lang="en-US" sz="1300" dirty="0"/>
          </a:p>
          <a:p>
            <a:pPr marL="0" indent="0">
              <a:buNone/>
            </a:pPr>
            <a:r>
              <a:rPr lang="en-US" sz="600" dirty="0">
                <a:solidFill>
                  <a:srgbClr val="000000"/>
                </a:solidFill>
              </a:rPr>
              <a:t> </a:t>
            </a:r>
            <a:endParaRPr lang="en-US" sz="1300" dirty="0"/>
          </a:p>
          <a:p>
            <a:pPr marL="0" indent="0">
              <a:buNone/>
            </a:pPr>
            <a:r>
              <a:rPr lang="en-US" sz="1300" dirty="0">
                <a:solidFill>
                  <a:srgbClr val="4A4A4A"/>
                </a:solidFill>
                <a:latin typeface="Calibri" pitchFamily="34" charset="0"/>
                <a:ea typeface="Calibri" pitchFamily="34" charset="-122"/>
                <a:cs typeface="Calibri" pitchFamily="34" charset="-120"/>
              </a:rPr>
              <a:t>This study compares three rules: </a:t>
            </a:r>
            <a:r>
              <a:rPr lang="en-US" sz="1300" b="1" dirty="0">
                <a:solidFill>
                  <a:srgbClr val="1A2438"/>
                </a:solidFill>
                <a:latin typeface="Consolas" pitchFamily="34" charset="0"/>
                <a:ea typeface="Consolas" pitchFamily="34" charset="-122"/>
                <a:cs typeface="Consolas" pitchFamily="34" charset="-120"/>
              </a:rPr>
              <a:t>closest</a:t>
            </a:r>
            <a:r>
              <a:rPr lang="en-US" sz="1300" dirty="0">
                <a:solidFill>
                  <a:srgbClr val="4A4A4A"/>
                </a:solidFill>
                <a:latin typeface="Calibri" pitchFamily="34" charset="0"/>
                <a:ea typeface="Calibri" pitchFamily="34" charset="-122"/>
                <a:cs typeface="Calibri" pitchFamily="34" charset="-120"/>
              </a:rPr>
              <a:t> (prediction nearest scheduled time), </a:t>
            </a:r>
            <a:r>
              <a:rPr lang="en-US" sz="1300" b="1" dirty="0">
                <a:solidFill>
                  <a:srgbClr val="1A2438"/>
                </a:solidFill>
                <a:latin typeface="Consolas" pitchFamily="34" charset="0"/>
                <a:ea typeface="Consolas" pitchFamily="34" charset="-122"/>
                <a:cs typeface="Consolas" pitchFamily="34" charset="-120"/>
              </a:rPr>
              <a:t>last_before</a:t>
            </a:r>
            <a:r>
              <a:rPr lang="en-US" sz="1300" dirty="0">
                <a:solidFill>
                  <a:srgbClr val="4A4A4A"/>
                </a:solidFill>
                <a:latin typeface="Calibri" pitchFamily="34" charset="0"/>
                <a:ea typeface="Calibri" pitchFamily="34" charset="-122"/>
                <a:cs typeface="Calibri" pitchFamily="34" charset="-120"/>
              </a:rPr>
              <a:t> (last prediction before scheduled time), and </a:t>
            </a:r>
            <a:r>
              <a:rPr lang="en-US" sz="1300" b="1" dirty="0">
                <a:solidFill>
                  <a:srgbClr val="1A2438"/>
                </a:solidFill>
                <a:latin typeface="Consolas" pitchFamily="34" charset="0"/>
                <a:ea typeface="Consolas" pitchFamily="34" charset="-122"/>
                <a:cs typeface="Consolas" pitchFamily="34" charset="-120"/>
              </a:rPr>
              <a:t>latest</a:t>
            </a:r>
            <a:r>
              <a:rPr lang="en-US" sz="1300" dirty="0">
                <a:solidFill>
                  <a:srgbClr val="4A4A4A"/>
                </a:solidFill>
                <a:latin typeface="Calibri" pitchFamily="34" charset="0"/>
                <a:ea typeface="Calibri" pitchFamily="34" charset="-122"/>
                <a:cs typeface="Calibri" pitchFamily="34" charset="-120"/>
              </a:rPr>
              <a:t> (chronologically last, treated here as the closest GTFS-RT-only proxy).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2438"/>
          </a:solidFill>
          <a:ln w="12700">
            <a:solidFill>
              <a:srgbClr val="1A2438"/>
            </a:solidFill>
            <a:prstDash val="solid"/>
          </a:ln>
        </p:spPr>
        <p:txBody>
          <a:bodyPr/>
          <a:lstStyle/>
          <a:p>
            <a:endParaRPr lang="en-US"/>
          </a:p>
        </p:txBody>
      </p:sp>
      <p:sp>
        <p:nvSpPr>
          <p:cNvPr id="3" name="Text 1"/>
          <p:cNvSpPr/>
          <p:nvPr/>
        </p:nvSpPr>
        <p:spPr>
          <a:xfrm>
            <a:off x="548640" y="0"/>
            <a:ext cx="10972800" cy="64008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METHOD</a:t>
            </a:r>
            <a:endParaRPr lang="en-US" sz="1100" dirty="0"/>
          </a:p>
        </p:txBody>
      </p:sp>
      <p:sp>
        <p:nvSpPr>
          <p:cNvPr id="4" name="Text 2"/>
          <p:cNvSpPr/>
          <p:nvPr/>
        </p:nvSpPr>
        <p:spPr>
          <a:xfrm>
            <a:off x="731520" y="914400"/>
            <a:ext cx="10698480" cy="548640"/>
          </a:xfrm>
          <a:prstGeom prst="rect">
            <a:avLst/>
          </a:prstGeom>
          <a:noFill/>
          <a:ln/>
        </p:spPr>
        <p:txBody>
          <a:bodyPr wrap="square" lIns="0" tIns="0" rIns="0" bIns="0" rtlCol="0" anchor="ctr"/>
          <a:lstStyle/>
          <a:p>
            <a:pPr marL="0" indent="0">
              <a:buNone/>
            </a:pPr>
            <a:r>
              <a:rPr lang="en-US" sz="2600" b="1" dirty="0">
                <a:solidFill>
                  <a:srgbClr val="1A2438"/>
                </a:solidFill>
                <a:latin typeface="Cambria" pitchFamily="34" charset="0"/>
                <a:ea typeface="Cambria" pitchFamily="34" charset="-122"/>
                <a:cs typeface="Cambria" pitchFamily="34" charset="-120"/>
              </a:rPr>
              <a:t>Six specification dimensions, fully crossed</a:t>
            </a:r>
            <a:endParaRPr lang="en-US" sz="2600" dirty="0"/>
          </a:p>
        </p:txBody>
      </p:sp>
      <p:sp>
        <p:nvSpPr>
          <p:cNvPr id="5" name="Text 3"/>
          <p:cNvSpPr/>
          <p:nvPr/>
        </p:nvSpPr>
        <p:spPr>
          <a:xfrm>
            <a:off x="731520" y="1508760"/>
            <a:ext cx="10698480" cy="3657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Adapting specification-curve and multiverse analysis (Simonsohn et al. 2020; Steegen et al. 2016) to descriptive KPI measurement.</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2103120"/>
          <a:ext cx="10698480" cy="3200400"/>
        </p:xfrm>
        <a:graphic>
          <a:graphicData uri="http://schemas.openxmlformats.org/drawingml/2006/table">
            <a:tbl>
              <a:tblPr/>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45720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Dimension</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1A2438"/>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Variants</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1A2438"/>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What it controls</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1A2438"/>
                    </a:solidFill>
                  </a:tcPr>
                </a:tc>
                <a:extLst>
                  <a:ext uri="{0D108BD9-81ED-4DB2-BD59-A6C34878D82A}">
                    <a16:rowId xmlns:a16="http://schemas.microsoft.com/office/drawing/2014/main" val="10000"/>
                  </a:ext>
                </a:extLst>
              </a:tr>
              <a:tr h="457200">
                <a:tc>
                  <a:txBody>
                    <a:bodyPr/>
                    <a:lstStyle/>
                    <a:p>
                      <a:pPr marL="0" indent="0">
                        <a:buNone/>
                      </a:pPr>
                      <a:r>
                        <a:rPr lang="en-US" sz="1200" b="1" dirty="0">
                          <a:solidFill>
                            <a:srgbClr val="1A2438"/>
                          </a:solidFill>
                          <a:latin typeface="Calibri" pitchFamily="34" charset="0"/>
                          <a:ea typeface="Calibri" pitchFamily="34" charset="-122"/>
                          <a:cs typeface="Calibri" pitchFamily="34" charset="-120"/>
                        </a:rPr>
                        <a:t>Snapshot rule</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buNone/>
                      </a:pPr>
                      <a:r>
                        <a:rPr lang="en-US" sz="1100" dirty="0">
                          <a:solidFill>
                            <a:srgbClr val="4A4A4A"/>
                          </a:solidFill>
                          <a:latin typeface="Consolas" pitchFamily="34" charset="0"/>
                          <a:ea typeface="Consolas" pitchFamily="34" charset="-122"/>
                          <a:cs typeface="Consolas" pitchFamily="34" charset="-120"/>
                        </a:rPr>
                        <a:t>closest · last_before · latest</a:t>
                      </a:r>
                      <a:endParaRPr lang="en-US" sz="1100" dirty="0">
                        <a:latin typeface="Consolas" charset="0"/>
                        <a:ea typeface="Consolas" charset="0"/>
                        <a:cs typeface="Consolas"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buNone/>
                      </a:pPr>
                      <a:r>
                        <a:rPr lang="en-US" sz="1100" dirty="0">
                          <a:solidFill>
                            <a:srgbClr val="4A4A4A"/>
                          </a:solidFill>
                          <a:latin typeface="Calibri" pitchFamily="34" charset="0"/>
                          <a:ea typeface="Calibri" pitchFamily="34" charset="-122"/>
                          <a:cs typeface="Calibri" pitchFamily="34" charset="-120"/>
                        </a:rPr>
                        <a:t>Which prediction represents each stop event</a:t>
                      </a:r>
                      <a:endParaRPr lang="en-US" sz="11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00" b="1" dirty="0">
                          <a:solidFill>
                            <a:srgbClr val="1A2438"/>
                          </a:solidFill>
                          <a:latin typeface="Calibri" pitchFamily="34" charset="0"/>
                          <a:ea typeface="Calibri" pitchFamily="34" charset="-122"/>
                          <a:cs typeface="Calibri" pitchFamily="34" charset="-120"/>
                        </a:rPr>
                        <a:t>Lateness window</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tc>
                  <a:txBody>
                    <a:bodyPr/>
                    <a:lstStyle/>
                    <a:p>
                      <a:pPr marL="0" indent="0">
                        <a:buNone/>
                      </a:pPr>
                      <a:r>
                        <a:rPr lang="en-US" sz="1100" dirty="0">
                          <a:solidFill>
                            <a:srgbClr val="4A4A4A"/>
                          </a:solidFill>
                          <a:latin typeface="Consolas" pitchFamily="34" charset="0"/>
                          <a:ea typeface="Consolas" pitchFamily="34" charset="-122"/>
                          <a:cs typeface="Consolas" pitchFamily="34" charset="-120"/>
                        </a:rPr>
                        <a:t>0/+3 · −1/+5 · −2/+7</a:t>
                      </a:r>
                      <a:endParaRPr lang="en-US" sz="1100" dirty="0">
                        <a:latin typeface="Consolas" charset="0"/>
                        <a:ea typeface="Consolas" charset="0"/>
                        <a:cs typeface="Consolas"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tc>
                  <a:txBody>
                    <a:bodyPr/>
                    <a:lstStyle/>
                    <a:p>
                      <a:pPr marL="0" indent="0">
                        <a:buNone/>
                      </a:pPr>
                      <a:r>
                        <a:rPr lang="en-US" sz="1100" dirty="0">
                          <a:solidFill>
                            <a:srgbClr val="4A4A4A"/>
                          </a:solidFill>
                          <a:latin typeface="Calibri" pitchFamily="34" charset="0"/>
                          <a:ea typeface="Calibri" pitchFamily="34" charset="-122"/>
                          <a:cs typeface="Calibri" pitchFamily="34" charset="-120"/>
                        </a:rPr>
                        <a:t>Schedule-deviation range counted as on time</a:t>
                      </a:r>
                      <a:endParaRPr lang="en-US" sz="11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extLst>
                  <a:ext uri="{0D108BD9-81ED-4DB2-BD59-A6C34878D82A}">
                    <a16:rowId xmlns:a16="http://schemas.microsoft.com/office/drawing/2014/main" val="10002"/>
                  </a:ext>
                </a:extLst>
              </a:tr>
              <a:tr h="457200">
                <a:tc>
                  <a:txBody>
                    <a:bodyPr/>
                    <a:lstStyle/>
                    <a:p>
                      <a:pPr marL="0" indent="0">
                        <a:buNone/>
                      </a:pPr>
                      <a:r>
                        <a:rPr lang="en-US" sz="1200" b="1" dirty="0">
                          <a:solidFill>
                            <a:srgbClr val="1A2438"/>
                          </a:solidFill>
                          <a:latin typeface="Calibri" pitchFamily="34" charset="0"/>
                          <a:ea typeface="Calibri" pitchFamily="34" charset="-122"/>
                          <a:cs typeface="Calibri" pitchFamily="34" charset="-120"/>
                        </a:rPr>
                        <a:t>Early treatment</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buNone/>
                      </a:pPr>
                      <a:r>
                        <a:rPr lang="en-US" sz="1100" dirty="0">
                          <a:solidFill>
                            <a:srgbClr val="4A4A4A"/>
                          </a:solidFill>
                          <a:latin typeface="Consolas" pitchFamily="34" charset="0"/>
                          <a:ea typeface="Consolas" pitchFamily="34" charset="-122"/>
                          <a:cs typeface="Consolas" pitchFamily="34" charset="-120"/>
                        </a:rPr>
                        <a:t>count_early_as_late · ignore_early</a:t>
                      </a:r>
                      <a:endParaRPr lang="en-US" sz="1100" dirty="0">
                        <a:latin typeface="Consolas" charset="0"/>
                        <a:ea typeface="Consolas" charset="0"/>
                        <a:cs typeface="Consolas"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buNone/>
                      </a:pPr>
                      <a:r>
                        <a:rPr lang="en-US" sz="1100" dirty="0">
                          <a:solidFill>
                            <a:srgbClr val="4A4A4A"/>
                          </a:solidFill>
                          <a:latin typeface="Calibri" pitchFamily="34" charset="0"/>
                          <a:ea typeface="Calibri" pitchFamily="34" charset="-122"/>
                          <a:cs typeface="Calibri" pitchFamily="34" charset="-120"/>
                        </a:rPr>
                        <a:t>Whether early arrivals count as failures</a:t>
                      </a:r>
                      <a:endParaRPr lang="en-US" sz="11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00" b="1" dirty="0">
                          <a:solidFill>
                            <a:srgbClr val="1A2438"/>
                          </a:solidFill>
                          <a:latin typeface="Calibri" pitchFamily="34" charset="0"/>
                          <a:ea typeface="Calibri" pitchFamily="34" charset="-122"/>
                          <a:cs typeface="Calibri" pitchFamily="34" charset="-120"/>
                        </a:rPr>
                        <a:t>Stop selection</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tc>
                  <a:txBody>
                    <a:bodyPr/>
                    <a:lstStyle/>
                    <a:p>
                      <a:pPr marL="0" indent="0">
                        <a:buNone/>
                      </a:pPr>
                      <a:r>
                        <a:rPr lang="en-US" sz="1100" dirty="0">
                          <a:solidFill>
                            <a:srgbClr val="4A4A4A"/>
                          </a:solidFill>
                          <a:latin typeface="Consolas" pitchFamily="34" charset="0"/>
                          <a:ea typeface="Consolas" pitchFamily="34" charset="-122"/>
                          <a:cs typeface="Consolas" pitchFamily="34" charset="-120"/>
                        </a:rPr>
                        <a:t>all_stops · timepoints · terminals</a:t>
                      </a:r>
                      <a:endParaRPr lang="en-US" sz="1100" dirty="0">
                        <a:latin typeface="Consolas" charset="0"/>
                        <a:ea typeface="Consolas" charset="0"/>
                        <a:cs typeface="Consolas"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tc>
                  <a:txBody>
                    <a:bodyPr/>
                    <a:lstStyle/>
                    <a:p>
                      <a:pPr marL="0" indent="0">
                        <a:buNone/>
                      </a:pPr>
                      <a:r>
                        <a:rPr lang="en-US" sz="1100" dirty="0">
                          <a:solidFill>
                            <a:srgbClr val="4A4A4A"/>
                          </a:solidFill>
                          <a:latin typeface="Calibri" pitchFamily="34" charset="0"/>
                          <a:ea typeface="Calibri" pitchFamily="34" charset="-122"/>
                          <a:cs typeface="Calibri" pitchFamily="34" charset="-120"/>
                        </a:rPr>
                        <a:t>Which stops contribute to route-level OTP</a:t>
                      </a:r>
                      <a:endParaRPr lang="en-US" sz="11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extLst>
                  <a:ext uri="{0D108BD9-81ED-4DB2-BD59-A6C34878D82A}">
                    <a16:rowId xmlns:a16="http://schemas.microsoft.com/office/drawing/2014/main" val="10004"/>
                  </a:ext>
                </a:extLst>
              </a:tr>
              <a:tr h="457200">
                <a:tc>
                  <a:txBody>
                    <a:bodyPr/>
                    <a:lstStyle/>
                    <a:p>
                      <a:pPr marL="0" indent="0">
                        <a:buNone/>
                      </a:pPr>
                      <a:r>
                        <a:rPr lang="en-US" sz="1200" b="1" dirty="0">
                          <a:solidFill>
                            <a:srgbClr val="1A2438"/>
                          </a:solidFill>
                          <a:latin typeface="Calibri" pitchFamily="34" charset="0"/>
                          <a:ea typeface="Calibri" pitchFamily="34" charset="-122"/>
                          <a:cs typeface="Calibri" pitchFamily="34" charset="-120"/>
                        </a:rPr>
                        <a:t>Time of day</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buNone/>
                      </a:pPr>
                      <a:r>
                        <a:rPr lang="en-US" sz="1100" dirty="0">
                          <a:solidFill>
                            <a:srgbClr val="4A4A4A"/>
                          </a:solidFill>
                          <a:latin typeface="Consolas" pitchFamily="34" charset="0"/>
                          <a:ea typeface="Consolas" pitchFamily="34" charset="-122"/>
                          <a:cs typeface="Consolas" pitchFamily="34" charset="-120"/>
                        </a:rPr>
                        <a:t>AM peak · midday · PM peak · evening · all</a:t>
                      </a:r>
                      <a:endParaRPr lang="en-US" sz="1100" dirty="0">
                        <a:latin typeface="Consolas" charset="0"/>
                        <a:ea typeface="Consolas" charset="0"/>
                        <a:cs typeface="Consolas"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buNone/>
                      </a:pPr>
                      <a:r>
                        <a:rPr lang="en-US" sz="1100" dirty="0">
                          <a:solidFill>
                            <a:srgbClr val="4A4A4A"/>
                          </a:solidFill>
                          <a:latin typeface="Calibri" pitchFamily="34" charset="0"/>
                          <a:ea typeface="Calibri" pitchFamily="34" charset="-122"/>
                          <a:cs typeface="Calibri" pitchFamily="34" charset="-120"/>
                        </a:rPr>
                        <a:t>Time window of analysis</a:t>
                      </a:r>
                      <a:endParaRPr lang="en-US" sz="11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200" b="1" dirty="0">
                          <a:solidFill>
                            <a:srgbClr val="1A2438"/>
                          </a:solidFill>
                          <a:latin typeface="Calibri" pitchFamily="34" charset="0"/>
                          <a:ea typeface="Calibri" pitchFamily="34" charset="-122"/>
                          <a:cs typeface="Calibri" pitchFamily="34" charset="-120"/>
                        </a:rPr>
                        <a:t>Delay basis</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tc>
                  <a:txBody>
                    <a:bodyPr/>
                    <a:lstStyle/>
                    <a:p>
                      <a:pPr marL="0" indent="0">
                        <a:buNone/>
                      </a:pPr>
                      <a:r>
                        <a:rPr lang="en-US" sz="1100" dirty="0">
                          <a:solidFill>
                            <a:srgbClr val="4A4A4A"/>
                          </a:solidFill>
                          <a:latin typeface="Consolas" pitchFamily="34" charset="0"/>
                          <a:ea typeface="Consolas" pitchFamily="34" charset="-122"/>
                          <a:cs typeface="Consolas" pitchFamily="34" charset="-120"/>
                        </a:rPr>
                        <a:t>arrival · departure</a:t>
                      </a:r>
                      <a:endParaRPr lang="en-US" sz="1100" dirty="0">
                        <a:latin typeface="Consolas" charset="0"/>
                        <a:ea typeface="Consolas" charset="0"/>
                        <a:cs typeface="Consolas"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tc>
                  <a:txBody>
                    <a:bodyPr/>
                    <a:lstStyle/>
                    <a:p>
                      <a:pPr marL="0" indent="0">
                        <a:buNone/>
                      </a:pPr>
                      <a:r>
                        <a:rPr lang="en-US" sz="1100" dirty="0">
                          <a:solidFill>
                            <a:srgbClr val="4A4A4A"/>
                          </a:solidFill>
                          <a:latin typeface="Calibri" pitchFamily="34" charset="0"/>
                          <a:ea typeface="Calibri" pitchFamily="34" charset="-122"/>
                          <a:cs typeface="Calibri" pitchFamily="34" charset="-120"/>
                        </a:rPr>
                        <a:t>Scheduled time used as the reference</a:t>
                      </a:r>
                      <a:endParaRPr lang="en-US" sz="11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extLst>
                  <a:ext uri="{0D108BD9-81ED-4DB2-BD59-A6C34878D82A}">
                    <a16:rowId xmlns:a16="http://schemas.microsoft.com/office/drawing/2014/main" val="10006"/>
                  </a:ext>
                </a:extLst>
              </a:tr>
            </a:tbl>
          </a:graphicData>
        </a:graphic>
      </p:graphicFrame>
      <p:sp>
        <p:nvSpPr>
          <p:cNvPr id="7" name="Shape 4"/>
          <p:cNvSpPr/>
          <p:nvPr/>
        </p:nvSpPr>
        <p:spPr>
          <a:xfrm>
            <a:off x="731520" y="5943600"/>
            <a:ext cx="10698480" cy="640080"/>
          </a:xfrm>
          <a:prstGeom prst="rect">
            <a:avLst/>
          </a:prstGeom>
          <a:solidFill>
            <a:srgbClr val="1A2438"/>
          </a:solidFill>
          <a:ln w="12700">
            <a:solidFill>
              <a:srgbClr val="1A2438"/>
            </a:solidFill>
            <a:prstDash val="solid"/>
          </a:ln>
        </p:spPr>
        <p:txBody>
          <a:bodyPr/>
          <a:lstStyle/>
          <a:p>
            <a:endParaRPr lang="en-US"/>
          </a:p>
        </p:txBody>
      </p:sp>
      <p:sp>
        <p:nvSpPr>
          <p:cNvPr id="8" name="Text 5"/>
          <p:cNvSpPr/>
          <p:nvPr/>
        </p:nvSpPr>
        <p:spPr>
          <a:xfrm>
            <a:off x="731520" y="5943600"/>
            <a:ext cx="10698480" cy="6400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 × 3 × 2 × 3 × 5 × 2 = 540 specifications per route   </a:t>
            </a:r>
            <a:r>
              <a:rPr lang="en-US" sz="1400" b="1" dirty="0">
                <a:solidFill>
                  <a:srgbClr val="E8B547"/>
                </a:solidFill>
                <a:latin typeface="Calibri" pitchFamily="34" charset="0"/>
                <a:ea typeface="Calibri" pitchFamily="34" charset="-122"/>
                <a:cs typeface="Calibri" pitchFamily="34" charset="-120"/>
              </a:rPr>
              <a:t>·   1,080 total across both routes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2438"/>
          </a:solidFill>
          <a:ln w="12700">
            <a:solidFill>
              <a:srgbClr val="1A2438"/>
            </a:solidFill>
            <a:prstDash val="solid"/>
          </a:ln>
        </p:spPr>
        <p:txBody>
          <a:bodyPr/>
          <a:lstStyle/>
          <a:p>
            <a:endParaRPr lang="en-US"/>
          </a:p>
        </p:txBody>
      </p:sp>
      <p:sp>
        <p:nvSpPr>
          <p:cNvPr id="3" name="Text 1"/>
          <p:cNvSpPr/>
          <p:nvPr/>
        </p:nvSpPr>
        <p:spPr>
          <a:xfrm>
            <a:off x="548640" y="0"/>
            <a:ext cx="10972800" cy="64008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RESULT 1: THE SPREAD</a:t>
            </a:r>
            <a:endParaRPr lang="en-US" sz="1100" dirty="0"/>
          </a:p>
        </p:txBody>
      </p:sp>
      <p:sp>
        <p:nvSpPr>
          <p:cNvPr id="4" name="Text 2"/>
          <p:cNvSpPr/>
          <p:nvPr/>
        </p:nvSpPr>
        <p:spPr>
          <a:xfrm>
            <a:off x="731520" y="914400"/>
            <a:ext cx="10698480" cy="548640"/>
          </a:xfrm>
          <a:prstGeom prst="rect">
            <a:avLst/>
          </a:prstGeom>
          <a:noFill/>
          <a:ln/>
        </p:spPr>
        <p:txBody>
          <a:bodyPr wrap="square" lIns="0" tIns="0" rIns="0" bIns="0" rtlCol="0" anchor="ctr"/>
          <a:lstStyle/>
          <a:p>
            <a:pPr marL="0" indent="0">
              <a:buNone/>
            </a:pPr>
            <a:r>
              <a:rPr lang="en-US" sz="2600" b="1" dirty="0">
                <a:solidFill>
                  <a:srgbClr val="1A2438"/>
                </a:solidFill>
                <a:latin typeface="Cambria" pitchFamily="34" charset="0"/>
                <a:ea typeface="Cambria" pitchFamily="34" charset="-122"/>
                <a:cs typeface="Cambria" pitchFamily="34" charset="-120"/>
              </a:rPr>
              <a:t>Reasonable choices produce ~80 percentage points of variation</a:t>
            </a:r>
            <a:endParaRPr lang="en-US" sz="2600" dirty="0"/>
          </a:p>
        </p:txBody>
      </p:sp>
      <p:sp>
        <p:nvSpPr>
          <p:cNvPr id="5" name="Text 3"/>
          <p:cNvSpPr/>
          <p:nvPr/>
        </p:nvSpPr>
        <p:spPr>
          <a:xfrm>
            <a:off x="731520" y="1508760"/>
            <a:ext cx="1069848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Distribution of OTP across high-sample specifications, 432 per route.</a:t>
            </a:r>
            <a:endParaRPr lang="en-US" sz="1300" dirty="0"/>
          </a:p>
        </p:txBody>
      </p:sp>
      <p:sp>
        <p:nvSpPr>
          <p:cNvPr id="6" name="Shape 4"/>
          <p:cNvSpPr/>
          <p:nvPr/>
        </p:nvSpPr>
        <p:spPr>
          <a:xfrm>
            <a:off x="731520" y="2286000"/>
            <a:ext cx="5212080" cy="4114800"/>
          </a:xfrm>
          <a:prstGeom prst="rect">
            <a:avLst/>
          </a:prstGeom>
          <a:solidFill>
            <a:srgbClr val="FFFFFF"/>
          </a:solidFill>
          <a:ln w="6350">
            <a:solidFill>
              <a:srgbClr val="D9D5C8"/>
            </a:solidFill>
            <a:prstDash val="solid"/>
          </a:ln>
        </p:spPr>
        <p:txBody>
          <a:bodyPr/>
          <a:lstStyle/>
          <a:p>
            <a:endParaRPr lang="en-US"/>
          </a:p>
        </p:txBody>
      </p:sp>
      <p:sp>
        <p:nvSpPr>
          <p:cNvPr id="7" name="Shape 5"/>
          <p:cNvSpPr/>
          <p:nvPr/>
        </p:nvSpPr>
        <p:spPr>
          <a:xfrm>
            <a:off x="731520" y="2286000"/>
            <a:ext cx="5212080" cy="73152"/>
          </a:xfrm>
          <a:prstGeom prst="rect">
            <a:avLst/>
          </a:prstGeom>
          <a:solidFill>
            <a:srgbClr val="1A2438"/>
          </a:solidFill>
          <a:ln w="12700">
            <a:solidFill>
              <a:srgbClr val="1A2438"/>
            </a:solidFill>
            <a:prstDash val="solid"/>
          </a:ln>
        </p:spPr>
        <p:txBody>
          <a:bodyPr/>
          <a:lstStyle/>
          <a:p>
            <a:endParaRPr lang="en-US"/>
          </a:p>
        </p:txBody>
      </p:sp>
      <p:sp>
        <p:nvSpPr>
          <p:cNvPr id="8" name="Text 6"/>
          <p:cNvSpPr/>
          <p:nvPr/>
        </p:nvSpPr>
        <p:spPr>
          <a:xfrm>
            <a:off x="1005840" y="2514600"/>
            <a:ext cx="4663440" cy="457200"/>
          </a:xfrm>
          <a:prstGeom prst="rect">
            <a:avLst/>
          </a:prstGeom>
          <a:noFill/>
          <a:ln/>
        </p:spPr>
        <p:txBody>
          <a:bodyPr wrap="square" lIns="0" tIns="0" rIns="0" bIns="0" rtlCol="0" anchor="ctr"/>
          <a:lstStyle/>
          <a:p>
            <a:pPr marL="0" indent="0">
              <a:buNone/>
            </a:pPr>
            <a:r>
              <a:rPr lang="en-US" sz="2200" b="1" dirty="0">
                <a:solidFill>
                  <a:srgbClr val="1A2438"/>
                </a:solidFill>
                <a:latin typeface="Cambria" pitchFamily="34" charset="0"/>
                <a:ea typeface="Cambria" pitchFamily="34" charset="-122"/>
                <a:cs typeface="Cambria" pitchFamily="34" charset="-120"/>
              </a:rPr>
              <a:t>Route 23</a:t>
            </a:r>
            <a:endParaRPr lang="en-US" sz="2200" dirty="0"/>
          </a:p>
        </p:txBody>
      </p:sp>
      <p:sp>
        <p:nvSpPr>
          <p:cNvPr id="9" name="Text 7"/>
          <p:cNvSpPr/>
          <p:nvPr/>
        </p:nvSpPr>
        <p:spPr>
          <a:xfrm>
            <a:off x="1005840" y="3063240"/>
            <a:ext cx="4663440" cy="1280160"/>
          </a:xfrm>
          <a:prstGeom prst="rect">
            <a:avLst/>
          </a:prstGeom>
          <a:noFill/>
          <a:ln/>
        </p:spPr>
        <p:txBody>
          <a:bodyPr wrap="square" lIns="0" tIns="0" rIns="0" bIns="0" rtlCol="0" anchor="ctr"/>
          <a:lstStyle/>
          <a:p>
            <a:pPr marL="0" indent="0">
              <a:buNone/>
            </a:pPr>
            <a:r>
              <a:rPr lang="en-US" sz="8000" b="1" dirty="0">
                <a:solidFill>
                  <a:srgbClr val="1A2438"/>
                </a:solidFill>
                <a:latin typeface="Cambria" pitchFamily="34" charset="0"/>
                <a:ea typeface="Cambria" pitchFamily="34" charset="-122"/>
                <a:cs typeface="Cambria" pitchFamily="34" charset="-120"/>
              </a:rPr>
              <a:t>79.5 pp</a:t>
            </a:r>
            <a:endParaRPr lang="en-US" sz="8000" dirty="0"/>
          </a:p>
        </p:txBody>
      </p:sp>
      <p:sp>
        <p:nvSpPr>
          <p:cNvPr id="10" name="Text 8"/>
          <p:cNvSpPr/>
          <p:nvPr/>
        </p:nvSpPr>
        <p:spPr>
          <a:xfrm>
            <a:off x="1005840" y="4343400"/>
            <a:ext cx="4663440" cy="36576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spread of OTP values</a:t>
            </a:r>
            <a:endParaRPr lang="en-US" sz="1200" dirty="0"/>
          </a:p>
        </p:txBody>
      </p:sp>
      <p:sp>
        <p:nvSpPr>
          <p:cNvPr id="11" name="Text 9"/>
          <p:cNvSpPr/>
          <p:nvPr/>
        </p:nvSpPr>
        <p:spPr>
          <a:xfrm>
            <a:off x="1005840" y="4983480"/>
            <a:ext cx="1554480" cy="274320"/>
          </a:xfrm>
          <a:prstGeom prst="rect">
            <a:avLst/>
          </a:prstGeom>
          <a:noFill/>
          <a:ln/>
        </p:spPr>
        <p:txBody>
          <a:bodyPr wrap="square" lIns="0" tIns="0" rIns="0" bIns="0" rtlCol="0" anchor="ctr"/>
          <a:lstStyle/>
          <a:p>
            <a:pPr marL="0" indent="0" algn="ctr">
              <a:buNone/>
            </a:pPr>
            <a:r>
              <a:rPr lang="en-US" sz="1000" b="1" kern="0" spc="300" dirty="0">
                <a:solidFill>
                  <a:srgbClr val="6B7280"/>
                </a:solidFill>
                <a:latin typeface="Calibri" pitchFamily="34" charset="0"/>
                <a:ea typeface="Calibri" pitchFamily="34" charset="-122"/>
                <a:cs typeface="Calibri" pitchFamily="34" charset="-120"/>
              </a:rPr>
              <a:t>MIN</a:t>
            </a:r>
            <a:endParaRPr lang="en-US" sz="1000" dirty="0"/>
          </a:p>
        </p:txBody>
      </p:sp>
      <p:sp>
        <p:nvSpPr>
          <p:cNvPr id="12" name="Text 10"/>
          <p:cNvSpPr/>
          <p:nvPr/>
        </p:nvSpPr>
        <p:spPr>
          <a:xfrm>
            <a:off x="1005840" y="5257800"/>
            <a:ext cx="1554480" cy="548640"/>
          </a:xfrm>
          <a:prstGeom prst="rect">
            <a:avLst/>
          </a:prstGeom>
          <a:noFill/>
          <a:ln/>
        </p:spPr>
        <p:txBody>
          <a:bodyPr wrap="square" lIns="0" tIns="0" rIns="0" bIns="0" rtlCol="0" anchor="ctr"/>
          <a:lstStyle/>
          <a:p>
            <a:pPr marL="0" indent="0" algn="ctr">
              <a:buNone/>
            </a:pPr>
            <a:r>
              <a:rPr lang="en-US" sz="2400" b="1" dirty="0">
                <a:solidFill>
                  <a:srgbClr val="1A2438"/>
                </a:solidFill>
                <a:latin typeface="Cambria" pitchFamily="34" charset="0"/>
                <a:ea typeface="Cambria" pitchFamily="34" charset="-122"/>
                <a:cs typeface="Cambria" pitchFamily="34" charset="-120"/>
              </a:rPr>
              <a:t>20.3%</a:t>
            </a:r>
            <a:endParaRPr lang="en-US" sz="2400" dirty="0"/>
          </a:p>
        </p:txBody>
      </p:sp>
      <p:sp>
        <p:nvSpPr>
          <p:cNvPr id="13" name="Text 11"/>
          <p:cNvSpPr/>
          <p:nvPr/>
        </p:nvSpPr>
        <p:spPr>
          <a:xfrm>
            <a:off x="2560320" y="4983480"/>
            <a:ext cx="1554480" cy="274320"/>
          </a:xfrm>
          <a:prstGeom prst="rect">
            <a:avLst/>
          </a:prstGeom>
          <a:noFill/>
          <a:ln/>
        </p:spPr>
        <p:txBody>
          <a:bodyPr wrap="square" lIns="0" tIns="0" rIns="0" bIns="0" rtlCol="0" anchor="ctr"/>
          <a:lstStyle/>
          <a:p>
            <a:pPr marL="0" indent="0" algn="ctr">
              <a:buNone/>
            </a:pPr>
            <a:r>
              <a:rPr lang="en-US" sz="1000" b="1" kern="0" spc="300" dirty="0">
                <a:solidFill>
                  <a:srgbClr val="6B7280"/>
                </a:solidFill>
                <a:latin typeface="Calibri" pitchFamily="34" charset="0"/>
                <a:ea typeface="Calibri" pitchFamily="34" charset="-122"/>
                <a:cs typeface="Calibri" pitchFamily="34" charset="-120"/>
              </a:rPr>
              <a:t>MEDIAN</a:t>
            </a:r>
            <a:endParaRPr lang="en-US" sz="1000" dirty="0"/>
          </a:p>
        </p:txBody>
      </p:sp>
      <p:sp>
        <p:nvSpPr>
          <p:cNvPr id="14" name="Text 12"/>
          <p:cNvSpPr/>
          <p:nvPr/>
        </p:nvSpPr>
        <p:spPr>
          <a:xfrm>
            <a:off x="2560320" y="5257800"/>
            <a:ext cx="1554480" cy="548640"/>
          </a:xfrm>
          <a:prstGeom prst="rect">
            <a:avLst/>
          </a:prstGeom>
          <a:noFill/>
          <a:ln/>
        </p:spPr>
        <p:txBody>
          <a:bodyPr wrap="square" lIns="0" tIns="0" rIns="0" bIns="0" rtlCol="0" anchor="ctr"/>
          <a:lstStyle/>
          <a:p>
            <a:pPr marL="0" indent="0" algn="ctr">
              <a:buNone/>
            </a:pPr>
            <a:r>
              <a:rPr lang="en-US" sz="2400" b="1" dirty="0">
                <a:solidFill>
                  <a:srgbClr val="1A2438"/>
                </a:solidFill>
                <a:latin typeface="Cambria" pitchFamily="34" charset="0"/>
                <a:ea typeface="Cambria" pitchFamily="34" charset="-122"/>
                <a:cs typeface="Cambria" pitchFamily="34" charset="-120"/>
              </a:rPr>
              <a:t>67.0%</a:t>
            </a:r>
            <a:endParaRPr lang="en-US" sz="2400" dirty="0"/>
          </a:p>
        </p:txBody>
      </p:sp>
      <p:sp>
        <p:nvSpPr>
          <p:cNvPr id="15" name="Text 13"/>
          <p:cNvSpPr/>
          <p:nvPr/>
        </p:nvSpPr>
        <p:spPr>
          <a:xfrm>
            <a:off x="4114800" y="4983480"/>
            <a:ext cx="1554480" cy="274320"/>
          </a:xfrm>
          <a:prstGeom prst="rect">
            <a:avLst/>
          </a:prstGeom>
          <a:noFill/>
          <a:ln/>
        </p:spPr>
        <p:txBody>
          <a:bodyPr wrap="square" lIns="0" tIns="0" rIns="0" bIns="0" rtlCol="0" anchor="ctr"/>
          <a:lstStyle/>
          <a:p>
            <a:pPr marL="0" indent="0" algn="ctr">
              <a:buNone/>
            </a:pPr>
            <a:r>
              <a:rPr lang="en-US" sz="1000" b="1" kern="0" spc="300" dirty="0">
                <a:solidFill>
                  <a:srgbClr val="6B7280"/>
                </a:solidFill>
                <a:latin typeface="Calibri" pitchFamily="34" charset="0"/>
                <a:ea typeface="Calibri" pitchFamily="34" charset="-122"/>
                <a:cs typeface="Calibri" pitchFamily="34" charset="-120"/>
              </a:rPr>
              <a:t>MAX</a:t>
            </a:r>
            <a:endParaRPr lang="en-US" sz="1000" dirty="0"/>
          </a:p>
        </p:txBody>
      </p:sp>
      <p:sp>
        <p:nvSpPr>
          <p:cNvPr id="16" name="Text 14"/>
          <p:cNvSpPr/>
          <p:nvPr/>
        </p:nvSpPr>
        <p:spPr>
          <a:xfrm>
            <a:off x="4114800" y="5257800"/>
            <a:ext cx="1554480" cy="548640"/>
          </a:xfrm>
          <a:prstGeom prst="rect">
            <a:avLst/>
          </a:prstGeom>
          <a:noFill/>
          <a:ln/>
        </p:spPr>
        <p:txBody>
          <a:bodyPr wrap="square" lIns="0" tIns="0" rIns="0" bIns="0" rtlCol="0" anchor="ctr"/>
          <a:lstStyle/>
          <a:p>
            <a:pPr marL="0" indent="0" algn="ctr">
              <a:buNone/>
            </a:pPr>
            <a:r>
              <a:rPr lang="en-US" sz="2400" b="1" dirty="0">
                <a:solidFill>
                  <a:srgbClr val="1A2438"/>
                </a:solidFill>
                <a:latin typeface="Cambria" pitchFamily="34" charset="0"/>
                <a:ea typeface="Cambria" pitchFamily="34" charset="-122"/>
                <a:cs typeface="Cambria" pitchFamily="34" charset="-120"/>
              </a:rPr>
              <a:t>99.8%</a:t>
            </a:r>
            <a:endParaRPr lang="en-US" sz="2400" dirty="0"/>
          </a:p>
        </p:txBody>
      </p:sp>
      <p:sp>
        <p:nvSpPr>
          <p:cNvPr id="17" name="Text 15"/>
          <p:cNvSpPr/>
          <p:nvPr/>
        </p:nvSpPr>
        <p:spPr>
          <a:xfrm>
            <a:off x="1005840" y="5852160"/>
            <a:ext cx="4663440" cy="32004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the same data · 432 high-sample specs</a:t>
            </a:r>
            <a:endParaRPr lang="en-US" sz="1100" dirty="0"/>
          </a:p>
        </p:txBody>
      </p:sp>
      <p:sp>
        <p:nvSpPr>
          <p:cNvPr id="18" name="Shape 16"/>
          <p:cNvSpPr/>
          <p:nvPr/>
        </p:nvSpPr>
        <p:spPr>
          <a:xfrm>
            <a:off x="6217920" y="2286000"/>
            <a:ext cx="5212080" cy="4114800"/>
          </a:xfrm>
          <a:prstGeom prst="rect">
            <a:avLst/>
          </a:prstGeom>
          <a:solidFill>
            <a:srgbClr val="FFFFFF"/>
          </a:solidFill>
          <a:ln w="6350">
            <a:solidFill>
              <a:srgbClr val="D9D5C8"/>
            </a:solidFill>
            <a:prstDash val="solid"/>
          </a:ln>
        </p:spPr>
        <p:txBody>
          <a:bodyPr/>
          <a:lstStyle/>
          <a:p>
            <a:endParaRPr lang="en-US"/>
          </a:p>
        </p:txBody>
      </p:sp>
      <p:sp>
        <p:nvSpPr>
          <p:cNvPr id="19" name="Shape 17"/>
          <p:cNvSpPr/>
          <p:nvPr/>
        </p:nvSpPr>
        <p:spPr>
          <a:xfrm>
            <a:off x="6217920" y="2286000"/>
            <a:ext cx="5212080" cy="73152"/>
          </a:xfrm>
          <a:prstGeom prst="rect">
            <a:avLst/>
          </a:prstGeom>
          <a:solidFill>
            <a:srgbClr val="E8B547"/>
          </a:solidFill>
          <a:ln w="12700">
            <a:solidFill>
              <a:srgbClr val="E8B547"/>
            </a:solidFill>
            <a:prstDash val="solid"/>
          </a:ln>
        </p:spPr>
        <p:txBody>
          <a:bodyPr/>
          <a:lstStyle/>
          <a:p>
            <a:endParaRPr lang="en-US"/>
          </a:p>
        </p:txBody>
      </p:sp>
      <p:sp>
        <p:nvSpPr>
          <p:cNvPr id="20" name="Text 18"/>
          <p:cNvSpPr/>
          <p:nvPr/>
        </p:nvSpPr>
        <p:spPr>
          <a:xfrm>
            <a:off x="6492240" y="2514600"/>
            <a:ext cx="4663440" cy="457200"/>
          </a:xfrm>
          <a:prstGeom prst="rect">
            <a:avLst/>
          </a:prstGeom>
          <a:noFill/>
          <a:ln/>
        </p:spPr>
        <p:txBody>
          <a:bodyPr wrap="square" lIns="0" tIns="0" rIns="0" bIns="0" rtlCol="0" anchor="ctr"/>
          <a:lstStyle/>
          <a:p>
            <a:pPr marL="0" indent="0">
              <a:buNone/>
            </a:pPr>
            <a:r>
              <a:rPr lang="en-US" sz="2200" b="1" dirty="0">
                <a:solidFill>
                  <a:srgbClr val="1A2438"/>
                </a:solidFill>
                <a:latin typeface="Cambria" pitchFamily="34" charset="0"/>
                <a:ea typeface="Cambria" pitchFamily="34" charset="-122"/>
                <a:cs typeface="Cambria" pitchFamily="34" charset="-120"/>
              </a:rPr>
              <a:t>Route 47</a:t>
            </a:r>
            <a:endParaRPr lang="en-US" sz="2200" dirty="0"/>
          </a:p>
        </p:txBody>
      </p:sp>
      <p:sp>
        <p:nvSpPr>
          <p:cNvPr id="21" name="Text 19"/>
          <p:cNvSpPr/>
          <p:nvPr/>
        </p:nvSpPr>
        <p:spPr>
          <a:xfrm>
            <a:off x="6492240" y="3063240"/>
            <a:ext cx="4663440" cy="1280160"/>
          </a:xfrm>
          <a:prstGeom prst="rect">
            <a:avLst/>
          </a:prstGeom>
          <a:noFill/>
          <a:ln/>
        </p:spPr>
        <p:txBody>
          <a:bodyPr wrap="square" lIns="0" tIns="0" rIns="0" bIns="0" rtlCol="0" anchor="ctr"/>
          <a:lstStyle/>
          <a:p>
            <a:pPr marL="0" indent="0">
              <a:buNone/>
            </a:pPr>
            <a:r>
              <a:rPr lang="en-US" sz="8000" b="1" dirty="0">
                <a:solidFill>
                  <a:srgbClr val="E8B547"/>
                </a:solidFill>
                <a:latin typeface="Cambria" pitchFamily="34" charset="0"/>
                <a:ea typeface="Cambria" pitchFamily="34" charset="-122"/>
                <a:cs typeface="Cambria" pitchFamily="34" charset="-120"/>
              </a:rPr>
              <a:t>79.0 pp</a:t>
            </a:r>
            <a:endParaRPr lang="en-US" sz="8000" dirty="0"/>
          </a:p>
        </p:txBody>
      </p:sp>
      <p:sp>
        <p:nvSpPr>
          <p:cNvPr id="22" name="Text 20"/>
          <p:cNvSpPr/>
          <p:nvPr/>
        </p:nvSpPr>
        <p:spPr>
          <a:xfrm>
            <a:off x="6492240" y="4343400"/>
            <a:ext cx="4663440" cy="36576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spread of OTP values</a:t>
            </a:r>
            <a:endParaRPr lang="en-US" sz="1200" dirty="0"/>
          </a:p>
        </p:txBody>
      </p:sp>
      <p:sp>
        <p:nvSpPr>
          <p:cNvPr id="23" name="Text 21"/>
          <p:cNvSpPr/>
          <p:nvPr/>
        </p:nvSpPr>
        <p:spPr>
          <a:xfrm>
            <a:off x="6492240" y="4983480"/>
            <a:ext cx="1554480" cy="274320"/>
          </a:xfrm>
          <a:prstGeom prst="rect">
            <a:avLst/>
          </a:prstGeom>
          <a:noFill/>
          <a:ln/>
        </p:spPr>
        <p:txBody>
          <a:bodyPr wrap="square" lIns="0" tIns="0" rIns="0" bIns="0" rtlCol="0" anchor="ctr"/>
          <a:lstStyle/>
          <a:p>
            <a:pPr marL="0" indent="0" algn="ctr">
              <a:buNone/>
            </a:pPr>
            <a:r>
              <a:rPr lang="en-US" sz="1000" b="1" kern="0" spc="300" dirty="0">
                <a:solidFill>
                  <a:srgbClr val="6B7280"/>
                </a:solidFill>
                <a:latin typeface="Calibri" pitchFamily="34" charset="0"/>
                <a:ea typeface="Calibri" pitchFamily="34" charset="-122"/>
                <a:cs typeface="Calibri" pitchFamily="34" charset="-120"/>
              </a:rPr>
              <a:t>MIN</a:t>
            </a:r>
            <a:endParaRPr lang="en-US" sz="1000" dirty="0"/>
          </a:p>
        </p:txBody>
      </p:sp>
      <p:sp>
        <p:nvSpPr>
          <p:cNvPr id="24" name="Text 22"/>
          <p:cNvSpPr/>
          <p:nvPr/>
        </p:nvSpPr>
        <p:spPr>
          <a:xfrm>
            <a:off x="6492240" y="5257800"/>
            <a:ext cx="1554480" cy="548640"/>
          </a:xfrm>
          <a:prstGeom prst="rect">
            <a:avLst/>
          </a:prstGeom>
          <a:noFill/>
          <a:ln/>
        </p:spPr>
        <p:txBody>
          <a:bodyPr wrap="square" lIns="0" tIns="0" rIns="0" bIns="0" rtlCol="0" anchor="ctr"/>
          <a:lstStyle/>
          <a:p>
            <a:pPr marL="0" indent="0" algn="ctr">
              <a:buNone/>
            </a:pPr>
            <a:r>
              <a:rPr lang="en-US" sz="2400" b="1" dirty="0">
                <a:solidFill>
                  <a:srgbClr val="1A2438"/>
                </a:solidFill>
                <a:latin typeface="Cambria" pitchFamily="34" charset="0"/>
                <a:ea typeface="Cambria" pitchFamily="34" charset="-122"/>
                <a:cs typeface="Cambria" pitchFamily="34" charset="-120"/>
              </a:rPr>
              <a:t>20.3%</a:t>
            </a:r>
            <a:endParaRPr lang="en-US" sz="2400" dirty="0"/>
          </a:p>
        </p:txBody>
      </p:sp>
      <p:sp>
        <p:nvSpPr>
          <p:cNvPr id="25" name="Text 23"/>
          <p:cNvSpPr/>
          <p:nvPr/>
        </p:nvSpPr>
        <p:spPr>
          <a:xfrm>
            <a:off x="8046720" y="4983480"/>
            <a:ext cx="1554480" cy="274320"/>
          </a:xfrm>
          <a:prstGeom prst="rect">
            <a:avLst/>
          </a:prstGeom>
          <a:noFill/>
          <a:ln/>
        </p:spPr>
        <p:txBody>
          <a:bodyPr wrap="square" lIns="0" tIns="0" rIns="0" bIns="0" rtlCol="0" anchor="ctr"/>
          <a:lstStyle/>
          <a:p>
            <a:pPr marL="0" indent="0" algn="ctr">
              <a:buNone/>
            </a:pPr>
            <a:r>
              <a:rPr lang="en-US" sz="1000" b="1" kern="0" spc="300" dirty="0">
                <a:solidFill>
                  <a:srgbClr val="6B7280"/>
                </a:solidFill>
                <a:latin typeface="Calibri" pitchFamily="34" charset="0"/>
                <a:ea typeface="Calibri" pitchFamily="34" charset="-122"/>
                <a:cs typeface="Calibri" pitchFamily="34" charset="-120"/>
              </a:rPr>
              <a:t>MEDIAN</a:t>
            </a:r>
            <a:endParaRPr lang="en-US" sz="1000" dirty="0"/>
          </a:p>
        </p:txBody>
      </p:sp>
      <p:sp>
        <p:nvSpPr>
          <p:cNvPr id="26" name="Text 24"/>
          <p:cNvSpPr/>
          <p:nvPr/>
        </p:nvSpPr>
        <p:spPr>
          <a:xfrm>
            <a:off x="8046720" y="5257800"/>
            <a:ext cx="1554480" cy="548640"/>
          </a:xfrm>
          <a:prstGeom prst="rect">
            <a:avLst/>
          </a:prstGeom>
          <a:noFill/>
          <a:ln/>
        </p:spPr>
        <p:txBody>
          <a:bodyPr wrap="square" lIns="0" tIns="0" rIns="0" bIns="0" rtlCol="0" anchor="ctr"/>
          <a:lstStyle/>
          <a:p>
            <a:pPr marL="0" indent="0" algn="ctr">
              <a:buNone/>
            </a:pPr>
            <a:r>
              <a:rPr lang="en-US" sz="2400" b="1" dirty="0">
                <a:solidFill>
                  <a:srgbClr val="1A2438"/>
                </a:solidFill>
                <a:latin typeface="Cambria" pitchFamily="34" charset="0"/>
                <a:ea typeface="Cambria" pitchFamily="34" charset="-122"/>
                <a:cs typeface="Cambria" pitchFamily="34" charset="-120"/>
              </a:rPr>
              <a:t>60.0%</a:t>
            </a:r>
            <a:endParaRPr lang="en-US" sz="2400" dirty="0"/>
          </a:p>
        </p:txBody>
      </p:sp>
      <p:sp>
        <p:nvSpPr>
          <p:cNvPr id="27" name="Text 25"/>
          <p:cNvSpPr/>
          <p:nvPr/>
        </p:nvSpPr>
        <p:spPr>
          <a:xfrm>
            <a:off x="9601200" y="4983480"/>
            <a:ext cx="1554480" cy="274320"/>
          </a:xfrm>
          <a:prstGeom prst="rect">
            <a:avLst/>
          </a:prstGeom>
          <a:noFill/>
          <a:ln/>
        </p:spPr>
        <p:txBody>
          <a:bodyPr wrap="square" lIns="0" tIns="0" rIns="0" bIns="0" rtlCol="0" anchor="ctr"/>
          <a:lstStyle/>
          <a:p>
            <a:pPr marL="0" indent="0" algn="ctr">
              <a:buNone/>
            </a:pPr>
            <a:r>
              <a:rPr lang="en-US" sz="1000" b="1" kern="0" spc="300" dirty="0">
                <a:solidFill>
                  <a:srgbClr val="6B7280"/>
                </a:solidFill>
                <a:latin typeface="Calibri" pitchFamily="34" charset="0"/>
                <a:ea typeface="Calibri" pitchFamily="34" charset="-122"/>
                <a:cs typeface="Calibri" pitchFamily="34" charset="-120"/>
              </a:rPr>
              <a:t>MAX</a:t>
            </a:r>
            <a:endParaRPr lang="en-US" sz="1000" dirty="0"/>
          </a:p>
        </p:txBody>
      </p:sp>
      <p:sp>
        <p:nvSpPr>
          <p:cNvPr id="28" name="Text 26"/>
          <p:cNvSpPr/>
          <p:nvPr/>
        </p:nvSpPr>
        <p:spPr>
          <a:xfrm>
            <a:off x="9601200" y="5257800"/>
            <a:ext cx="1554480" cy="548640"/>
          </a:xfrm>
          <a:prstGeom prst="rect">
            <a:avLst/>
          </a:prstGeom>
          <a:noFill/>
          <a:ln/>
        </p:spPr>
        <p:txBody>
          <a:bodyPr wrap="square" lIns="0" tIns="0" rIns="0" bIns="0" rtlCol="0" anchor="ctr"/>
          <a:lstStyle/>
          <a:p>
            <a:pPr marL="0" indent="0" algn="ctr">
              <a:buNone/>
            </a:pPr>
            <a:r>
              <a:rPr lang="en-US" sz="2400" b="1" dirty="0">
                <a:solidFill>
                  <a:srgbClr val="1A2438"/>
                </a:solidFill>
                <a:latin typeface="Cambria" pitchFamily="34" charset="0"/>
                <a:ea typeface="Cambria" pitchFamily="34" charset="-122"/>
                <a:cs typeface="Cambria" pitchFamily="34" charset="-120"/>
              </a:rPr>
              <a:t>99.3%</a:t>
            </a:r>
            <a:endParaRPr lang="en-US" sz="2400" dirty="0"/>
          </a:p>
        </p:txBody>
      </p:sp>
      <p:sp>
        <p:nvSpPr>
          <p:cNvPr id="29" name="Text 27"/>
          <p:cNvSpPr/>
          <p:nvPr/>
        </p:nvSpPr>
        <p:spPr>
          <a:xfrm>
            <a:off x="6492240" y="5852160"/>
            <a:ext cx="4663440" cy="320040"/>
          </a:xfrm>
          <a:prstGeom prst="rect">
            <a:avLst/>
          </a:prstGeom>
          <a:noFill/>
          <a:ln/>
        </p:spPr>
        <p:txBody>
          <a:bodyPr wrap="square" lIns="0" tIns="0" rIns="0" bIns="0" rtlCol="0" anchor="ctr"/>
          <a:lstStyle/>
          <a:p>
            <a:pPr marL="0" indent="0" algn="ctr">
              <a:buNone/>
            </a:pPr>
            <a:r>
              <a:rPr lang="en-US" sz="1100" i="1" dirty="0">
                <a:solidFill>
                  <a:srgbClr val="6B7280"/>
                </a:solidFill>
                <a:latin typeface="Calibri" pitchFamily="34" charset="0"/>
                <a:ea typeface="Calibri" pitchFamily="34" charset="-122"/>
                <a:cs typeface="Calibri" pitchFamily="34" charset="-120"/>
              </a:rPr>
              <a:t>the same data · 432 high-sample specs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2438"/>
          </a:solidFill>
          <a:ln w="12700">
            <a:solidFill>
              <a:srgbClr val="1A2438"/>
            </a:solidFill>
            <a:prstDash val="solid"/>
          </a:ln>
        </p:spPr>
        <p:txBody>
          <a:bodyPr/>
          <a:lstStyle/>
          <a:p>
            <a:endParaRPr lang="en-US"/>
          </a:p>
        </p:txBody>
      </p:sp>
      <p:sp>
        <p:nvSpPr>
          <p:cNvPr id="3" name="Text 1"/>
          <p:cNvSpPr/>
          <p:nvPr/>
        </p:nvSpPr>
        <p:spPr>
          <a:xfrm>
            <a:off x="548640" y="0"/>
            <a:ext cx="10972800" cy="64008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RESULT 1: THE SPREAD (VISUALIZED)</a:t>
            </a:r>
            <a:endParaRPr lang="en-US" sz="1100" dirty="0"/>
          </a:p>
        </p:txBody>
      </p:sp>
      <p:pic>
        <p:nvPicPr>
          <p:cNvPr id="10" name="Picture 9">
            <a:extLst>
              <a:ext uri="{FF2B5EF4-FFF2-40B4-BE49-F238E27FC236}">
                <a16:creationId xmlns:a16="http://schemas.microsoft.com/office/drawing/2014/main" id="{F059470A-FF29-893D-9886-11C24B889B45}"/>
              </a:ext>
            </a:extLst>
          </p:cNvPr>
          <p:cNvPicPr>
            <a:picLocks noChangeAspect="1"/>
          </p:cNvPicPr>
          <p:nvPr/>
        </p:nvPicPr>
        <p:blipFill>
          <a:blip r:embed="rId3"/>
          <a:stretch>
            <a:fillRect/>
          </a:stretch>
        </p:blipFill>
        <p:spPr>
          <a:xfrm>
            <a:off x="1737360" y="640081"/>
            <a:ext cx="10424160" cy="6217920"/>
          </a:xfrm>
          <a:prstGeom prst="rect">
            <a:avLst/>
          </a:prstGeom>
        </p:spPr>
      </p:pic>
      <p:sp>
        <p:nvSpPr>
          <p:cNvPr id="4" name="Text 2"/>
          <p:cNvSpPr/>
          <p:nvPr/>
        </p:nvSpPr>
        <p:spPr>
          <a:xfrm>
            <a:off x="415636" y="889462"/>
            <a:ext cx="2826327" cy="548640"/>
          </a:xfrm>
          <a:prstGeom prst="rect">
            <a:avLst/>
          </a:prstGeom>
          <a:noFill/>
          <a:ln/>
        </p:spPr>
        <p:txBody>
          <a:bodyPr wrap="square" lIns="0" tIns="0" rIns="0" bIns="0" rtlCol="0" anchor="ctr"/>
          <a:lstStyle/>
          <a:p>
            <a:pPr marL="0" indent="0">
              <a:buNone/>
            </a:pPr>
            <a:r>
              <a:rPr lang="en-US" sz="2600" b="1" dirty="0">
                <a:solidFill>
                  <a:srgbClr val="1A2438"/>
                </a:solidFill>
                <a:latin typeface="Cambria" pitchFamily="34" charset="0"/>
                <a:ea typeface="Cambria" pitchFamily="34" charset="-122"/>
                <a:cs typeface="Cambria" pitchFamily="34" charset="-120"/>
              </a:rPr>
              <a:t>The specification curve</a:t>
            </a:r>
            <a:endParaRPr lang="en-US" sz="2600" dirty="0"/>
          </a:p>
        </p:txBody>
      </p:sp>
      <p:sp>
        <p:nvSpPr>
          <p:cNvPr id="5" name="Text 3"/>
          <p:cNvSpPr/>
          <p:nvPr/>
        </p:nvSpPr>
        <p:spPr>
          <a:xfrm>
            <a:off x="415636" y="1684427"/>
            <a:ext cx="2826327"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Each point is one high-sample OTP estimate, sorted from lowest to highest.</a:t>
            </a:r>
            <a:endParaRPr lang="en-US" sz="1300" dirty="0"/>
          </a:p>
        </p:txBody>
      </p:sp>
      <p:sp>
        <p:nvSpPr>
          <p:cNvPr id="7" name="Shape 4"/>
          <p:cNvSpPr/>
          <p:nvPr/>
        </p:nvSpPr>
        <p:spPr>
          <a:xfrm>
            <a:off x="0" y="6410897"/>
            <a:ext cx="5601229" cy="440575"/>
          </a:xfrm>
          <a:prstGeom prst="rect">
            <a:avLst/>
          </a:prstGeom>
          <a:solidFill>
            <a:srgbClr val="1A2438"/>
          </a:solidFill>
          <a:ln w="12700">
            <a:solidFill>
              <a:srgbClr val="1A2438"/>
            </a:solidFill>
            <a:prstDash val="solid"/>
          </a:ln>
        </p:spPr>
        <p:txBody>
          <a:bodyPr/>
          <a:lstStyle/>
          <a:p>
            <a:endParaRPr lang="en-US"/>
          </a:p>
        </p:txBody>
      </p:sp>
      <p:sp>
        <p:nvSpPr>
          <p:cNvPr id="8" name="Text 5"/>
          <p:cNvSpPr/>
          <p:nvPr/>
        </p:nvSpPr>
        <p:spPr>
          <a:xfrm>
            <a:off x="261851" y="6386251"/>
            <a:ext cx="5266113" cy="502920"/>
          </a:xfrm>
          <a:prstGeom prst="rect">
            <a:avLst/>
          </a:prstGeom>
          <a:noFill/>
          <a:ln/>
        </p:spPr>
        <p:txBody>
          <a:bodyPr wrap="square" lIns="0" tIns="0" rIns="0" bIns="0" rtlCol="0" anchor="ctr"/>
          <a:lstStyle/>
          <a:p>
            <a:pPr marL="0" indent="0">
              <a:buNone/>
            </a:pPr>
            <a:r>
              <a:rPr lang="en-US" sz="1100" b="1" kern="0" spc="400" dirty="0">
                <a:solidFill>
                  <a:srgbClr val="E8B547"/>
                </a:solidFill>
                <a:latin typeface="Calibri" pitchFamily="34" charset="0"/>
                <a:ea typeface="Calibri" pitchFamily="34" charset="-122"/>
                <a:cs typeface="Calibri" pitchFamily="34" charset="-120"/>
              </a:rPr>
              <a:t>TAKEAWAY  </a:t>
            </a:r>
            <a:r>
              <a:rPr lang="en-US" sz="1300" dirty="0">
                <a:solidFill>
                  <a:srgbClr val="FFFFFF"/>
                </a:solidFill>
                <a:latin typeface="Calibri" pitchFamily="34" charset="0"/>
                <a:ea typeface="Calibri" pitchFamily="34" charset="-122"/>
                <a:cs typeface="Calibri" pitchFamily="34" charset="-120"/>
              </a:rPr>
              <a:t>The 'curve' is the answer.  No single point is privileged.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2438"/>
          </a:solidFill>
          <a:ln w="12700">
            <a:solidFill>
              <a:srgbClr val="1A2438"/>
            </a:solidFill>
            <a:prstDash val="solid"/>
          </a:ln>
        </p:spPr>
        <p:txBody>
          <a:bodyPr/>
          <a:lstStyle/>
          <a:p>
            <a:endParaRPr lang="en-US"/>
          </a:p>
        </p:txBody>
      </p:sp>
      <p:sp>
        <p:nvSpPr>
          <p:cNvPr id="3" name="Text 1"/>
          <p:cNvSpPr/>
          <p:nvPr/>
        </p:nvSpPr>
        <p:spPr>
          <a:xfrm>
            <a:off x="548640" y="0"/>
            <a:ext cx="10972800" cy="64008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RESULT 2: PIPELINE CHOICES MATTER</a:t>
            </a:r>
            <a:endParaRPr lang="en-US" sz="1100" dirty="0"/>
          </a:p>
        </p:txBody>
      </p:sp>
      <p:sp>
        <p:nvSpPr>
          <p:cNvPr id="4" name="Text 2"/>
          <p:cNvSpPr/>
          <p:nvPr/>
        </p:nvSpPr>
        <p:spPr>
          <a:xfrm>
            <a:off x="731520" y="914400"/>
            <a:ext cx="10698480" cy="548640"/>
          </a:xfrm>
          <a:prstGeom prst="rect">
            <a:avLst/>
          </a:prstGeom>
          <a:noFill/>
          <a:ln/>
        </p:spPr>
        <p:txBody>
          <a:bodyPr wrap="square" lIns="0" tIns="0" rIns="0" bIns="0" rtlCol="0" anchor="ctr"/>
          <a:lstStyle/>
          <a:p>
            <a:pPr marL="0" indent="0">
              <a:buNone/>
            </a:pPr>
            <a:r>
              <a:rPr lang="en-US" sz="2600" b="1" dirty="0">
                <a:solidFill>
                  <a:srgbClr val="1A2438"/>
                </a:solidFill>
                <a:latin typeface="Cambria" pitchFamily="34" charset="0"/>
                <a:ea typeface="Cambria" pitchFamily="34" charset="-122"/>
                <a:cs typeface="Cambria" pitchFamily="34" charset="-120"/>
              </a:rPr>
              <a:t>Sensitivity by specification dimension</a:t>
            </a:r>
            <a:endParaRPr lang="en-US" sz="2600" dirty="0"/>
          </a:p>
        </p:txBody>
      </p:sp>
      <p:sp>
        <p:nvSpPr>
          <p:cNvPr id="5" name="Text 3"/>
          <p:cNvSpPr/>
          <p:nvPr/>
        </p:nvSpPr>
        <p:spPr>
          <a:xfrm>
            <a:off x="731520" y="1508760"/>
            <a:ext cx="10698480" cy="36576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Mean OTP range when varying each dimension while holding all others fixed.</a:t>
            </a:r>
            <a:endParaRPr lang="en-US" sz="1300" dirty="0"/>
          </a:p>
        </p:txBody>
      </p:sp>
      <p:graphicFrame>
        <p:nvGraphicFramePr>
          <p:cNvPr id="6" name="Chart 0"/>
          <p:cNvGraphicFramePr/>
          <p:nvPr/>
        </p:nvGraphicFramePr>
        <p:xfrm>
          <a:off x="731520" y="2103120"/>
          <a:ext cx="73152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321040" y="2103120"/>
            <a:ext cx="3108960" cy="4297680"/>
          </a:xfrm>
          <a:prstGeom prst="rect">
            <a:avLst/>
          </a:prstGeom>
          <a:solidFill>
            <a:srgbClr val="1A2438"/>
          </a:solidFill>
          <a:ln w="12700">
            <a:solidFill>
              <a:srgbClr val="1A2438"/>
            </a:solidFill>
            <a:prstDash val="solid"/>
          </a:ln>
        </p:spPr>
        <p:txBody>
          <a:bodyPr/>
          <a:lstStyle/>
          <a:p>
            <a:endParaRPr lang="en-US"/>
          </a:p>
        </p:txBody>
      </p:sp>
      <p:sp>
        <p:nvSpPr>
          <p:cNvPr id="8" name="Text 5"/>
          <p:cNvSpPr/>
          <p:nvPr/>
        </p:nvSpPr>
        <p:spPr>
          <a:xfrm>
            <a:off x="8595360" y="2377440"/>
            <a:ext cx="2560320" cy="274320"/>
          </a:xfrm>
          <a:prstGeom prst="rect">
            <a:avLst/>
          </a:prstGeom>
          <a:noFill/>
          <a:ln/>
        </p:spPr>
        <p:txBody>
          <a:bodyPr wrap="square" lIns="0" tIns="0" rIns="0" bIns="0" rtlCol="0" anchor="ctr"/>
          <a:lstStyle/>
          <a:p>
            <a:pPr marL="0" indent="0">
              <a:buNone/>
            </a:pPr>
            <a:r>
              <a:rPr lang="en-US" sz="1100" b="1" kern="0" spc="500" dirty="0">
                <a:solidFill>
                  <a:srgbClr val="E8B547"/>
                </a:solidFill>
                <a:latin typeface="Calibri" pitchFamily="34" charset="0"/>
                <a:ea typeface="Calibri" pitchFamily="34" charset="-122"/>
                <a:cs typeface="Calibri" pitchFamily="34" charset="-120"/>
              </a:rPr>
              <a:t>THE FINDING</a:t>
            </a:r>
            <a:endParaRPr lang="en-US" sz="1100" dirty="0"/>
          </a:p>
        </p:txBody>
      </p:sp>
      <p:sp>
        <p:nvSpPr>
          <p:cNvPr id="9" name="Text 6"/>
          <p:cNvSpPr/>
          <p:nvPr/>
        </p:nvSpPr>
        <p:spPr>
          <a:xfrm>
            <a:off x="8595360" y="2743200"/>
            <a:ext cx="256032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Snapshot selection is largest</a:t>
            </a:r>
            <a:endParaRPr lang="en-US" sz="1800" dirty="0"/>
          </a:p>
        </p:txBody>
      </p:sp>
      <p:sp>
        <p:nvSpPr>
          <p:cNvPr id="10" name="Text 7"/>
          <p:cNvSpPr/>
          <p:nvPr/>
        </p:nvSpPr>
        <p:spPr>
          <a:xfrm>
            <a:off x="8595360" y="3474720"/>
            <a:ext cx="2560320" cy="2743200"/>
          </a:xfrm>
          <a:prstGeom prst="rect">
            <a:avLst/>
          </a:prstGeom>
          <a:noFill/>
          <a:ln/>
        </p:spPr>
        <p:txBody>
          <a:bodyPr wrap="square" lIns="0" tIns="0" rIns="0" bIns="0" rtlCol="0" anchor="t"/>
          <a:lstStyle/>
          <a:p>
            <a:pPr marL="0" indent="0">
              <a:buNone/>
            </a:pPr>
            <a:r>
              <a:rPr lang="en-US" sz="1300" b="1" dirty="0">
                <a:solidFill>
                  <a:srgbClr val="E8B547"/>
                </a:solidFill>
                <a:latin typeface="Calibri" pitchFamily="34" charset="0"/>
                <a:ea typeface="Calibri" pitchFamily="34" charset="-122"/>
                <a:cs typeface="Calibri" pitchFamily="34" charset="-120"/>
              </a:rPr>
              <a:t>30.7 pp mean range</a:t>
            </a:r>
            <a:endParaRPr lang="en-US" sz="1300" dirty="0"/>
          </a:p>
          <a:p>
            <a:pPr marL="0" indent="0">
              <a:buNone/>
            </a:pPr>
            <a:r>
              <a:rPr lang="en-US" sz="600" dirty="0">
                <a:solidFill>
                  <a:srgbClr val="000000"/>
                </a:solidFill>
              </a:rPr>
              <a:t> </a:t>
            </a:r>
            <a:endParaRPr lang="en-US" sz="1300" dirty="0"/>
          </a:p>
          <a:p>
            <a:pPr marL="0" indent="0">
              <a:buNone/>
            </a:pPr>
            <a:r>
              <a:rPr lang="en-US" sz="1200" dirty="0">
                <a:solidFill>
                  <a:srgbClr val="C8C5B8"/>
                </a:solidFill>
                <a:latin typeface="Calibri" pitchFamily="34" charset="0"/>
                <a:ea typeface="Calibri" pitchFamily="34" charset="-122"/>
                <a:cs typeface="Calibri" pitchFamily="34" charset="-120"/>
              </a:rPr>
              <a:t>Largest dimension — even above the well-studied lateness window.</a:t>
            </a:r>
            <a:endParaRPr lang="en-US" sz="1300" dirty="0"/>
          </a:p>
          <a:p>
            <a:pPr marL="0" indent="0">
              <a:buNone/>
            </a:pPr>
            <a:r>
              <a:rPr lang="en-US" sz="600" dirty="0">
                <a:solidFill>
                  <a:srgbClr val="000000"/>
                </a:solidFill>
              </a:rPr>
              <a:t> </a:t>
            </a:r>
            <a:endParaRPr lang="en-US" sz="1300" dirty="0"/>
          </a:p>
          <a:p>
            <a:pPr marL="0" indent="0">
              <a:buNone/>
            </a:pPr>
            <a:r>
              <a:rPr lang="en-US" sz="1200" dirty="0">
                <a:solidFill>
                  <a:srgbClr val="C8C5B8"/>
                </a:solidFill>
                <a:latin typeface="Calibri" pitchFamily="34" charset="0"/>
                <a:ea typeface="Calibri" pitchFamily="34" charset="-122"/>
                <a:cs typeface="Calibri" pitchFamily="34" charset="-120"/>
              </a:rPr>
              <a:t>Less visible because it happens upstream during event reconstruction.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2438"/>
          </a:solidFill>
          <a:ln w="12700">
            <a:solidFill>
              <a:srgbClr val="1A2438"/>
            </a:solidFill>
            <a:prstDash val="solid"/>
          </a:ln>
        </p:spPr>
        <p:txBody>
          <a:bodyPr/>
          <a:lstStyle/>
          <a:p>
            <a:endParaRPr lang="en-US"/>
          </a:p>
        </p:txBody>
      </p:sp>
      <p:sp>
        <p:nvSpPr>
          <p:cNvPr id="3" name="Text 1"/>
          <p:cNvSpPr/>
          <p:nvPr/>
        </p:nvSpPr>
        <p:spPr>
          <a:xfrm>
            <a:off x="548640" y="0"/>
            <a:ext cx="10972800" cy="64008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RESULT 3: A CLOSER LOOK AT SNAPSHOT SELECTION</a:t>
            </a:r>
            <a:endParaRPr lang="en-US" sz="1100" dirty="0"/>
          </a:p>
        </p:txBody>
      </p:sp>
      <p:sp>
        <p:nvSpPr>
          <p:cNvPr id="4" name="Text 2"/>
          <p:cNvSpPr/>
          <p:nvPr/>
        </p:nvSpPr>
        <p:spPr>
          <a:xfrm>
            <a:off x="731520" y="914400"/>
            <a:ext cx="10698480" cy="548640"/>
          </a:xfrm>
          <a:prstGeom prst="rect">
            <a:avLst/>
          </a:prstGeom>
          <a:noFill/>
          <a:ln/>
        </p:spPr>
        <p:txBody>
          <a:bodyPr wrap="square" lIns="0" tIns="0" rIns="0" bIns="0" rtlCol="0" anchor="ctr"/>
          <a:lstStyle/>
          <a:p>
            <a:pPr marL="0" indent="0">
              <a:buNone/>
            </a:pPr>
            <a:r>
              <a:rPr lang="en-US" sz="2600" b="1" dirty="0">
                <a:solidFill>
                  <a:srgbClr val="1A2438"/>
                </a:solidFill>
                <a:latin typeface="Cambria" pitchFamily="34" charset="0"/>
                <a:ea typeface="Cambria" pitchFamily="34" charset="-122"/>
                <a:cs typeface="Cambria" pitchFamily="34" charset="-120"/>
              </a:rPr>
              <a:t>Snapshot selection alone shifts OTP by 30+ percentage points</a:t>
            </a:r>
            <a:endParaRPr lang="en-US" sz="2600" dirty="0"/>
          </a:p>
        </p:txBody>
      </p:sp>
      <p:sp>
        <p:nvSpPr>
          <p:cNvPr id="5" name="Text 3"/>
          <p:cNvSpPr/>
          <p:nvPr/>
        </p:nvSpPr>
        <p:spPr>
          <a:xfrm>
            <a:off x="731520" y="1508760"/>
            <a:ext cx="10698480" cy="3657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All other dimensions held fixed at one reference specification (−1/+5 window, count early as late, all stops, all day, arrival).</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2194560"/>
          <a:ext cx="10698480" cy="2834640"/>
        </p:xfrm>
        <a:graphic>
          <a:graphicData uri="http://schemas.openxmlformats.org/drawingml/2006/table">
            <a:tbl>
              <a:tblPr/>
              <a:tblGrid>
                <a:gridCol w="210312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50292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Snapshot rule</a:t>
                      </a:r>
                      <a:endParaRPr lang="en-US" sz="13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1A2438"/>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1A24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Route 23</a:t>
                      </a:r>
                      <a:endParaRPr lang="en-US" sz="13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1A243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Route 47</a:t>
                      </a:r>
                      <a:endParaRPr lang="en-US" sz="13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1A2438"/>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1A2438"/>
                          </a:solidFill>
                          <a:latin typeface="Consolas" pitchFamily="34" charset="0"/>
                          <a:ea typeface="Consolas" pitchFamily="34" charset="-122"/>
                          <a:cs typeface="Consolas" pitchFamily="34" charset="-120"/>
                        </a:rPr>
                        <a:t>closest</a:t>
                      </a:r>
                      <a:endParaRPr lang="en-US" sz="1400" dirty="0">
                        <a:latin typeface="Consolas" charset="0"/>
                        <a:ea typeface="Consolas" charset="0"/>
                        <a:cs typeface="Consolas"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buNone/>
                      </a:pPr>
                      <a:r>
                        <a:rPr lang="en-US" sz="1200" dirty="0">
                          <a:solidFill>
                            <a:srgbClr val="4A4A4A"/>
                          </a:solidFill>
                          <a:latin typeface="Calibri" pitchFamily="34" charset="0"/>
                          <a:ea typeface="Calibri" pitchFamily="34" charset="-122"/>
                          <a:cs typeface="Calibri" pitchFamily="34" charset="-120"/>
                        </a:rPr>
                        <a:t>Prediction nearest scheduled time</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lgn="ctr">
                        <a:buNone/>
                      </a:pPr>
                      <a:r>
                        <a:rPr lang="en-US" sz="2200" b="1" dirty="0">
                          <a:solidFill>
                            <a:srgbClr val="2D9B8A"/>
                          </a:solidFill>
                          <a:latin typeface="Cambria" pitchFamily="34" charset="0"/>
                          <a:ea typeface="Cambria" pitchFamily="34" charset="-122"/>
                          <a:cs typeface="Cambria" pitchFamily="34" charset="-120"/>
                        </a:rPr>
                        <a:t>87.4%</a:t>
                      </a:r>
                      <a:endParaRPr lang="en-US" sz="2200" dirty="0">
                        <a:latin typeface="Cambria" charset="0"/>
                        <a:ea typeface="Cambria" charset="0"/>
                        <a:cs typeface="Cambria"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lgn="ctr">
                        <a:buNone/>
                      </a:pPr>
                      <a:r>
                        <a:rPr lang="en-US" sz="2200" b="1" dirty="0">
                          <a:solidFill>
                            <a:srgbClr val="2D9B8A"/>
                          </a:solidFill>
                          <a:latin typeface="Cambria" pitchFamily="34" charset="0"/>
                          <a:ea typeface="Cambria" pitchFamily="34" charset="-122"/>
                          <a:cs typeface="Cambria" pitchFamily="34" charset="-120"/>
                        </a:rPr>
                        <a:t>86.2%</a:t>
                      </a:r>
                      <a:endParaRPr lang="en-US" sz="2200" dirty="0">
                        <a:latin typeface="Cambria" charset="0"/>
                        <a:ea typeface="Cambria" charset="0"/>
                        <a:cs typeface="Cambria"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1A2438"/>
                          </a:solidFill>
                          <a:latin typeface="Consolas" pitchFamily="34" charset="0"/>
                          <a:ea typeface="Consolas" pitchFamily="34" charset="-122"/>
                          <a:cs typeface="Consolas" pitchFamily="34" charset="-120"/>
                        </a:rPr>
                        <a:t>last_before</a:t>
                      </a:r>
                      <a:endParaRPr lang="en-US" sz="1400" dirty="0">
                        <a:latin typeface="Consolas" charset="0"/>
                        <a:ea typeface="Consolas" charset="0"/>
                        <a:cs typeface="Consolas"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tc>
                  <a:txBody>
                    <a:bodyPr/>
                    <a:lstStyle/>
                    <a:p>
                      <a:pPr marL="0" indent="0">
                        <a:buNone/>
                      </a:pPr>
                      <a:r>
                        <a:rPr lang="en-US" sz="1200" dirty="0">
                          <a:solidFill>
                            <a:srgbClr val="4A4A4A"/>
                          </a:solidFill>
                          <a:latin typeface="Calibri" pitchFamily="34" charset="0"/>
                          <a:ea typeface="Calibri" pitchFamily="34" charset="-122"/>
                          <a:cs typeface="Calibri" pitchFamily="34" charset="-120"/>
                        </a:rPr>
                        <a:t>Last prediction before scheduled time</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tc>
                  <a:txBody>
                    <a:bodyPr/>
                    <a:lstStyle/>
                    <a:p>
                      <a:pPr marL="0" indent="0" algn="ctr">
                        <a:buNone/>
                      </a:pPr>
                      <a:r>
                        <a:rPr lang="en-US" sz="2200" b="1" dirty="0">
                          <a:solidFill>
                            <a:srgbClr val="1A2438"/>
                          </a:solidFill>
                          <a:latin typeface="Cambria" pitchFamily="34" charset="0"/>
                          <a:ea typeface="Cambria" pitchFamily="34" charset="-122"/>
                          <a:cs typeface="Cambria" pitchFamily="34" charset="-120"/>
                        </a:rPr>
                        <a:t>60.7%</a:t>
                      </a:r>
                      <a:endParaRPr lang="en-US" sz="2200" dirty="0">
                        <a:latin typeface="Cambria" charset="0"/>
                        <a:ea typeface="Cambria" charset="0"/>
                        <a:cs typeface="Cambria"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tc>
                  <a:txBody>
                    <a:bodyPr/>
                    <a:lstStyle/>
                    <a:p>
                      <a:pPr marL="0" indent="0" algn="ctr">
                        <a:buNone/>
                      </a:pPr>
                      <a:r>
                        <a:rPr lang="en-US" sz="2200" b="1" dirty="0">
                          <a:solidFill>
                            <a:srgbClr val="1A2438"/>
                          </a:solidFill>
                          <a:latin typeface="Cambria" pitchFamily="34" charset="0"/>
                          <a:ea typeface="Cambria" pitchFamily="34" charset="-122"/>
                          <a:cs typeface="Cambria" pitchFamily="34" charset="-120"/>
                        </a:rPr>
                        <a:t>55.9%</a:t>
                      </a:r>
                      <a:endParaRPr lang="en-US" sz="2200" dirty="0">
                        <a:latin typeface="Cambria" charset="0"/>
                        <a:ea typeface="Cambria" charset="0"/>
                        <a:cs typeface="Cambria"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solidFill>
                      <a:srgbClr val="FAFAF5"/>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1A2438"/>
                          </a:solidFill>
                          <a:latin typeface="Consolas" pitchFamily="34" charset="0"/>
                          <a:ea typeface="Consolas" pitchFamily="34" charset="-122"/>
                          <a:cs typeface="Consolas" pitchFamily="34" charset="-120"/>
                        </a:rPr>
                        <a:t>latest</a:t>
                      </a:r>
                      <a:endParaRPr lang="en-US" sz="1400" dirty="0">
                        <a:latin typeface="Consolas" charset="0"/>
                        <a:ea typeface="Consolas" charset="0"/>
                        <a:cs typeface="Consolas"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buNone/>
                      </a:pPr>
                      <a:r>
                        <a:rPr lang="en-US" sz="1200" dirty="0">
                          <a:solidFill>
                            <a:srgbClr val="4A4A4A"/>
                          </a:solidFill>
                          <a:latin typeface="Calibri" pitchFamily="34" charset="0"/>
                          <a:ea typeface="Calibri" pitchFamily="34" charset="-122"/>
                          <a:cs typeface="Calibri" pitchFamily="34" charset="-120"/>
                        </a:rPr>
                        <a:t>Chronologically last prediction (GTFS-RT-only proxy)</a:t>
                      </a:r>
                      <a:endParaRPr lang="en-US" sz="1200" dirty="0">
                        <a:latin typeface="Calibri" charset="0"/>
                        <a:ea typeface="Calibri" charset="0"/>
                        <a:cs typeface="Calibri"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lgn="ctr">
                        <a:buNone/>
                      </a:pPr>
                      <a:r>
                        <a:rPr lang="en-US" sz="2200" b="1" dirty="0">
                          <a:solidFill>
                            <a:srgbClr val="C0392B"/>
                          </a:solidFill>
                          <a:latin typeface="Cambria" pitchFamily="34" charset="0"/>
                          <a:ea typeface="Cambria" pitchFamily="34" charset="-122"/>
                          <a:cs typeface="Cambria" pitchFamily="34" charset="-120"/>
                        </a:rPr>
                        <a:t>56.0%</a:t>
                      </a:r>
                      <a:endParaRPr lang="en-US" sz="2200" dirty="0">
                        <a:latin typeface="Cambria" charset="0"/>
                        <a:ea typeface="Cambria" charset="0"/>
                        <a:cs typeface="Cambria"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tc>
                  <a:txBody>
                    <a:bodyPr/>
                    <a:lstStyle/>
                    <a:p>
                      <a:pPr marL="0" indent="0" algn="ctr">
                        <a:buNone/>
                      </a:pPr>
                      <a:r>
                        <a:rPr lang="en-US" sz="2200" b="1" dirty="0">
                          <a:solidFill>
                            <a:srgbClr val="C0392B"/>
                          </a:solidFill>
                          <a:latin typeface="Cambria" pitchFamily="34" charset="0"/>
                          <a:ea typeface="Cambria" pitchFamily="34" charset="-122"/>
                          <a:cs typeface="Cambria" pitchFamily="34" charset="-120"/>
                        </a:rPr>
                        <a:t>48.8%</a:t>
                      </a:r>
                      <a:endParaRPr lang="en-US" sz="2200" dirty="0">
                        <a:latin typeface="Cambria" charset="0"/>
                        <a:ea typeface="Cambria" charset="0"/>
                        <a:cs typeface="Cambria" charset="0"/>
                      </a:endParaRPr>
                    </a:p>
                  </a:txBody>
                  <a:tcPr anchor="ctr">
                    <a:lnL w="6350" cap="flat" cmpd="sng" algn="ctr">
                      <a:solidFill>
                        <a:srgbClr val="D9D5C8"/>
                      </a:solidFill>
                      <a:prstDash val="solid"/>
                      <a:round/>
                      <a:headEnd type="none" w="med" len="med"/>
                      <a:tailEnd type="none" w="med" len="med"/>
                    </a:lnL>
                    <a:lnR w="6350" cap="flat" cmpd="sng" algn="ctr">
                      <a:solidFill>
                        <a:srgbClr val="D9D5C8"/>
                      </a:solidFill>
                      <a:prstDash val="solid"/>
                      <a:round/>
                      <a:headEnd type="none" w="med" len="med"/>
                      <a:tailEnd type="none" w="med" len="med"/>
                    </a:lnR>
                    <a:lnT w="6350" cap="flat" cmpd="sng" algn="ctr">
                      <a:solidFill>
                        <a:srgbClr val="D9D5C8"/>
                      </a:solidFill>
                      <a:prstDash val="solid"/>
                      <a:round/>
                      <a:headEnd type="none" w="med" len="med"/>
                      <a:tailEnd type="none" w="med" len="med"/>
                    </a:lnT>
                    <a:lnB w="6350" cap="flat" cmpd="sng" algn="ctr">
                      <a:solidFill>
                        <a:srgbClr val="D9D5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Shape 4"/>
          <p:cNvSpPr/>
          <p:nvPr/>
        </p:nvSpPr>
        <p:spPr>
          <a:xfrm>
            <a:off x="731520" y="5349240"/>
            <a:ext cx="10698480" cy="1280160"/>
          </a:xfrm>
          <a:prstGeom prst="rect">
            <a:avLst/>
          </a:prstGeom>
          <a:solidFill>
            <a:srgbClr val="FFFFFF"/>
          </a:solidFill>
          <a:ln w="6350">
            <a:solidFill>
              <a:srgbClr val="D9D5C8"/>
            </a:solidFill>
            <a:prstDash val="solid"/>
          </a:ln>
        </p:spPr>
        <p:txBody>
          <a:bodyPr/>
          <a:lstStyle/>
          <a:p>
            <a:endParaRPr lang="en-US"/>
          </a:p>
        </p:txBody>
      </p:sp>
      <p:sp>
        <p:nvSpPr>
          <p:cNvPr id="8" name="Shape 5"/>
          <p:cNvSpPr/>
          <p:nvPr/>
        </p:nvSpPr>
        <p:spPr>
          <a:xfrm>
            <a:off x="731520" y="5349240"/>
            <a:ext cx="91440" cy="1280160"/>
          </a:xfrm>
          <a:prstGeom prst="rect">
            <a:avLst/>
          </a:prstGeom>
          <a:solidFill>
            <a:srgbClr val="E8B547"/>
          </a:solidFill>
          <a:ln w="12700">
            <a:solidFill>
              <a:srgbClr val="E8B547"/>
            </a:solidFill>
            <a:prstDash val="solid"/>
          </a:ln>
        </p:spPr>
        <p:txBody>
          <a:bodyPr/>
          <a:lstStyle/>
          <a:p>
            <a:endParaRPr lang="en-US"/>
          </a:p>
        </p:txBody>
      </p:sp>
      <p:sp>
        <p:nvSpPr>
          <p:cNvPr id="6" name="Text 6"/>
          <p:cNvSpPr/>
          <p:nvPr/>
        </p:nvSpPr>
        <p:spPr>
          <a:xfrm>
            <a:off x="1005840" y="5532120"/>
            <a:ext cx="10058400" cy="274320"/>
          </a:xfrm>
          <a:prstGeom prst="rect">
            <a:avLst/>
          </a:prstGeom>
          <a:noFill/>
          <a:ln/>
        </p:spPr>
        <p:txBody>
          <a:bodyPr wrap="square" lIns="0" tIns="0" rIns="0" bIns="0" rtlCol="0" anchor="ctr"/>
          <a:lstStyle/>
          <a:p>
            <a:pPr marL="0" indent="0">
              <a:buNone/>
            </a:pPr>
            <a:r>
              <a:rPr lang="en-US" sz="1000" b="1" kern="0" spc="500" dirty="0">
                <a:solidFill>
                  <a:srgbClr val="E8B547"/>
                </a:solidFill>
                <a:latin typeface="Calibri" pitchFamily="34" charset="0"/>
                <a:ea typeface="Calibri" pitchFamily="34" charset="-122"/>
                <a:cs typeface="Calibri" pitchFamily="34" charset="-120"/>
              </a:rPr>
              <a:t>WHY THIS HAPPENS — SELECTION BIAS</a:t>
            </a:r>
            <a:endParaRPr lang="en-US" sz="1000" dirty="0"/>
          </a:p>
        </p:txBody>
      </p:sp>
      <p:sp>
        <p:nvSpPr>
          <p:cNvPr id="10" name="Text 7"/>
          <p:cNvSpPr/>
          <p:nvPr/>
        </p:nvSpPr>
        <p:spPr>
          <a:xfrm>
            <a:off x="1005840" y="5852160"/>
            <a:ext cx="10058400" cy="777240"/>
          </a:xfrm>
          <a:prstGeom prst="rect">
            <a:avLst/>
          </a:prstGeom>
          <a:noFill/>
          <a:ln/>
        </p:spPr>
        <p:txBody>
          <a:bodyPr wrap="square" lIns="0" tIns="0" rIns="0" bIns="0" rtlCol="0" anchor="t"/>
          <a:lstStyle/>
          <a:p>
            <a:pPr marL="0" indent="0">
              <a:buNone/>
            </a:pPr>
            <a:r>
              <a:rPr lang="en-US" sz="1300" dirty="0">
                <a:solidFill>
                  <a:srgbClr val="4A4A4A"/>
                </a:solidFill>
                <a:latin typeface="Calibri" pitchFamily="34" charset="0"/>
                <a:ea typeface="Calibri" pitchFamily="34" charset="-122"/>
                <a:cs typeface="Calibri" pitchFamily="34" charset="-120"/>
              </a:rPr>
              <a:t>The </a:t>
            </a:r>
            <a:r>
              <a:rPr lang="en-US" sz="1300" b="1" dirty="0">
                <a:solidFill>
                  <a:srgbClr val="1A2438"/>
                </a:solidFill>
                <a:latin typeface="Consolas" pitchFamily="34" charset="0"/>
                <a:ea typeface="Consolas" pitchFamily="34" charset="-122"/>
                <a:cs typeface="Consolas" pitchFamily="34" charset="-120"/>
              </a:rPr>
              <a:t>closest</a:t>
            </a:r>
            <a:r>
              <a:rPr lang="en-US" sz="1300" dirty="0">
                <a:solidFill>
                  <a:srgbClr val="4A4A4A"/>
                </a:solidFill>
                <a:latin typeface="Calibri" pitchFamily="34" charset="0"/>
                <a:ea typeface="Calibri" pitchFamily="34" charset="-122"/>
                <a:cs typeface="Calibri" pitchFamily="34" charset="-120"/>
              </a:rPr>
              <a:t> rule selects the prediction nearest scheduled time. OTP rewards closeness to scheduled time. </a:t>
            </a:r>
            <a:endParaRPr lang="en-US" sz="1300" dirty="0"/>
          </a:p>
          <a:p>
            <a:pPr marL="0" indent="0">
              <a:buNone/>
            </a:pPr>
            <a:r>
              <a:rPr lang="en-US" sz="1300" i="1" dirty="0">
                <a:solidFill>
                  <a:srgbClr val="1A2438"/>
                </a:solidFill>
                <a:latin typeface="Calibri" pitchFamily="34" charset="0"/>
                <a:ea typeface="Calibri" pitchFamily="34" charset="-122"/>
                <a:cs typeface="Calibri" pitchFamily="34" charset="-120"/>
              </a:rPr>
              <a:t>The selection rule and the metric measure overlapping properties — the rule biases toward predictions that already look on time.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2438"/>
          </a:solidFill>
          <a:ln w="12700">
            <a:solidFill>
              <a:srgbClr val="1A2438"/>
            </a:solidFill>
            <a:prstDash val="solid"/>
          </a:ln>
        </p:spPr>
        <p:txBody>
          <a:bodyPr/>
          <a:lstStyle/>
          <a:p>
            <a:endParaRPr lang="en-US"/>
          </a:p>
        </p:txBody>
      </p:sp>
      <p:sp>
        <p:nvSpPr>
          <p:cNvPr id="3" name="Text 1"/>
          <p:cNvSpPr/>
          <p:nvPr/>
        </p:nvSpPr>
        <p:spPr>
          <a:xfrm>
            <a:off x="548640" y="0"/>
            <a:ext cx="10972800" cy="64008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THE EXTREMES EXPLAINED</a:t>
            </a:r>
            <a:endParaRPr lang="en-US" sz="1100" dirty="0"/>
          </a:p>
        </p:txBody>
      </p:sp>
      <p:sp>
        <p:nvSpPr>
          <p:cNvPr id="4" name="Text 2"/>
          <p:cNvSpPr/>
          <p:nvPr/>
        </p:nvSpPr>
        <p:spPr>
          <a:xfrm>
            <a:off x="731520" y="914400"/>
            <a:ext cx="10698480" cy="548640"/>
          </a:xfrm>
          <a:prstGeom prst="rect">
            <a:avLst/>
          </a:prstGeom>
          <a:noFill/>
          <a:ln/>
        </p:spPr>
        <p:txBody>
          <a:bodyPr wrap="square" lIns="0" tIns="0" rIns="0" bIns="0" rtlCol="0" anchor="ctr"/>
          <a:lstStyle/>
          <a:p>
            <a:pPr marL="0" indent="0">
              <a:buNone/>
            </a:pPr>
            <a:r>
              <a:rPr lang="en-US" sz="2600" b="1" dirty="0">
                <a:solidFill>
                  <a:srgbClr val="1A2438"/>
                </a:solidFill>
                <a:latin typeface="Cambria" pitchFamily="34" charset="0"/>
                <a:ea typeface="Cambria" pitchFamily="34" charset="-122"/>
                <a:cs typeface="Cambria" pitchFamily="34" charset="-120"/>
              </a:rPr>
              <a:t>Extreme values come from combinations of methodological choices</a:t>
            </a:r>
            <a:endParaRPr lang="en-US" sz="2600" dirty="0"/>
          </a:p>
        </p:txBody>
      </p:sp>
      <p:sp>
        <p:nvSpPr>
          <p:cNvPr id="5" name="Text 3"/>
          <p:cNvSpPr/>
          <p:nvPr/>
        </p:nvSpPr>
        <p:spPr>
          <a:xfrm>
            <a:off x="731520" y="1508760"/>
            <a:ext cx="10698480" cy="3657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Neither endpoint is the single 'correct' value — each answers a different question.</a:t>
            </a:r>
            <a:endParaRPr lang="en-US" sz="1300" dirty="0"/>
          </a:p>
        </p:txBody>
      </p:sp>
      <p:sp>
        <p:nvSpPr>
          <p:cNvPr id="6" name="Shape 4"/>
          <p:cNvSpPr/>
          <p:nvPr/>
        </p:nvSpPr>
        <p:spPr>
          <a:xfrm>
            <a:off x="731520" y="2194560"/>
            <a:ext cx="5212080" cy="4114800"/>
          </a:xfrm>
          <a:prstGeom prst="rect">
            <a:avLst/>
          </a:prstGeom>
          <a:solidFill>
            <a:srgbClr val="FFFFFF"/>
          </a:solidFill>
          <a:ln w="6350">
            <a:solidFill>
              <a:srgbClr val="D9D5C8"/>
            </a:solidFill>
            <a:prstDash val="solid"/>
          </a:ln>
          <a:effectLst>
            <a:outerShdw blurRad="76200" dist="12700" dir="5400000" algn="bl" rotWithShape="0">
              <a:srgbClr val="000000">
                <a:alpha val="6000"/>
              </a:srgbClr>
            </a:outerShdw>
          </a:effectLst>
        </p:spPr>
        <p:txBody>
          <a:bodyPr/>
          <a:lstStyle/>
          <a:p>
            <a:endParaRPr lang="en-US"/>
          </a:p>
        </p:txBody>
      </p:sp>
      <p:sp>
        <p:nvSpPr>
          <p:cNvPr id="7" name="Shape 5"/>
          <p:cNvSpPr/>
          <p:nvPr/>
        </p:nvSpPr>
        <p:spPr>
          <a:xfrm>
            <a:off x="731520" y="2194560"/>
            <a:ext cx="5212080" cy="54864"/>
          </a:xfrm>
          <a:prstGeom prst="rect">
            <a:avLst/>
          </a:prstGeom>
          <a:solidFill>
            <a:srgbClr val="2D9B8A"/>
          </a:solidFill>
          <a:ln w="12700">
            <a:solidFill>
              <a:srgbClr val="2D9B8A"/>
            </a:solidFill>
            <a:prstDash val="solid"/>
          </a:ln>
        </p:spPr>
        <p:txBody>
          <a:bodyPr/>
          <a:lstStyle/>
          <a:p>
            <a:endParaRPr lang="en-US"/>
          </a:p>
        </p:txBody>
      </p:sp>
      <p:sp>
        <p:nvSpPr>
          <p:cNvPr id="8" name="Text 6"/>
          <p:cNvSpPr/>
          <p:nvPr/>
        </p:nvSpPr>
        <p:spPr>
          <a:xfrm>
            <a:off x="1097280" y="2560320"/>
            <a:ext cx="4480560" cy="320040"/>
          </a:xfrm>
          <a:prstGeom prst="rect">
            <a:avLst/>
          </a:prstGeom>
          <a:noFill/>
          <a:ln/>
        </p:spPr>
        <p:txBody>
          <a:bodyPr wrap="square" lIns="0" tIns="0" rIns="0" bIns="0" rtlCol="0" anchor="ctr"/>
          <a:lstStyle/>
          <a:p>
            <a:pPr marL="0" indent="0">
              <a:buNone/>
            </a:pPr>
            <a:r>
              <a:rPr lang="en-US" sz="1100" b="1" kern="0" spc="500" dirty="0">
                <a:solidFill>
                  <a:srgbClr val="2D9B8A"/>
                </a:solidFill>
                <a:latin typeface="Calibri" pitchFamily="34" charset="0"/>
                <a:ea typeface="Calibri" pitchFamily="34" charset="-122"/>
                <a:cs typeface="Calibri" pitchFamily="34" charset="-120"/>
              </a:rPr>
              <a:t>THE HIGH END  ~ 99%</a:t>
            </a:r>
            <a:endParaRPr lang="en-US" sz="1100" dirty="0"/>
          </a:p>
        </p:txBody>
      </p:sp>
      <p:sp>
        <p:nvSpPr>
          <p:cNvPr id="9" name="Text 7"/>
          <p:cNvSpPr/>
          <p:nvPr/>
        </p:nvSpPr>
        <p:spPr>
          <a:xfrm>
            <a:off x="1097280" y="2971800"/>
            <a:ext cx="4480560" cy="502920"/>
          </a:xfrm>
          <a:prstGeom prst="rect">
            <a:avLst/>
          </a:prstGeom>
          <a:noFill/>
          <a:ln/>
        </p:spPr>
        <p:txBody>
          <a:bodyPr wrap="square" lIns="0" tIns="0" rIns="0" bIns="0" rtlCol="0" anchor="ctr"/>
          <a:lstStyle/>
          <a:p>
            <a:pPr marL="0" indent="0">
              <a:buNone/>
            </a:pPr>
            <a:r>
              <a:rPr lang="en-US" sz="2000" b="1" dirty="0">
                <a:solidFill>
                  <a:srgbClr val="1A2438"/>
                </a:solidFill>
                <a:latin typeface="Cambria" pitchFamily="34" charset="0"/>
                <a:ea typeface="Cambria" pitchFamily="34" charset="-122"/>
                <a:cs typeface="Cambria" pitchFamily="34" charset="-120"/>
              </a:rPr>
              <a:t>Specs that produce very high OTP</a:t>
            </a:r>
            <a:endParaRPr lang="en-US" sz="2000" dirty="0"/>
          </a:p>
        </p:txBody>
      </p:sp>
      <p:sp>
        <p:nvSpPr>
          <p:cNvPr id="10" name="Shape 8"/>
          <p:cNvSpPr/>
          <p:nvPr/>
        </p:nvSpPr>
        <p:spPr>
          <a:xfrm>
            <a:off x="1143000" y="3749040"/>
            <a:ext cx="109728" cy="109728"/>
          </a:xfrm>
          <a:prstGeom prst="ellipse">
            <a:avLst/>
          </a:prstGeom>
          <a:solidFill>
            <a:srgbClr val="2D9B8A"/>
          </a:solidFill>
          <a:ln w="12700">
            <a:solidFill>
              <a:srgbClr val="2D9B8A"/>
            </a:solidFill>
            <a:prstDash val="solid"/>
          </a:ln>
        </p:spPr>
        <p:txBody>
          <a:bodyPr/>
          <a:lstStyle/>
          <a:p>
            <a:endParaRPr lang="en-US"/>
          </a:p>
        </p:txBody>
      </p:sp>
      <p:sp>
        <p:nvSpPr>
          <p:cNvPr id="11" name="Text 9"/>
          <p:cNvSpPr/>
          <p:nvPr/>
        </p:nvSpPr>
        <p:spPr>
          <a:xfrm>
            <a:off x="1371600" y="3657600"/>
            <a:ext cx="4206240" cy="320040"/>
          </a:xfrm>
          <a:prstGeom prst="rect">
            <a:avLst/>
          </a:prstGeom>
          <a:noFill/>
          <a:ln/>
        </p:spPr>
        <p:txBody>
          <a:bodyPr wrap="square" lIns="0" tIns="0" rIns="0" bIns="0" rtlCol="0" anchor="ctr"/>
          <a:lstStyle/>
          <a:p>
            <a:pPr marL="0" indent="0">
              <a:buNone/>
            </a:pPr>
            <a:r>
              <a:rPr lang="en-US" sz="1200" dirty="0">
                <a:solidFill>
                  <a:srgbClr val="1A2438"/>
                </a:solidFill>
                <a:latin typeface="Consolas" pitchFamily="34" charset="0"/>
                <a:ea typeface="Consolas" pitchFamily="34" charset="-122"/>
                <a:cs typeface="Consolas" pitchFamily="34" charset="-120"/>
              </a:rPr>
              <a:t>closest snapshot rule</a:t>
            </a:r>
            <a:endParaRPr lang="en-US" sz="1200" dirty="0"/>
          </a:p>
        </p:txBody>
      </p:sp>
      <p:sp>
        <p:nvSpPr>
          <p:cNvPr id="12" name="Shape 10"/>
          <p:cNvSpPr/>
          <p:nvPr/>
        </p:nvSpPr>
        <p:spPr>
          <a:xfrm>
            <a:off x="1143000" y="4114800"/>
            <a:ext cx="109728" cy="109728"/>
          </a:xfrm>
          <a:prstGeom prst="ellipse">
            <a:avLst/>
          </a:prstGeom>
          <a:solidFill>
            <a:srgbClr val="2D9B8A"/>
          </a:solidFill>
          <a:ln w="12700">
            <a:solidFill>
              <a:srgbClr val="2D9B8A"/>
            </a:solidFill>
            <a:prstDash val="solid"/>
          </a:ln>
        </p:spPr>
        <p:txBody>
          <a:bodyPr/>
          <a:lstStyle/>
          <a:p>
            <a:endParaRPr lang="en-US"/>
          </a:p>
        </p:txBody>
      </p:sp>
      <p:sp>
        <p:nvSpPr>
          <p:cNvPr id="13" name="Text 11"/>
          <p:cNvSpPr/>
          <p:nvPr/>
        </p:nvSpPr>
        <p:spPr>
          <a:xfrm>
            <a:off x="1371600" y="4023360"/>
            <a:ext cx="4206240" cy="320040"/>
          </a:xfrm>
          <a:prstGeom prst="rect">
            <a:avLst/>
          </a:prstGeom>
          <a:noFill/>
          <a:ln/>
        </p:spPr>
        <p:txBody>
          <a:bodyPr wrap="square" lIns="0" tIns="0" rIns="0" bIns="0" rtlCol="0" anchor="ctr"/>
          <a:lstStyle/>
          <a:p>
            <a:pPr marL="0" indent="0">
              <a:buNone/>
            </a:pPr>
            <a:r>
              <a:rPr lang="en-US" sz="1200" dirty="0">
                <a:solidFill>
                  <a:srgbClr val="1A2438"/>
                </a:solidFill>
                <a:latin typeface="Consolas" pitchFamily="34" charset="0"/>
                <a:ea typeface="Consolas" pitchFamily="34" charset="-122"/>
                <a:cs typeface="Consolas" pitchFamily="34" charset="-120"/>
              </a:rPr>
              <a:t>ignore_early arrivals</a:t>
            </a:r>
            <a:endParaRPr lang="en-US" sz="1200" dirty="0"/>
          </a:p>
        </p:txBody>
      </p:sp>
      <p:sp>
        <p:nvSpPr>
          <p:cNvPr id="14" name="Shape 12"/>
          <p:cNvSpPr/>
          <p:nvPr/>
        </p:nvSpPr>
        <p:spPr>
          <a:xfrm>
            <a:off x="1143000" y="4480560"/>
            <a:ext cx="109728" cy="109728"/>
          </a:xfrm>
          <a:prstGeom prst="ellipse">
            <a:avLst/>
          </a:prstGeom>
          <a:solidFill>
            <a:srgbClr val="2D9B8A"/>
          </a:solidFill>
          <a:ln w="12700">
            <a:solidFill>
              <a:srgbClr val="2D9B8A"/>
            </a:solidFill>
            <a:prstDash val="solid"/>
          </a:ln>
        </p:spPr>
        <p:txBody>
          <a:bodyPr/>
          <a:lstStyle/>
          <a:p>
            <a:endParaRPr lang="en-US"/>
          </a:p>
        </p:txBody>
      </p:sp>
      <p:sp>
        <p:nvSpPr>
          <p:cNvPr id="15" name="Text 13"/>
          <p:cNvSpPr/>
          <p:nvPr/>
        </p:nvSpPr>
        <p:spPr>
          <a:xfrm>
            <a:off x="1371600" y="4389120"/>
            <a:ext cx="4206240" cy="320040"/>
          </a:xfrm>
          <a:prstGeom prst="rect">
            <a:avLst/>
          </a:prstGeom>
          <a:noFill/>
          <a:ln/>
        </p:spPr>
        <p:txBody>
          <a:bodyPr wrap="square" lIns="0" tIns="0" rIns="0" bIns="0" rtlCol="0" anchor="ctr"/>
          <a:lstStyle/>
          <a:p>
            <a:pPr marL="0" indent="0">
              <a:buNone/>
            </a:pPr>
            <a:r>
              <a:rPr lang="en-US" sz="1200" dirty="0">
                <a:solidFill>
                  <a:srgbClr val="1A2438"/>
                </a:solidFill>
                <a:latin typeface="Consolas" pitchFamily="34" charset="0"/>
                <a:ea typeface="Consolas" pitchFamily="34" charset="-122"/>
                <a:cs typeface="Consolas" pitchFamily="34" charset="-120"/>
              </a:rPr>
              <a:t>wider lateness window (−2/+7)</a:t>
            </a:r>
            <a:endParaRPr lang="en-US" sz="1200" dirty="0"/>
          </a:p>
        </p:txBody>
      </p:sp>
      <p:sp>
        <p:nvSpPr>
          <p:cNvPr id="16" name="Shape 14"/>
          <p:cNvSpPr/>
          <p:nvPr/>
        </p:nvSpPr>
        <p:spPr>
          <a:xfrm>
            <a:off x="1143000" y="4846320"/>
            <a:ext cx="109728" cy="109728"/>
          </a:xfrm>
          <a:prstGeom prst="ellipse">
            <a:avLst/>
          </a:prstGeom>
          <a:solidFill>
            <a:srgbClr val="2D9B8A"/>
          </a:solidFill>
          <a:ln w="12700">
            <a:solidFill>
              <a:srgbClr val="2D9B8A"/>
            </a:solidFill>
            <a:prstDash val="solid"/>
          </a:ln>
        </p:spPr>
        <p:txBody>
          <a:bodyPr/>
          <a:lstStyle/>
          <a:p>
            <a:endParaRPr lang="en-US"/>
          </a:p>
        </p:txBody>
      </p:sp>
      <p:sp>
        <p:nvSpPr>
          <p:cNvPr id="17" name="Text 15"/>
          <p:cNvSpPr/>
          <p:nvPr/>
        </p:nvSpPr>
        <p:spPr>
          <a:xfrm>
            <a:off x="1371600" y="4754880"/>
            <a:ext cx="4206240" cy="320040"/>
          </a:xfrm>
          <a:prstGeom prst="rect">
            <a:avLst/>
          </a:prstGeom>
          <a:noFill/>
          <a:ln/>
        </p:spPr>
        <p:txBody>
          <a:bodyPr wrap="square" lIns="0" tIns="0" rIns="0" bIns="0" rtlCol="0" anchor="ctr"/>
          <a:lstStyle/>
          <a:p>
            <a:pPr marL="0" indent="0">
              <a:buNone/>
            </a:pPr>
            <a:r>
              <a:rPr lang="en-US" sz="1200" dirty="0">
                <a:solidFill>
                  <a:srgbClr val="1A2438"/>
                </a:solidFill>
                <a:latin typeface="Consolas" pitchFamily="34" charset="0"/>
                <a:ea typeface="Consolas" pitchFamily="34" charset="-122"/>
                <a:cs typeface="Consolas" pitchFamily="34" charset="-120"/>
              </a:rPr>
              <a:t>AM peak only</a:t>
            </a:r>
            <a:endParaRPr lang="en-US" sz="1200" dirty="0"/>
          </a:p>
        </p:txBody>
      </p:sp>
      <p:sp>
        <p:nvSpPr>
          <p:cNvPr id="18" name="Text 16"/>
          <p:cNvSpPr/>
          <p:nvPr/>
        </p:nvSpPr>
        <p:spPr>
          <a:xfrm>
            <a:off x="1097280" y="5303520"/>
            <a:ext cx="4480560" cy="868680"/>
          </a:xfrm>
          <a:prstGeom prst="rect">
            <a:avLst/>
          </a:prstGeom>
          <a:noFill/>
          <a:ln/>
        </p:spPr>
        <p:txBody>
          <a:bodyPr wrap="square" lIns="0" tIns="0" rIns="0" bIns="0" rtlCol="0" anchor="t"/>
          <a:lstStyle/>
          <a:p>
            <a:pPr marL="0" indent="0">
              <a:buNone/>
            </a:pPr>
            <a:r>
              <a:rPr lang="en-US" sz="1200" dirty="0">
                <a:solidFill>
                  <a:srgbClr val="4A4A4A"/>
                </a:solidFill>
                <a:latin typeface="Calibri" pitchFamily="34" charset="0"/>
                <a:ea typeface="Calibri" pitchFamily="34" charset="-122"/>
                <a:cs typeface="Calibri" pitchFamily="34" charset="-120"/>
              </a:rPr>
              <a:t>Morning buses run early in light traffic. Combined with </a:t>
            </a:r>
            <a:r>
              <a:rPr lang="en-US" sz="1200" b="1" dirty="0">
                <a:solidFill>
                  <a:srgbClr val="1A2438"/>
                </a:solidFill>
                <a:latin typeface="Consolas" pitchFamily="34" charset="0"/>
                <a:ea typeface="Consolas" pitchFamily="34" charset="-122"/>
                <a:cs typeface="Consolas" pitchFamily="34" charset="-120"/>
              </a:rPr>
              <a:t>ignore_early</a:t>
            </a:r>
            <a:r>
              <a:rPr lang="en-US" sz="1200" dirty="0">
                <a:solidFill>
                  <a:srgbClr val="4A4A4A"/>
                </a:solidFill>
                <a:latin typeface="Calibri" pitchFamily="34" charset="0"/>
                <a:ea typeface="Calibri" pitchFamily="34" charset="-122"/>
                <a:cs typeface="Calibri" pitchFamily="34" charset="-120"/>
              </a:rPr>
              <a:t>, those early arrivals get classified as on-time.</a:t>
            </a:r>
            <a:endParaRPr lang="en-US" sz="1200" dirty="0"/>
          </a:p>
        </p:txBody>
      </p:sp>
      <p:sp>
        <p:nvSpPr>
          <p:cNvPr id="19" name="Shape 17"/>
          <p:cNvSpPr/>
          <p:nvPr/>
        </p:nvSpPr>
        <p:spPr>
          <a:xfrm>
            <a:off x="6217920" y="2194560"/>
            <a:ext cx="5212080" cy="4114800"/>
          </a:xfrm>
          <a:prstGeom prst="rect">
            <a:avLst/>
          </a:prstGeom>
          <a:solidFill>
            <a:srgbClr val="FFFFFF"/>
          </a:solidFill>
          <a:ln w="6350">
            <a:solidFill>
              <a:srgbClr val="D9D5C8"/>
            </a:solidFill>
            <a:prstDash val="solid"/>
          </a:ln>
          <a:effectLst>
            <a:outerShdw blurRad="76200" dist="12700" dir="5400000" algn="bl" rotWithShape="0">
              <a:srgbClr val="000000">
                <a:alpha val="6000"/>
              </a:srgbClr>
            </a:outerShdw>
          </a:effectLst>
        </p:spPr>
        <p:txBody>
          <a:bodyPr/>
          <a:lstStyle/>
          <a:p>
            <a:endParaRPr lang="en-US"/>
          </a:p>
        </p:txBody>
      </p:sp>
      <p:sp>
        <p:nvSpPr>
          <p:cNvPr id="20" name="Shape 18"/>
          <p:cNvSpPr/>
          <p:nvPr/>
        </p:nvSpPr>
        <p:spPr>
          <a:xfrm>
            <a:off x="6217920" y="2194560"/>
            <a:ext cx="5212080" cy="54864"/>
          </a:xfrm>
          <a:prstGeom prst="rect">
            <a:avLst/>
          </a:prstGeom>
          <a:solidFill>
            <a:srgbClr val="C0392B"/>
          </a:solidFill>
          <a:ln w="12700">
            <a:solidFill>
              <a:srgbClr val="C0392B"/>
            </a:solidFill>
            <a:prstDash val="solid"/>
          </a:ln>
        </p:spPr>
        <p:txBody>
          <a:bodyPr/>
          <a:lstStyle/>
          <a:p>
            <a:endParaRPr lang="en-US"/>
          </a:p>
        </p:txBody>
      </p:sp>
      <p:sp>
        <p:nvSpPr>
          <p:cNvPr id="21" name="Text 19"/>
          <p:cNvSpPr/>
          <p:nvPr/>
        </p:nvSpPr>
        <p:spPr>
          <a:xfrm>
            <a:off x="6583680" y="2560320"/>
            <a:ext cx="4480560" cy="320040"/>
          </a:xfrm>
          <a:prstGeom prst="rect">
            <a:avLst/>
          </a:prstGeom>
          <a:noFill/>
          <a:ln/>
        </p:spPr>
        <p:txBody>
          <a:bodyPr wrap="square" lIns="0" tIns="0" rIns="0" bIns="0" rtlCol="0" anchor="ctr"/>
          <a:lstStyle/>
          <a:p>
            <a:pPr marL="0" indent="0">
              <a:buNone/>
            </a:pPr>
            <a:r>
              <a:rPr lang="en-US" sz="1100" b="1" kern="0" spc="500" dirty="0">
                <a:solidFill>
                  <a:srgbClr val="C0392B"/>
                </a:solidFill>
                <a:latin typeface="Calibri" pitchFamily="34" charset="0"/>
                <a:ea typeface="Calibri" pitchFamily="34" charset="-122"/>
                <a:cs typeface="Calibri" pitchFamily="34" charset="-120"/>
              </a:rPr>
              <a:t>THE LOW END  ~ 20%</a:t>
            </a:r>
            <a:endParaRPr lang="en-US" sz="1100" dirty="0"/>
          </a:p>
        </p:txBody>
      </p:sp>
      <p:sp>
        <p:nvSpPr>
          <p:cNvPr id="22" name="Text 20"/>
          <p:cNvSpPr/>
          <p:nvPr/>
        </p:nvSpPr>
        <p:spPr>
          <a:xfrm>
            <a:off x="6583680" y="2971800"/>
            <a:ext cx="4480560" cy="502920"/>
          </a:xfrm>
          <a:prstGeom prst="rect">
            <a:avLst/>
          </a:prstGeom>
          <a:noFill/>
          <a:ln/>
        </p:spPr>
        <p:txBody>
          <a:bodyPr wrap="square" lIns="0" tIns="0" rIns="0" bIns="0" rtlCol="0" anchor="ctr"/>
          <a:lstStyle/>
          <a:p>
            <a:pPr marL="0" indent="0">
              <a:buNone/>
            </a:pPr>
            <a:r>
              <a:rPr lang="en-US" sz="2000" b="1" dirty="0">
                <a:solidFill>
                  <a:srgbClr val="1A2438"/>
                </a:solidFill>
                <a:latin typeface="Cambria" pitchFamily="34" charset="0"/>
                <a:ea typeface="Cambria" pitchFamily="34" charset="-122"/>
                <a:cs typeface="Cambria" pitchFamily="34" charset="-120"/>
              </a:rPr>
              <a:t>Specs that produce low OTP</a:t>
            </a:r>
            <a:endParaRPr lang="en-US" sz="2000" dirty="0"/>
          </a:p>
        </p:txBody>
      </p:sp>
      <p:sp>
        <p:nvSpPr>
          <p:cNvPr id="23" name="Shape 21"/>
          <p:cNvSpPr/>
          <p:nvPr/>
        </p:nvSpPr>
        <p:spPr>
          <a:xfrm>
            <a:off x="6629400" y="3749040"/>
            <a:ext cx="109728" cy="109728"/>
          </a:xfrm>
          <a:prstGeom prst="ellipse">
            <a:avLst/>
          </a:prstGeom>
          <a:solidFill>
            <a:srgbClr val="C0392B"/>
          </a:solidFill>
          <a:ln w="12700">
            <a:solidFill>
              <a:srgbClr val="C0392B"/>
            </a:solidFill>
            <a:prstDash val="solid"/>
          </a:ln>
        </p:spPr>
        <p:txBody>
          <a:bodyPr/>
          <a:lstStyle/>
          <a:p>
            <a:endParaRPr lang="en-US"/>
          </a:p>
        </p:txBody>
      </p:sp>
      <p:sp>
        <p:nvSpPr>
          <p:cNvPr id="24" name="Text 22"/>
          <p:cNvSpPr/>
          <p:nvPr/>
        </p:nvSpPr>
        <p:spPr>
          <a:xfrm>
            <a:off x="6858000" y="3657600"/>
            <a:ext cx="4206240" cy="320040"/>
          </a:xfrm>
          <a:prstGeom prst="rect">
            <a:avLst/>
          </a:prstGeom>
          <a:noFill/>
          <a:ln/>
        </p:spPr>
        <p:txBody>
          <a:bodyPr wrap="square" lIns="0" tIns="0" rIns="0" bIns="0" rtlCol="0" anchor="ctr"/>
          <a:lstStyle/>
          <a:p>
            <a:pPr marL="0" indent="0">
              <a:buNone/>
            </a:pPr>
            <a:r>
              <a:rPr lang="en-US" sz="1200" dirty="0">
                <a:solidFill>
                  <a:srgbClr val="1A2438"/>
                </a:solidFill>
                <a:latin typeface="Consolas" pitchFamily="34" charset="0"/>
                <a:ea typeface="Consolas" pitchFamily="34" charset="-122"/>
                <a:cs typeface="Consolas" pitchFamily="34" charset="-120"/>
              </a:rPr>
              <a:t>last_before snapshot rule</a:t>
            </a:r>
            <a:endParaRPr lang="en-US" sz="1200" dirty="0"/>
          </a:p>
        </p:txBody>
      </p:sp>
      <p:sp>
        <p:nvSpPr>
          <p:cNvPr id="25" name="Shape 23"/>
          <p:cNvSpPr/>
          <p:nvPr/>
        </p:nvSpPr>
        <p:spPr>
          <a:xfrm>
            <a:off x="6629400" y="4114800"/>
            <a:ext cx="109728" cy="109728"/>
          </a:xfrm>
          <a:prstGeom prst="ellipse">
            <a:avLst/>
          </a:prstGeom>
          <a:solidFill>
            <a:srgbClr val="C0392B"/>
          </a:solidFill>
          <a:ln w="12700">
            <a:solidFill>
              <a:srgbClr val="C0392B"/>
            </a:solidFill>
            <a:prstDash val="solid"/>
          </a:ln>
        </p:spPr>
        <p:txBody>
          <a:bodyPr/>
          <a:lstStyle/>
          <a:p>
            <a:endParaRPr lang="en-US"/>
          </a:p>
        </p:txBody>
      </p:sp>
      <p:sp>
        <p:nvSpPr>
          <p:cNvPr id="26" name="Text 24"/>
          <p:cNvSpPr/>
          <p:nvPr/>
        </p:nvSpPr>
        <p:spPr>
          <a:xfrm>
            <a:off x="6858000" y="4023360"/>
            <a:ext cx="4206240" cy="320040"/>
          </a:xfrm>
          <a:prstGeom prst="rect">
            <a:avLst/>
          </a:prstGeom>
          <a:noFill/>
          <a:ln/>
        </p:spPr>
        <p:txBody>
          <a:bodyPr wrap="square" lIns="0" tIns="0" rIns="0" bIns="0" rtlCol="0" anchor="ctr"/>
          <a:lstStyle/>
          <a:p>
            <a:pPr marL="0" indent="0">
              <a:buNone/>
            </a:pPr>
            <a:r>
              <a:rPr lang="en-US" sz="1200" dirty="0">
                <a:solidFill>
                  <a:srgbClr val="1A2438"/>
                </a:solidFill>
                <a:latin typeface="Consolas" pitchFamily="34" charset="0"/>
                <a:ea typeface="Consolas" pitchFamily="34" charset="-122"/>
                <a:cs typeface="Consolas" pitchFamily="34" charset="-120"/>
              </a:rPr>
              <a:t>count_early_as_late</a:t>
            </a:r>
            <a:endParaRPr lang="en-US" sz="1200" dirty="0"/>
          </a:p>
        </p:txBody>
      </p:sp>
      <p:sp>
        <p:nvSpPr>
          <p:cNvPr id="27" name="Shape 25"/>
          <p:cNvSpPr/>
          <p:nvPr/>
        </p:nvSpPr>
        <p:spPr>
          <a:xfrm>
            <a:off x="6629400" y="4480560"/>
            <a:ext cx="109728" cy="109728"/>
          </a:xfrm>
          <a:prstGeom prst="ellipse">
            <a:avLst/>
          </a:prstGeom>
          <a:solidFill>
            <a:srgbClr val="C0392B"/>
          </a:solidFill>
          <a:ln w="12700">
            <a:solidFill>
              <a:srgbClr val="C0392B"/>
            </a:solidFill>
            <a:prstDash val="solid"/>
          </a:ln>
        </p:spPr>
        <p:txBody>
          <a:bodyPr/>
          <a:lstStyle/>
          <a:p>
            <a:endParaRPr lang="en-US"/>
          </a:p>
        </p:txBody>
      </p:sp>
      <p:sp>
        <p:nvSpPr>
          <p:cNvPr id="28" name="Text 26"/>
          <p:cNvSpPr/>
          <p:nvPr/>
        </p:nvSpPr>
        <p:spPr>
          <a:xfrm>
            <a:off x="6858000" y="4389120"/>
            <a:ext cx="4206240" cy="320040"/>
          </a:xfrm>
          <a:prstGeom prst="rect">
            <a:avLst/>
          </a:prstGeom>
          <a:noFill/>
          <a:ln/>
        </p:spPr>
        <p:txBody>
          <a:bodyPr wrap="square" lIns="0" tIns="0" rIns="0" bIns="0" rtlCol="0" anchor="ctr"/>
          <a:lstStyle/>
          <a:p>
            <a:pPr marL="0" indent="0">
              <a:buNone/>
            </a:pPr>
            <a:r>
              <a:rPr lang="en-US" sz="1200" dirty="0">
                <a:solidFill>
                  <a:srgbClr val="1A2438"/>
                </a:solidFill>
                <a:latin typeface="Consolas" pitchFamily="34" charset="0"/>
                <a:ea typeface="Consolas" pitchFamily="34" charset="-122"/>
                <a:cs typeface="Consolas" pitchFamily="34" charset="-120"/>
              </a:rPr>
              <a:t>strict 0/+3 lateness window</a:t>
            </a:r>
            <a:endParaRPr lang="en-US" sz="1200" dirty="0"/>
          </a:p>
        </p:txBody>
      </p:sp>
      <p:sp>
        <p:nvSpPr>
          <p:cNvPr id="29" name="Shape 27"/>
          <p:cNvSpPr/>
          <p:nvPr/>
        </p:nvSpPr>
        <p:spPr>
          <a:xfrm>
            <a:off x="6629400" y="4846320"/>
            <a:ext cx="109728" cy="109728"/>
          </a:xfrm>
          <a:prstGeom prst="ellipse">
            <a:avLst/>
          </a:prstGeom>
          <a:solidFill>
            <a:srgbClr val="C0392B"/>
          </a:solidFill>
          <a:ln w="12700">
            <a:solidFill>
              <a:srgbClr val="C0392B"/>
            </a:solidFill>
            <a:prstDash val="solid"/>
          </a:ln>
        </p:spPr>
        <p:txBody>
          <a:bodyPr/>
          <a:lstStyle/>
          <a:p>
            <a:endParaRPr lang="en-US"/>
          </a:p>
        </p:txBody>
      </p:sp>
      <p:sp>
        <p:nvSpPr>
          <p:cNvPr id="30" name="Text 28"/>
          <p:cNvSpPr/>
          <p:nvPr/>
        </p:nvSpPr>
        <p:spPr>
          <a:xfrm>
            <a:off x="6858000" y="4754880"/>
            <a:ext cx="4206240" cy="320040"/>
          </a:xfrm>
          <a:prstGeom prst="rect">
            <a:avLst/>
          </a:prstGeom>
          <a:noFill/>
          <a:ln/>
        </p:spPr>
        <p:txBody>
          <a:bodyPr wrap="square" lIns="0" tIns="0" rIns="0" bIns="0" rtlCol="0" anchor="ctr"/>
          <a:lstStyle/>
          <a:p>
            <a:pPr marL="0" indent="0">
              <a:buNone/>
            </a:pPr>
            <a:r>
              <a:rPr lang="en-US" sz="1200" dirty="0">
                <a:solidFill>
                  <a:srgbClr val="1A2438"/>
                </a:solidFill>
                <a:latin typeface="Consolas" pitchFamily="34" charset="0"/>
                <a:ea typeface="Consolas" pitchFamily="34" charset="-122"/>
                <a:cs typeface="Consolas" pitchFamily="34" charset="-120"/>
              </a:rPr>
              <a:t>terminals only</a:t>
            </a:r>
            <a:endParaRPr lang="en-US" sz="1200" dirty="0"/>
          </a:p>
        </p:txBody>
      </p:sp>
      <p:sp>
        <p:nvSpPr>
          <p:cNvPr id="31" name="Text 29"/>
          <p:cNvSpPr/>
          <p:nvPr/>
        </p:nvSpPr>
        <p:spPr>
          <a:xfrm>
            <a:off x="6583680" y="5303520"/>
            <a:ext cx="4480560" cy="868680"/>
          </a:xfrm>
          <a:prstGeom prst="rect">
            <a:avLst/>
          </a:prstGeom>
          <a:noFill/>
          <a:ln/>
        </p:spPr>
        <p:txBody>
          <a:bodyPr wrap="square" lIns="0" tIns="0" rIns="0" bIns="0" rtlCol="0" anchor="t"/>
          <a:lstStyle/>
          <a:p>
            <a:pPr marL="0" indent="0">
              <a:buNone/>
            </a:pPr>
            <a:r>
              <a:rPr lang="en-US" sz="1200" dirty="0">
                <a:solidFill>
                  <a:srgbClr val="4A4A4A"/>
                </a:solidFill>
                <a:latin typeface="Calibri" pitchFamily="34" charset="0"/>
                <a:ea typeface="Calibri" pitchFamily="34" charset="-122"/>
                <a:cs typeface="Calibri" pitchFamily="34" charset="-120"/>
              </a:rPr>
              <a:t>Stricter reconstruction, strict symmetric window, treats early as failure, focuses on high-variability stops on a route.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2438"/>
          </a:solidFill>
          <a:ln w="12700">
            <a:solidFill>
              <a:srgbClr val="1A2438"/>
            </a:solidFill>
            <a:prstDash val="solid"/>
          </a:ln>
        </p:spPr>
        <p:txBody>
          <a:bodyPr/>
          <a:lstStyle/>
          <a:p>
            <a:endParaRPr lang="en-US"/>
          </a:p>
        </p:txBody>
      </p:sp>
      <p:sp>
        <p:nvSpPr>
          <p:cNvPr id="3" name="Text 1"/>
          <p:cNvSpPr/>
          <p:nvPr/>
        </p:nvSpPr>
        <p:spPr>
          <a:xfrm>
            <a:off x="548640" y="0"/>
            <a:ext cx="10972800" cy="64008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PRACTICAL CONTRIBUTION</a:t>
            </a:r>
            <a:endParaRPr lang="en-US" sz="1100" dirty="0"/>
          </a:p>
        </p:txBody>
      </p:sp>
      <p:sp>
        <p:nvSpPr>
          <p:cNvPr id="4" name="Text 2"/>
          <p:cNvSpPr/>
          <p:nvPr/>
        </p:nvSpPr>
        <p:spPr>
          <a:xfrm>
            <a:off x="731520" y="914400"/>
            <a:ext cx="10698480" cy="548640"/>
          </a:xfrm>
          <a:prstGeom prst="rect">
            <a:avLst/>
          </a:prstGeom>
          <a:noFill/>
          <a:ln/>
        </p:spPr>
        <p:txBody>
          <a:bodyPr wrap="square" lIns="0" tIns="0" rIns="0" bIns="0" rtlCol="0" anchor="ctr"/>
          <a:lstStyle/>
          <a:p>
            <a:pPr marL="0" indent="0">
              <a:buNone/>
            </a:pPr>
            <a:r>
              <a:rPr lang="en-US" sz="2600" b="1" dirty="0">
                <a:solidFill>
                  <a:srgbClr val="1A2438"/>
                </a:solidFill>
                <a:latin typeface="Cambria" pitchFamily="34" charset="0"/>
                <a:ea typeface="Cambria" pitchFamily="34" charset="-122"/>
                <a:cs typeface="Cambria" pitchFamily="34" charset="-120"/>
              </a:rPr>
              <a:t>Minimum disclosure checklist for GTFS-RT-based OTP</a:t>
            </a:r>
            <a:endParaRPr lang="en-US" sz="2600" dirty="0"/>
          </a:p>
        </p:txBody>
      </p:sp>
      <p:sp>
        <p:nvSpPr>
          <p:cNvPr id="5" name="Text 3"/>
          <p:cNvSpPr/>
          <p:nvPr/>
        </p:nvSpPr>
        <p:spPr>
          <a:xfrm>
            <a:off x="731520" y="1508760"/>
            <a:ext cx="10698480" cy="365760"/>
          </a:xfrm>
          <a:prstGeom prst="rect">
            <a:avLst/>
          </a:prstGeom>
          <a:noFill/>
          <a:ln/>
        </p:spPr>
        <p:txBody>
          <a:bodyPr wrap="square" lIns="0" tIns="0" rIns="0" bIns="0"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If you publish OTP from public GTFS-RT data, disclose these alongside the number.</a:t>
            </a:r>
            <a:endParaRPr lang="en-US" sz="1300" dirty="0"/>
          </a:p>
        </p:txBody>
      </p:sp>
      <p:sp>
        <p:nvSpPr>
          <p:cNvPr id="8" name="Text 6"/>
          <p:cNvSpPr/>
          <p:nvPr/>
        </p:nvSpPr>
        <p:spPr>
          <a:xfrm>
            <a:off x="1143000" y="2103120"/>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Snapshot-selection rule</a:t>
            </a:r>
            <a:r>
              <a:rPr lang="en-US" sz="1100" i="1" dirty="0">
                <a:solidFill>
                  <a:srgbClr val="6B7280"/>
                </a:solidFill>
                <a:latin typeface="Calibri" pitchFamily="34" charset="0"/>
                <a:ea typeface="Calibri" pitchFamily="34" charset="-122"/>
                <a:cs typeface="Calibri" pitchFamily="34" charset="-120"/>
              </a:rPr>
              <a:t>  — Often missing</a:t>
            </a:r>
            <a:endParaRPr lang="en-US" sz="1300" dirty="0"/>
          </a:p>
        </p:txBody>
      </p:sp>
      <p:sp>
        <p:nvSpPr>
          <p:cNvPr id="9" name="Shape 7"/>
          <p:cNvSpPr/>
          <p:nvPr/>
        </p:nvSpPr>
        <p:spPr>
          <a:xfrm>
            <a:off x="731520" y="2532888"/>
            <a:ext cx="292608" cy="292608"/>
          </a:xfrm>
          <a:prstGeom prst="rect">
            <a:avLst/>
          </a:prstGeom>
          <a:solidFill>
            <a:srgbClr val="2D9B8A"/>
          </a:solidFill>
          <a:ln w="12700">
            <a:solidFill>
              <a:srgbClr val="2D9B8A"/>
            </a:solidFill>
            <a:prstDash val="solid"/>
          </a:ln>
        </p:spPr>
        <p:txBody>
          <a:bodyPr/>
          <a:lstStyle/>
          <a:p>
            <a:endParaRPr lang="en-US"/>
          </a:p>
        </p:txBody>
      </p:sp>
      <p:sp>
        <p:nvSpPr>
          <p:cNvPr id="10" name="Text 8"/>
          <p:cNvSpPr/>
          <p:nvPr/>
        </p:nvSpPr>
        <p:spPr>
          <a:xfrm>
            <a:off x="713232" y="2532888"/>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143000" y="2487168"/>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Lateness window</a:t>
            </a:r>
            <a:r>
              <a:rPr lang="en-US" sz="1100" i="1" dirty="0">
                <a:solidFill>
                  <a:srgbClr val="6B7280"/>
                </a:solidFill>
                <a:latin typeface="Calibri" pitchFamily="34" charset="0"/>
                <a:ea typeface="Calibri" pitchFamily="34" charset="-122"/>
                <a:cs typeface="Calibri" pitchFamily="34" charset="-120"/>
              </a:rPr>
              <a:t>  —  What counts as on time</a:t>
            </a:r>
            <a:endParaRPr lang="en-US" sz="1300" dirty="0"/>
          </a:p>
        </p:txBody>
      </p:sp>
      <p:sp>
        <p:nvSpPr>
          <p:cNvPr id="12" name="Shape 10"/>
          <p:cNvSpPr/>
          <p:nvPr/>
        </p:nvSpPr>
        <p:spPr>
          <a:xfrm>
            <a:off x="731520" y="2916936"/>
            <a:ext cx="292608" cy="292608"/>
          </a:xfrm>
          <a:prstGeom prst="rect">
            <a:avLst/>
          </a:prstGeom>
          <a:solidFill>
            <a:srgbClr val="2D9B8A"/>
          </a:solidFill>
          <a:ln w="12700">
            <a:solidFill>
              <a:srgbClr val="2D9B8A"/>
            </a:solidFill>
            <a:prstDash val="solid"/>
          </a:ln>
        </p:spPr>
        <p:txBody>
          <a:bodyPr/>
          <a:lstStyle/>
          <a:p>
            <a:endParaRPr lang="en-US"/>
          </a:p>
        </p:txBody>
      </p:sp>
      <p:sp>
        <p:nvSpPr>
          <p:cNvPr id="13" name="Text 11"/>
          <p:cNvSpPr/>
          <p:nvPr/>
        </p:nvSpPr>
        <p:spPr>
          <a:xfrm>
            <a:off x="731520" y="2916936"/>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1143000" y="2871216"/>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Early-arrival treatment</a:t>
            </a:r>
            <a:r>
              <a:rPr lang="en-US" sz="1100" i="1" dirty="0">
                <a:solidFill>
                  <a:srgbClr val="6B7280"/>
                </a:solidFill>
                <a:latin typeface="Calibri" pitchFamily="34" charset="0"/>
                <a:ea typeface="Calibri" pitchFamily="34" charset="-122"/>
                <a:cs typeface="Calibri" pitchFamily="34" charset="-120"/>
              </a:rPr>
              <a:t>  —  Whether early service is a failure</a:t>
            </a:r>
            <a:endParaRPr lang="en-US" sz="1300" dirty="0"/>
          </a:p>
        </p:txBody>
      </p:sp>
      <p:sp>
        <p:nvSpPr>
          <p:cNvPr id="15" name="Shape 13"/>
          <p:cNvSpPr/>
          <p:nvPr/>
        </p:nvSpPr>
        <p:spPr>
          <a:xfrm>
            <a:off x="731520" y="3300984"/>
            <a:ext cx="292608" cy="292608"/>
          </a:xfrm>
          <a:prstGeom prst="rect">
            <a:avLst/>
          </a:prstGeom>
          <a:solidFill>
            <a:srgbClr val="2D9B8A"/>
          </a:solidFill>
          <a:ln w="12700">
            <a:solidFill>
              <a:srgbClr val="2D9B8A"/>
            </a:solidFill>
            <a:prstDash val="solid"/>
          </a:ln>
        </p:spPr>
        <p:txBody>
          <a:bodyPr/>
          <a:lstStyle/>
          <a:p>
            <a:endParaRPr lang="en-US"/>
          </a:p>
        </p:txBody>
      </p:sp>
      <p:sp>
        <p:nvSpPr>
          <p:cNvPr id="16" name="Text 14"/>
          <p:cNvSpPr/>
          <p:nvPr/>
        </p:nvSpPr>
        <p:spPr>
          <a:xfrm>
            <a:off x="731520" y="3300984"/>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143000" y="3255264"/>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Stop-selection rule</a:t>
            </a:r>
            <a:r>
              <a:rPr lang="en-US" sz="1100" i="1" dirty="0">
                <a:solidFill>
                  <a:srgbClr val="6B7280"/>
                </a:solidFill>
                <a:latin typeface="Calibri" pitchFamily="34" charset="0"/>
                <a:ea typeface="Calibri" pitchFamily="34" charset="-122"/>
                <a:cs typeface="Calibri" pitchFamily="34" charset="-120"/>
              </a:rPr>
              <a:t>  —  All stops, timepoints, or terminals</a:t>
            </a:r>
            <a:endParaRPr lang="en-US" sz="1300" dirty="0"/>
          </a:p>
        </p:txBody>
      </p:sp>
      <p:sp>
        <p:nvSpPr>
          <p:cNvPr id="18" name="Shape 16"/>
          <p:cNvSpPr/>
          <p:nvPr/>
        </p:nvSpPr>
        <p:spPr>
          <a:xfrm>
            <a:off x="731520" y="3685032"/>
            <a:ext cx="292608" cy="292608"/>
          </a:xfrm>
          <a:prstGeom prst="rect">
            <a:avLst/>
          </a:prstGeom>
          <a:solidFill>
            <a:srgbClr val="2D9B8A"/>
          </a:solidFill>
          <a:ln w="12700">
            <a:solidFill>
              <a:srgbClr val="2D9B8A"/>
            </a:solidFill>
            <a:prstDash val="solid"/>
          </a:ln>
        </p:spPr>
        <p:txBody>
          <a:bodyPr/>
          <a:lstStyle/>
          <a:p>
            <a:endParaRPr lang="en-US"/>
          </a:p>
        </p:txBody>
      </p:sp>
      <p:sp>
        <p:nvSpPr>
          <p:cNvPr id="19" name="Text 17"/>
          <p:cNvSpPr/>
          <p:nvPr/>
        </p:nvSpPr>
        <p:spPr>
          <a:xfrm>
            <a:off x="731520" y="3685032"/>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1143000" y="3639312"/>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Service-date boundary</a:t>
            </a:r>
            <a:r>
              <a:rPr lang="en-US" sz="1100" i="1" dirty="0">
                <a:solidFill>
                  <a:srgbClr val="6B7280"/>
                </a:solidFill>
                <a:latin typeface="Calibri" pitchFamily="34" charset="0"/>
                <a:ea typeface="Calibri" pitchFamily="34" charset="-122"/>
                <a:cs typeface="Calibri" pitchFamily="34" charset="-120"/>
              </a:rPr>
              <a:t>  —  How midnight-crossing trips are assigned</a:t>
            </a:r>
            <a:endParaRPr lang="en-US" sz="1300" dirty="0"/>
          </a:p>
        </p:txBody>
      </p:sp>
      <p:sp>
        <p:nvSpPr>
          <p:cNvPr id="21" name="Shape 19"/>
          <p:cNvSpPr/>
          <p:nvPr/>
        </p:nvSpPr>
        <p:spPr>
          <a:xfrm>
            <a:off x="731520" y="4069080"/>
            <a:ext cx="292608" cy="292608"/>
          </a:xfrm>
          <a:prstGeom prst="rect">
            <a:avLst/>
          </a:prstGeom>
          <a:solidFill>
            <a:srgbClr val="2D9B8A"/>
          </a:solidFill>
          <a:ln w="12700">
            <a:solidFill>
              <a:srgbClr val="2D9B8A"/>
            </a:solidFill>
            <a:prstDash val="solid"/>
          </a:ln>
        </p:spPr>
        <p:txBody>
          <a:bodyPr/>
          <a:lstStyle/>
          <a:p>
            <a:endParaRPr lang="en-US"/>
          </a:p>
        </p:txBody>
      </p:sp>
      <p:sp>
        <p:nvSpPr>
          <p:cNvPr id="22" name="Text 20"/>
          <p:cNvSpPr/>
          <p:nvPr/>
        </p:nvSpPr>
        <p:spPr>
          <a:xfrm>
            <a:off x="731520" y="4069080"/>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1143000" y="4023360"/>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Trip-matching rule</a:t>
            </a:r>
            <a:r>
              <a:rPr lang="en-US" sz="1100" i="1" dirty="0">
                <a:solidFill>
                  <a:srgbClr val="6B7280"/>
                </a:solidFill>
                <a:latin typeface="Calibri" pitchFamily="34" charset="0"/>
                <a:ea typeface="Calibri" pitchFamily="34" charset="-122"/>
                <a:cs typeface="Calibri" pitchFamily="34" charset="-120"/>
              </a:rPr>
              <a:t>  —  How real-time updates map to scheduled events</a:t>
            </a:r>
            <a:endParaRPr lang="en-US" sz="1300" dirty="0"/>
          </a:p>
        </p:txBody>
      </p:sp>
      <p:sp>
        <p:nvSpPr>
          <p:cNvPr id="24" name="Shape 22"/>
          <p:cNvSpPr/>
          <p:nvPr/>
        </p:nvSpPr>
        <p:spPr>
          <a:xfrm>
            <a:off x="6217920" y="2148840"/>
            <a:ext cx="292608" cy="292608"/>
          </a:xfrm>
          <a:prstGeom prst="rect">
            <a:avLst/>
          </a:prstGeom>
          <a:solidFill>
            <a:srgbClr val="2D9B8A"/>
          </a:solidFill>
          <a:ln w="12700">
            <a:solidFill>
              <a:srgbClr val="2D9B8A"/>
            </a:solidFill>
            <a:prstDash val="solid"/>
          </a:ln>
        </p:spPr>
        <p:txBody>
          <a:bodyPr/>
          <a:lstStyle/>
          <a:p>
            <a:endParaRPr lang="en-US"/>
          </a:p>
        </p:txBody>
      </p:sp>
      <p:sp>
        <p:nvSpPr>
          <p:cNvPr id="25" name="Text 23"/>
          <p:cNvSpPr/>
          <p:nvPr/>
        </p:nvSpPr>
        <p:spPr>
          <a:xfrm>
            <a:off x="6217920" y="2148840"/>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6" name="Text 24"/>
          <p:cNvSpPr/>
          <p:nvPr/>
        </p:nvSpPr>
        <p:spPr>
          <a:xfrm>
            <a:off x="6629400" y="2103120"/>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Time period and service filters</a:t>
            </a:r>
            <a:r>
              <a:rPr lang="en-US" sz="1100" i="1" dirty="0">
                <a:solidFill>
                  <a:srgbClr val="6B7280"/>
                </a:solidFill>
                <a:latin typeface="Calibri" pitchFamily="34" charset="0"/>
                <a:ea typeface="Calibri" pitchFamily="34" charset="-122"/>
                <a:cs typeface="Calibri" pitchFamily="34" charset="-120"/>
              </a:rPr>
              <a:t>  —  Scope of the reported KPI</a:t>
            </a:r>
            <a:endParaRPr lang="en-US" sz="1300" dirty="0"/>
          </a:p>
        </p:txBody>
      </p:sp>
      <p:sp>
        <p:nvSpPr>
          <p:cNvPr id="27" name="Shape 25"/>
          <p:cNvSpPr/>
          <p:nvPr/>
        </p:nvSpPr>
        <p:spPr>
          <a:xfrm>
            <a:off x="6217920" y="2532888"/>
            <a:ext cx="292608" cy="292608"/>
          </a:xfrm>
          <a:prstGeom prst="rect">
            <a:avLst/>
          </a:prstGeom>
          <a:solidFill>
            <a:srgbClr val="2D9B8A"/>
          </a:solidFill>
          <a:ln w="12700">
            <a:solidFill>
              <a:srgbClr val="2D9B8A"/>
            </a:solidFill>
            <a:prstDash val="solid"/>
          </a:ln>
        </p:spPr>
        <p:txBody>
          <a:bodyPr/>
          <a:lstStyle/>
          <a:p>
            <a:endParaRPr lang="en-US"/>
          </a:p>
        </p:txBody>
      </p:sp>
      <p:sp>
        <p:nvSpPr>
          <p:cNvPr id="28" name="Text 26"/>
          <p:cNvSpPr/>
          <p:nvPr/>
        </p:nvSpPr>
        <p:spPr>
          <a:xfrm>
            <a:off x="6217920" y="2532888"/>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9" name="Text 27"/>
          <p:cNvSpPr/>
          <p:nvPr/>
        </p:nvSpPr>
        <p:spPr>
          <a:xfrm>
            <a:off x="6629400" y="2487168"/>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Sample size</a:t>
            </a:r>
            <a:r>
              <a:rPr lang="en-US" sz="1100" i="1" dirty="0">
                <a:solidFill>
                  <a:srgbClr val="6B7280"/>
                </a:solidFill>
                <a:latin typeface="Calibri" pitchFamily="34" charset="0"/>
                <a:ea typeface="Calibri" pitchFamily="34" charset="-122"/>
                <a:cs typeface="Calibri" pitchFamily="34" charset="-120"/>
              </a:rPr>
              <a:t>  —  How many observations support the value</a:t>
            </a:r>
            <a:endParaRPr lang="en-US" sz="1300" dirty="0"/>
          </a:p>
        </p:txBody>
      </p:sp>
      <p:sp>
        <p:nvSpPr>
          <p:cNvPr id="30" name="Shape 28"/>
          <p:cNvSpPr/>
          <p:nvPr/>
        </p:nvSpPr>
        <p:spPr>
          <a:xfrm>
            <a:off x="6217920" y="2916936"/>
            <a:ext cx="292608" cy="292608"/>
          </a:xfrm>
          <a:prstGeom prst="rect">
            <a:avLst/>
          </a:prstGeom>
          <a:solidFill>
            <a:srgbClr val="2D9B8A"/>
          </a:solidFill>
          <a:ln w="12700">
            <a:solidFill>
              <a:srgbClr val="2D9B8A"/>
            </a:solidFill>
            <a:prstDash val="solid"/>
          </a:ln>
        </p:spPr>
        <p:txBody>
          <a:bodyPr/>
          <a:lstStyle/>
          <a:p>
            <a:endParaRPr lang="en-US"/>
          </a:p>
        </p:txBody>
      </p:sp>
      <p:sp>
        <p:nvSpPr>
          <p:cNvPr id="31" name="Text 29"/>
          <p:cNvSpPr/>
          <p:nvPr/>
        </p:nvSpPr>
        <p:spPr>
          <a:xfrm>
            <a:off x="6217920" y="2916936"/>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6629400" y="2871216"/>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Excluded trips/records</a:t>
            </a:r>
            <a:r>
              <a:rPr lang="en-US" sz="1100" i="1" dirty="0">
                <a:solidFill>
                  <a:srgbClr val="6B7280"/>
                </a:solidFill>
                <a:latin typeface="Calibri" pitchFamily="34" charset="0"/>
                <a:ea typeface="Calibri" pitchFamily="34" charset="-122"/>
                <a:cs typeface="Calibri" pitchFamily="34" charset="-120"/>
              </a:rPr>
              <a:t>  —  Filtering choices (Owl, cancellations)</a:t>
            </a:r>
            <a:endParaRPr lang="en-US" sz="1300" dirty="0"/>
          </a:p>
        </p:txBody>
      </p:sp>
      <p:sp>
        <p:nvSpPr>
          <p:cNvPr id="33" name="Shape 31"/>
          <p:cNvSpPr/>
          <p:nvPr/>
        </p:nvSpPr>
        <p:spPr>
          <a:xfrm>
            <a:off x="6217920" y="3300984"/>
            <a:ext cx="292608" cy="292608"/>
          </a:xfrm>
          <a:prstGeom prst="rect">
            <a:avLst/>
          </a:prstGeom>
          <a:solidFill>
            <a:srgbClr val="2D9B8A"/>
          </a:solidFill>
          <a:ln w="12700">
            <a:solidFill>
              <a:srgbClr val="2D9B8A"/>
            </a:solidFill>
            <a:prstDash val="solid"/>
          </a:ln>
        </p:spPr>
        <p:txBody>
          <a:bodyPr/>
          <a:lstStyle/>
          <a:p>
            <a:endParaRPr lang="en-US"/>
          </a:p>
        </p:txBody>
      </p:sp>
      <p:sp>
        <p:nvSpPr>
          <p:cNvPr id="34" name="Text 32"/>
          <p:cNvSpPr/>
          <p:nvPr/>
        </p:nvSpPr>
        <p:spPr>
          <a:xfrm>
            <a:off x="6217920" y="3300984"/>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5" name="Text 33"/>
          <p:cNvSpPr/>
          <p:nvPr/>
        </p:nvSpPr>
        <p:spPr>
          <a:xfrm>
            <a:off x="6629400" y="3255264"/>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GTFS-RT feed type and interval</a:t>
            </a:r>
            <a:r>
              <a:rPr lang="en-US" sz="1100" i="1" dirty="0">
                <a:solidFill>
                  <a:srgbClr val="6B7280"/>
                </a:solidFill>
                <a:latin typeface="Calibri" pitchFamily="34" charset="0"/>
                <a:ea typeface="Calibri" pitchFamily="34" charset="-122"/>
                <a:cs typeface="Calibri" pitchFamily="34" charset="-120"/>
              </a:rPr>
              <a:t>  —  What real-time data is available</a:t>
            </a:r>
            <a:endParaRPr lang="en-US" sz="1300" dirty="0"/>
          </a:p>
        </p:txBody>
      </p:sp>
      <p:sp>
        <p:nvSpPr>
          <p:cNvPr id="36" name="Shape 34"/>
          <p:cNvSpPr/>
          <p:nvPr/>
        </p:nvSpPr>
        <p:spPr>
          <a:xfrm>
            <a:off x="6217920" y="3685032"/>
            <a:ext cx="292608" cy="292608"/>
          </a:xfrm>
          <a:prstGeom prst="rect">
            <a:avLst/>
          </a:prstGeom>
          <a:solidFill>
            <a:srgbClr val="2D9B8A"/>
          </a:solidFill>
          <a:ln w="12700">
            <a:solidFill>
              <a:srgbClr val="2D9B8A"/>
            </a:solidFill>
            <a:prstDash val="solid"/>
          </a:ln>
        </p:spPr>
        <p:txBody>
          <a:bodyPr/>
          <a:lstStyle/>
          <a:p>
            <a:endParaRPr lang="en-US"/>
          </a:p>
        </p:txBody>
      </p:sp>
      <p:sp>
        <p:nvSpPr>
          <p:cNvPr id="37" name="Text 35"/>
          <p:cNvSpPr/>
          <p:nvPr/>
        </p:nvSpPr>
        <p:spPr>
          <a:xfrm>
            <a:off x="6217920" y="3685032"/>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8" name="Text 36"/>
          <p:cNvSpPr/>
          <p:nvPr/>
        </p:nvSpPr>
        <p:spPr>
          <a:xfrm>
            <a:off x="6629400" y="3639312"/>
            <a:ext cx="4754880" cy="384048"/>
          </a:xfrm>
          <a:prstGeom prst="rect">
            <a:avLst/>
          </a:prstGeom>
          <a:noFill/>
          <a:ln/>
        </p:spPr>
        <p:txBody>
          <a:bodyPr wrap="square" lIns="0" tIns="0" rIns="0" bIns="0" rtlCol="0" anchor="ctr"/>
          <a:lstStyle/>
          <a:p>
            <a:pPr marL="0" indent="0">
              <a:buNone/>
            </a:pPr>
            <a:r>
              <a:rPr lang="en-US" sz="1300" b="1" dirty="0">
                <a:solidFill>
                  <a:srgbClr val="1A2438"/>
                </a:solidFill>
                <a:latin typeface="Calibri" pitchFamily="34" charset="0"/>
                <a:ea typeface="Calibri" pitchFamily="34" charset="-122"/>
                <a:cs typeface="Calibri" pitchFamily="34" charset="-120"/>
              </a:rPr>
              <a:t>Static GTFS version</a:t>
            </a:r>
            <a:r>
              <a:rPr lang="en-US" sz="1100" i="1" dirty="0">
                <a:solidFill>
                  <a:srgbClr val="6B7280"/>
                </a:solidFill>
                <a:latin typeface="Calibri" pitchFamily="34" charset="0"/>
                <a:ea typeface="Calibri" pitchFamily="34" charset="-122"/>
                <a:cs typeface="Calibri" pitchFamily="34" charset="-120"/>
              </a:rPr>
              <a:t>  —  Schedule benchmark</a:t>
            </a:r>
            <a:endParaRPr lang="en-US" sz="1300" dirty="0"/>
          </a:p>
        </p:txBody>
      </p:sp>
      <p:sp>
        <p:nvSpPr>
          <p:cNvPr id="42" name="Shape 7">
            <a:extLst>
              <a:ext uri="{FF2B5EF4-FFF2-40B4-BE49-F238E27FC236}">
                <a16:creationId xmlns:a16="http://schemas.microsoft.com/office/drawing/2014/main" id="{2683808F-D40A-FB81-8DD9-C4634580EDCB}"/>
              </a:ext>
            </a:extLst>
          </p:cNvPr>
          <p:cNvSpPr/>
          <p:nvPr/>
        </p:nvSpPr>
        <p:spPr>
          <a:xfrm>
            <a:off x="729857" y="2148840"/>
            <a:ext cx="292608" cy="292608"/>
          </a:xfrm>
          <a:prstGeom prst="rect">
            <a:avLst/>
          </a:prstGeom>
          <a:solidFill>
            <a:srgbClr val="2D9B8A"/>
          </a:solidFill>
          <a:ln w="12700">
            <a:solidFill>
              <a:srgbClr val="2D9B8A"/>
            </a:solidFill>
            <a:prstDash val="solid"/>
          </a:ln>
        </p:spPr>
        <p:txBody>
          <a:bodyPr/>
          <a:lstStyle/>
          <a:p>
            <a:endParaRPr lang="en-US"/>
          </a:p>
        </p:txBody>
      </p:sp>
      <p:sp>
        <p:nvSpPr>
          <p:cNvPr id="7" name="Text 5"/>
          <p:cNvSpPr/>
          <p:nvPr/>
        </p:nvSpPr>
        <p:spPr>
          <a:xfrm>
            <a:off x="731520" y="2148840"/>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61520" cy="640080"/>
          </a:xfrm>
          <a:prstGeom prst="rect">
            <a:avLst/>
          </a:prstGeom>
          <a:solidFill>
            <a:srgbClr val="1A2438"/>
          </a:solidFill>
          <a:ln w="12700">
            <a:solidFill>
              <a:srgbClr val="1A2438"/>
            </a:solidFill>
            <a:prstDash val="solid"/>
          </a:ln>
        </p:spPr>
        <p:txBody>
          <a:bodyPr/>
          <a:lstStyle/>
          <a:p>
            <a:endParaRPr lang="en-US"/>
          </a:p>
        </p:txBody>
      </p:sp>
      <p:sp>
        <p:nvSpPr>
          <p:cNvPr id="3" name="Text 1"/>
          <p:cNvSpPr/>
          <p:nvPr/>
        </p:nvSpPr>
        <p:spPr>
          <a:xfrm>
            <a:off x="548640" y="0"/>
            <a:ext cx="10972800" cy="64008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SCOPE AND NEXT STEPS</a:t>
            </a:r>
            <a:endParaRPr lang="en-US" sz="1100" dirty="0"/>
          </a:p>
        </p:txBody>
      </p:sp>
      <p:sp>
        <p:nvSpPr>
          <p:cNvPr id="4" name="Text 2"/>
          <p:cNvSpPr/>
          <p:nvPr/>
        </p:nvSpPr>
        <p:spPr>
          <a:xfrm>
            <a:off x="731520" y="914400"/>
            <a:ext cx="10698480" cy="548640"/>
          </a:xfrm>
          <a:prstGeom prst="rect">
            <a:avLst/>
          </a:prstGeom>
          <a:noFill/>
          <a:ln/>
        </p:spPr>
        <p:txBody>
          <a:bodyPr wrap="square" lIns="0" tIns="0" rIns="0" bIns="0" rtlCol="0" anchor="ctr"/>
          <a:lstStyle/>
          <a:p>
            <a:pPr marL="0" indent="0">
              <a:buNone/>
            </a:pPr>
            <a:r>
              <a:rPr lang="en-US" sz="2600" b="1" dirty="0">
                <a:solidFill>
                  <a:srgbClr val="1A2438"/>
                </a:solidFill>
                <a:latin typeface="Cambria" pitchFamily="34" charset="0"/>
                <a:ea typeface="Cambria" pitchFamily="34" charset="-122"/>
                <a:cs typeface="Cambria" pitchFamily="34" charset="-120"/>
              </a:rPr>
              <a:t>Limitations &amp; future work</a:t>
            </a:r>
            <a:endParaRPr lang="en-US" sz="2600" dirty="0"/>
          </a:p>
        </p:txBody>
      </p:sp>
      <p:sp>
        <p:nvSpPr>
          <p:cNvPr id="5" name="Shape 3"/>
          <p:cNvSpPr/>
          <p:nvPr/>
        </p:nvSpPr>
        <p:spPr>
          <a:xfrm>
            <a:off x="731520" y="1691640"/>
            <a:ext cx="5212080" cy="4846320"/>
          </a:xfrm>
          <a:prstGeom prst="rect">
            <a:avLst/>
          </a:prstGeom>
          <a:solidFill>
            <a:srgbClr val="FFFFFF"/>
          </a:solidFill>
          <a:ln w="6350">
            <a:solidFill>
              <a:srgbClr val="D9D5C8"/>
            </a:solidFill>
            <a:prstDash val="solid"/>
          </a:ln>
          <a:effectLst>
            <a:outerShdw blurRad="76200" dist="12700" dir="5400000" algn="bl" rotWithShape="0">
              <a:srgbClr val="000000">
                <a:alpha val="6000"/>
              </a:srgbClr>
            </a:outerShdw>
          </a:effectLst>
        </p:spPr>
        <p:txBody>
          <a:bodyPr/>
          <a:lstStyle/>
          <a:p>
            <a:endParaRPr lang="en-US"/>
          </a:p>
        </p:txBody>
      </p:sp>
      <p:sp>
        <p:nvSpPr>
          <p:cNvPr id="6" name="Shape 4"/>
          <p:cNvSpPr/>
          <p:nvPr/>
        </p:nvSpPr>
        <p:spPr>
          <a:xfrm>
            <a:off x="731520" y="1691640"/>
            <a:ext cx="5212080" cy="54864"/>
          </a:xfrm>
          <a:prstGeom prst="rect">
            <a:avLst/>
          </a:prstGeom>
          <a:solidFill>
            <a:srgbClr val="C0392B"/>
          </a:solidFill>
          <a:ln w="12700">
            <a:solidFill>
              <a:srgbClr val="C0392B"/>
            </a:solidFill>
            <a:prstDash val="solid"/>
          </a:ln>
        </p:spPr>
        <p:txBody>
          <a:bodyPr/>
          <a:lstStyle/>
          <a:p>
            <a:endParaRPr lang="en-US"/>
          </a:p>
        </p:txBody>
      </p:sp>
      <p:sp>
        <p:nvSpPr>
          <p:cNvPr id="7" name="Text 5"/>
          <p:cNvSpPr/>
          <p:nvPr/>
        </p:nvSpPr>
        <p:spPr>
          <a:xfrm>
            <a:off x="1097280" y="2011680"/>
            <a:ext cx="4480560" cy="274320"/>
          </a:xfrm>
          <a:prstGeom prst="rect">
            <a:avLst/>
          </a:prstGeom>
          <a:noFill/>
          <a:ln/>
        </p:spPr>
        <p:txBody>
          <a:bodyPr wrap="square" lIns="0" tIns="0" rIns="0" bIns="0" rtlCol="0" anchor="ctr"/>
          <a:lstStyle/>
          <a:p>
            <a:pPr marL="0" indent="0">
              <a:buNone/>
            </a:pPr>
            <a:r>
              <a:rPr lang="en-US" sz="1100" b="1" kern="0" spc="500" dirty="0">
                <a:solidFill>
                  <a:srgbClr val="C0392B"/>
                </a:solidFill>
                <a:latin typeface="Calibri" pitchFamily="34" charset="0"/>
                <a:ea typeface="Calibri" pitchFamily="34" charset="-122"/>
                <a:cs typeface="Calibri" pitchFamily="34" charset="-120"/>
              </a:rPr>
              <a:t>LIMITATIONS</a:t>
            </a:r>
            <a:endParaRPr lang="en-US" sz="1100" dirty="0"/>
          </a:p>
        </p:txBody>
      </p:sp>
      <p:sp>
        <p:nvSpPr>
          <p:cNvPr id="8" name="Text 6"/>
          <p:cNvSpPr/>
          <p:nvPr/>
        </p:nvSpPr>
        <p:spPr>
          <a:xfrm>
            <a:off x="1097280" y="2468880"/>
            <a:ext cx="4480560" cy="292608"/>
          </a:xfrm>
          <a:prstGeom prst="rect">
            <a:avLst/>
          </a:prstGeom>
          <a:noFill/>
          <a:ln/>
        </p:spPr>
        <p:txBody>
          <a:bodyPr wrap="square" lIns="0" tIns="0" rIns="0" bIns="0" rtlCol="0" anchor="ctr"/>
          <a:lstStyle/>
          <a:p>
            <a:pPr marL="0" indent="0">
              <a:buNone/>
            </a:pPr>
            <a:r>
              <a:rPr lang="en-US" sz="1400" b="1" dirty="0">
                <a:solidFill>
                  <a:srgbClr val="1A2438"/>
                </a:solidFill>
                <a:latin typeface="Cambria" pitchFamily="34" charset="0"/>
                <a:ea typeface="Cambria" pitchFamily="34" charset="-122"/>
                <a:cs typeface="Cambria" pitchFamily="34" charset="-120"/>
              </a:rPr>
              <a:t>Two routes, one agency</a:t>
            </a:r>
            <a:endParaRPr lang="en-US" sz="1400" dirty="0"/>
          </a:p>
        </p:txBody>
      </p:sp>
      <p:sp>
        <p:nvSpPr>
          <p:cNvPr id="9" name="Text 7"/>
          <p:cNvSpPr/>
          <p:nvPr/>
        </p:nvSpPr>
        <p:spPr>
          <a:xfrm>
            <a:off x="1097280" y="2761488"/>
            <a:ext cx="4480560" cy="45720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Routes 23 and 47, SEPTA. Magnitudes may differ across feeds.</a:t>
            </a:r>
            <a:endParaRPr lang="en-US" sz="1100" dirty="0"/>
          </a:p>
        </p:txBody>
      </p:sp>
      <p:sp>
        <p:nvSpPr>
          <p:cNvPr id="10" name="Text 8"/>
          <p:cNvSpPr/>
          <p:nvPr/>
        </p:nvSpPr>
        <p:spPr>
          <a:xfrm>
            <a:off x="1097280" y="3246120"/>
            <a:ext cx="4480560" cy="292608"/>
          </a:xfrm>
          <a:prstGeom prst="rect">
            <a:avLst/>
          </a:prstGeom>
          <a:noFill/>
          <a:ln/>
        </p:spPr>
        <p:txBody>
          <a:bodyPr wrap="square" lIns="0" tIns="0" rIns="0" bIns="0" rtlCol="0" anchor="ctr"/>
          <a:lstStyle/>
          <a:p>
            <a:pPr marL="0" indent="0">
              <a:buNone/>
            </a:pPr>
            <a:r>
              <a:rPr lang="en-US" sz="1400" b="1" dirty="0">
                <a:solidFill>
                  <a:srgbClr val="1A2438"/>
                </a:solidFill>
                <a:latin typeface="Cambria" pitchFamily="34" charset="0"/>
                <a:ea typeface="Cambria" pitchFamily="34" charset="-122"/>
                <a:cs typeface="Cambria" pitchFamily="34" charset="-120"/>
              </a:rPr>
              <a:t>Three weeks of data</a:t>
            </a:r>
            <a:endParaRPr lang="en-US" sz="1400" dirty="0"/>
          </a:p>
        </p:txBody>
      </p:sp>
      <p:sp>
        <p:nvSpPr>
          <p:cNvPr id="11" name="Text 9"/>
          <p:cNvSpPr/>
          <p:nvPr/>
        </p:nvSpPr>
        <p:spPr>
          <a:xfrm>
            <a:off x="1097280" y="3538728"/>
            <a:ext cx="4480560" cy="45720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Apr 4 to Apr 25, 2026. Weekday day-service only.</a:t>
            </a:r>
            <a:endParaRPr lang="en-US" sz="1100" dirty="0"/>
          </a:p>
        </p:txBody>
      </p:sp>
      <p:sp>
        <p:nvSpPr>
          <p:cNvPr id="12" name="Text 10"/>
          <p:cNvSpPr/>
          <p:nvPr/>
        </p:nvSpPr>
        <p:spPr>
          <a:xfrm>
            <a:off x="1097280" y="4023360"/>
            <a:ext cx="4480560" cy="292608"/>
          </a:xfrm>
          <a:prstGeom prst="rect">
            <a:avLst/>
          </a:prstGeom>
          <a:noFill/>
          <a:ln/>
        </p:spPr>
        <p:txBody>
          <a:bodyPr wrap="square" lIns="0" tIns="0" rIns="0" bIns="0" rtlCol="0" anchor="ctr"/>
          <a:lstStyle/>
          <a:p>
            <a:pPr marL="0" indent="0">
              <a:buNone/>
            </a:pPr>
            <a:r>
              <a:rPr lang="en-US" sz="1400" b="1" dirty="0">
                <a:solidFill>
                  <a:srgbClr val="1A2438"/>
                </a:solidFill>
                <a:latin typeface="Cambria" pitchFamily="34" charset="0"/>
                <a:ea typeface="Cambria" pitchFamily="34" charset="-122"/>
                <a:cs typeface="Cambria" pitchFamily="34" charset="-120"/>
              </a:rPr>
              <a:t>No AVL ground truth</a:t>
            </a:r>
            <a:endParaRPr lang="en-US" sz="1400" dirty="0"/>
          </a:p>
        </p:txBody>
      </p:sp>
      <p:sp>
        <p:nvSpPr>
          <p:cNvPr id="13" name="Text 11"/>
          <p:cNvSpPr/>
          <p:nvPr/>
        </p:nvSpPr>
        <p:spPr>
          <a:xfrm>
            <a:off x="1097280" y="4315968"/>
            <a:ext cx="4480560" cy="45720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latest is treated as the closest GTFS-RT-only proxy for actual arrivals — but it remains a proxy.</a:t>
            </a:r>
            <a:endParaRPr lang="en-US" sz="1100" dirty="0"/>
          </a:p>
        </p:txBody>
      </p:sp>
      <p:sp>
        <p:nvSpPr>
          <p:cNvPr id="14" name="Text 12"/>
          <p:cNvSpPr/>
          <p:nvPr/>
        </p:nvSpPr>
        <p:spPr>
          <a:xfrm>
            <a:off x="1097280" y="4800600"/>
            <a:ext cx="4480560" cy="292608"/>
          </a:xfrm>
          <a:prstGeom prst="rect">
            <a:avLst/>
          </a:prstGeom>
          <a:noFill/>
          <a:ln/>
        </p:spPr>
        <p:txBody>
          <a:bodyPr wrap="square" lIns="0" tIns="0" rIns="0" bIns="0" rtlCol="0" anchor="ctr"/>
          <a:lstStyle/>
          <a:p>
            <a:pPr marL="0" indent="0">
              <a:buNone/>
            </a:pPr>
            <a:r>
              <a:rPr lang="en-US" sz="1400" b="1" dirty="0">
                <a:solidFill>
                  <a:srgbClr val="1A2438"/>
                </a:solidFill>
                <a:latin typeface="Cambria" pitchFamily="34" charset="0"/>
                <a:ea typeface="Cambria" pitchFamily="34" charset="-122"/>
                <a:cs typeface="Cambria" pitchFamily="34" charset="-120"/>
              </a:rPr>
              <a:t>Six dimensions, not all</a:t>
            </a:r>
            <a:endParaRPr lang="en-US" sz="1400" dirty="0"/>
          </a:p>
        </p:txBody>
      </p:sp>
      <p:sp>
        <p:nvSpPr>
          <p:cNvPr id="15" name="Text 13"/>
          <p:cNvSpPr/>
          <p:nvPr/>
        </p:nvSpPr>
        <p:spPr>
          <a:xfrm>
            <a:off x="1097280" y="5093208"/>
            <a:ext cx="4480560" cy="45720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Trip matching, missing-data thresholds, weekend/Owl scope could matter.</a:t>
            </a:r>
            <a:endParaRPr lang="en-US" sz="1100" dirty="0"/>
          </a:p>
        </p:txBody>
      </p:sp>
      <p:sp>
        <p:nvSpPr>
          <p:cNvPr id="16" name="Text 14"/>
          <p:cNvSpPr/>
          <p:nvPr/>
        </p:nvSpPr>
        <p:spPr>
          <a:xfrm>
            <a:off x="1097280" y="5577840"/>
            <a:ext cx="4480560" cy="292608"/>
          </a:xfrm>
          <a:prstGeom prst="rect">
            <a:avLst/>
          </a:prstGeom>
          <a:noFill/>
          <a:ln/>
        </p:spPr>
        <p:txBody>
          <a:bodyPr wrap="square" lIns="0" tIns="0" rIns="0" bIns="0" rtlCol="0" anchor="ctr"/>
          <a:lstStyle/>
          <a:p>
            <a:pPr marL="0" indent="0">
              <a:buNone/>
            </a:pPr>
            <a:r>
              <a:rPr lang="en-US" sz="1400" b="1" dirty="0">
                <a:solidFill>
                  <a:srgbClr val="1A2438"/>
                </a:solidFill>
                <a:latin typeface="Cambria" pitchFamily="34" charset="0"/>
                <a:ea typeface="Cambria" pitchFamily="34" charset="-122"/>
                <a:cs typeface="Cambria" pitchFamily="34" charset="-120"/>
              </a:rPr>
              <a:t>OTP, not headway</a:t>
            </a:r>
            <a:endParaRPr lang="en-US" sz="1400" dirty="0"/>
          </a:p>
        </p:txBody>
      </p:sp>
      <p:sp>
        <p:nvSpPr>
          <p:cNvPr id="17" name="Text 15"/>
          <p:cNvSpPr/>
          <p:nvPr/>
        </p:nvSpPr>
        <p:spPr>
          <a:xfrm>
            <a:off x="1097280" y="5870448"/>
            <a:ext cx="4480560" cy="45720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For high-frequency service, headway regularity may better represent rider experience.</a:t>
            </a:r>
            <a:endParaRPr lang="en-US" sz="1100" dirty="0"/>
          </a:p>
        </p:txBody>
      </p:sp>
      <p:sp>
        <p:nvSpPr>
          <p:cNvPr id="18" name="Shape 16"/>
          <p:cNvSpPr/>
          <p:nvPr/>
        </p:nvSpPr>
        <p:spPr>
          <a:xfrm>
            <a:off x="6217920" y="1691640"/>
            <a:ext cx="5212080" cy="4846320"/>
          </a:xfrm>
          <a:prstGeom prst="rect">
            <a:avLst/>
          </a:prstGeom>
          <a:solidFill>
            <a:srgbClr val="FFFFFF"/>
          </a:solidFill>
          <a:ln w="6350">
            <a:solidFill>
              <a:srgbClr val="D9D5C8"/>
            </a:solidFill>
            <a:prstDash val="solid"/>
          </a:ln>
          <a:effectLst>
            <a:outerShdw blurRad="76200" dist="12700" dir="5400000" algn="bl" rotWithShape="0">
              <a:srgbClr val="000000">
                <a:alpha val="6000"/>
              </a:srgbClr>
            </a:outerShdw>
          </a:effectLst>
        </p:spPr>
        <p:txBody>
          <a:bodyPr/>
          <a:lstStyle/>
          <a:p>
            <a:endParaRPr lang="en-US"/>
          </a:p>
        </p:txBody>
      </p:sp>
      <p:sp>
        <p:nvSpPr>
          <p:cNvPr id="19" name="Shape 17"/>
          <p:cNvSpPr/>
          <p:nvPr/>
        </p:nvSpPr>
        <p:spPr>
          <a:xfrm>
            <a:off x="6217920" y="1691640"/>
            <a:ext cx="5212080" cy="54864"/>
          </a:xfrm>
          <a:prstGeom prst="rect">
            <a:avLst/>
          </a:prstGeom>
          <a:solidFill>
            <a:srgbClr val="2D9B8A"/>
          </a:solidFill>
          <a:ln w="12700">
            <a:solidFill>
              <a:srgbClr val="2D9B8A"/>
            </a:solidFill>
            <a:prstDash val="solid"/>
          </a:ln>
        </p:spPr>
        <p:txBody>
          <a:bodyPr/>
          <a:lstStyle/>
          <a:p>
            <a:endParaRPr lang="en-US"/>
          </a:p>
        </p:txBody>
      </p:sp>
      <p:sp>
        <p:nvSpPr>
          <p:cNvPr id="20" name="Text 18"/>
          <p:cNvSpPr/>
          <p:nvPr/>
        </p:nvSpPr>
        <p:spPr>
          <a:xfrm>
            <a:off x="6583680" y="2011680"/>
            <a:ext cx="4480560" cy="274320"/>
          </a:xfrm>
          <a:prstGeom prst="rect">
            <a:avLst/>
          </a:prstGeom>
          <a:noFill/>
          <a:ln/>
        </p:spPr>
        <p:txBody>
          <a:bodyPr wrap="square" lIns="0" tIns="0" rIns="0" bIns="0" rtlCol="0" anchor="ctr"/>
          <a:lstStyle/>
          <a:p>
            <a:pPr marL="0" indent="0">
              <a:buNone/>
            </a:pPr>
            <a:r>
              <a:rPr lang="en-US" sz="1100" b="1" kern="0" spc="500" dirty="0">
                <a:solidFill>
                  <a:srgbClr val="2D9B8A"/>
                </a:solidFill>
                <a:latin typeface="Calibri" pitchFamily="34" charset="0"/>
                <a:ea typeface="Calibri" pitchFamily="34" charset="-122"/>
                <a:cs typeface="Calibri" pitchFamily="34" charset="-120"/>
              </a:rPr>
              <a:t>FUTURE WORK</a:t>
            </a:r>
            <a:endParaRPr lang="en-US" sz="1100" dirty="0"/>
          </a:p>
        </p:txBody>
      </p:sp>
      <p:sp>
        <p:nvSpPr>
          <p:cNvPr id="21" name="Text 19"/>
          <p:cNvSpPr/>
          <p:nvPr/>
        </p:nvSpPr>
        <p:spPr>
          <a:xfrm>
            <a:off x="6583680" y="2468880"/>
            <a:ext cx="4480560" cy="292608"/>
          </a:xfrm>
          <a:prstGeom prst="rect">
            <a:avLst/>
          </a:prstGeom>
          <a:noFill/>
          <a:ln/>
        </p:spPr>
        <p:txBody>
          <a:bodyPr wrap="square" lIns="0" tIns="0" rIns="0" bIns="0" rtlCol="0" anchor="ctr"/>
          <a:lstStyle/>
          <a:p>
            <a:pPr marL="0" indent="0">
              <a:buNone/>
            </a:pPr>
            <a:r>
              <a:rPr lang="en-US" sz="1400" b="1" dirty="0">
                <a:solidFill>
                  <a:srgbClr val="1A2438"/>
                </a:solidFill>
                <a:latin typeface="Cambria" pitchFamily="34" charset="0"/>
                <a:ea typeface="Cambria" pitchFamily="34" charset="-122"/>
                <a:cs typeface="Cambria" pitchFamily="34" charset="-120"/>
              </a:rPr>
              <a:t>Cross-agency comparison</a:t>
            </a:r>
            <a:endParaRPr lang="en-US" sz="1400" dirty="0"/>
          </a:p>
        </p:txBody>
      </p:sp>
      <p:sp>
        <p:nvSpPr>
          <p:cNvPr id="22" name="Text 20"/>
          <p:cNvSpPr/>
          <p:nvPr/>
        </p:nvSpPr>
        <p:spPr>
          <a:xfrm>
            <a:off x="6583680" y="2761488"/>
            <a:ext cx="4480560" cy="45720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Does the snapshot-rule effect generalize beyond SEPTA?</a:t>
            </a:r>
            <a:endParaRPr lang="en-US" sz="1100" dirty="0"/>
          </a:p>
        </p:txBody>
      </p:sp>
      <p:sp>
        <p:nvSpPr>
          <p:cNvPr id="23" name="Text 21"/>
          <p:cNvSpPr/>
          <p:nvPr/>
        </p:nvSpPr>
        <p:spPr>
          <a:xfrm>
            <a:off x="6583680" y="3246120"/>
            <a:ext cx="4480560" cy="292608"/>
          </a:xfrm>
          <a:prstGeom prst="rect">
            <a:avLst/>
          </a:prstGeom>
          <a:noFill/>
          <a:ln/>
        </p:spPr>
        <p:txBody>
          <a:bodyPr wrap="square" lIns="0" tIns="0" rIns="0" bIns="0" rtlCol="0" anchor="ctr"/>
          <a:lstStyle/>
          <a:p>
            <a:pPr marL="0" indent="0">
              <a:buNone/>
            </a:pPr>
            <a:r>
              <a:rPr lang="en-US" sz="1400" b="1" dirty="0">
                <a:solidFill>
                  <a:srgbClr val="1A2438"/>
                </a:solidFill>
                <a:latin typeface="Cambria" pitchFamily="34" charset="0"/>
                <a:ea typeface="Cambria" pitchFamily="34" charset="-122"/>
                <a:cs typeface="Cambria" pitchFamily="34" charset="-120"/>
              </a:rPr>
              <a:t>AVL ground-truth comparison</a:t>
            </a:r>
            <a:endParaRPr lang="en-US" sz="1400" dirty="0"/>
          </a:p>
        </p:txBody>
      </p:sp>
      <p:sp>
        <p:nvSpPr>
          <p:cNvPr id="24" name="Text 22"/>
          <p:cNvSpPr/>
          <p:nvPr/>
        </p:nvSpPr>
        <p:spPr>
          <a:xfrm>
            <a:off x="6583680" y="3538728"/>
            <a:ext cx="4480560" cy="45720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Which GTFS-RT reconstruction rule best approximates actual arrivals?</a:t>
            </a:r>
            <a:endParaRPr lang="en-US" sz="1100" dirty="0"/>
          </a:p>
        </p:txBody>
      </p:sp>
      <p:sp>
        <p:nvSpPr>
          <p:cNvPr id="25" name="Text 23"/>
          <p:cNvSpPr/>
          <p:nvPr/>
        </p:nvSpPr>
        <p:spPr>
          <a:xfrm>
            <a:off x="6583680" y="4023360"/>
            <a:ext cx="4480560" cy="292608"/>
          </a:xfrm>
          <a:prstGeom prst="rect">
            <a:avLst/>
          </a:prstGeom>
          <a:noFill/>
          <a:ln/>
        </p:spPr>
        <p:txBody>
          <a:bodyPr wrap="square" lIns="0" tIns="0" rIns="0" bIns="0" rtlCol="0" anchor="ctr"/>
          <a:lstStyle/>
          <a:p>
            <a:pPr marL="0" indent="0">
              <a:buNone/>
            </a:pPr>
            <a:r>
              <a:rPr lang="en-US" sz="1400" b="1" dirty="0">
                <a:solidFill>
                  <a:srgbClr val="1A2438"/>
                </a:solidFill>
                <a:latin typeface="Cambria" pitchFamily="34" charset="0"/>
                <a:ea typeface="Cambria" pitchFamily="34" charset="-122"/>
                <a:cs typeface="Cambria" pitchFamily="34" charset="-120"/>
              </a:rPr>
              <a:t>Headway-based reliability</a:t>
            </a:r>
            <a:endParaRPr lang="en-US" sz="1400" dirty="0"/>
          </a:p>
        </p:txBody>
      </p:sp>
      <p:sp>
        <p:nvSpPr>
          <p:cNvPr id="26" name="Text 24"/>
          <p:cNvSpPr/>
          <p:nvPr/>
        </p:nvSpPr>
        <p:spPr>
          <a:xfrm>
            <a:off x="6583680" y="4315968"/>
            <a:ext cx="4480560" cy="45720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Apply the same robustness protocol to high-frequency service metrics.</a:t>
            </a:r>
            <a:endParaRPr lang="en-US" sz="1100" dirty="0"/>
          </a:p>
        </p:txBody>
      </p:sp>
      <p:sp>
        <p:nvSpPr>
          <p:cNvPr id="27" name="Text 25"/>
          <p:cNvSpPr/>
          <p:nvPr/>
        </p:nvSpPr>
        <p:spPr>
          <a:xfrm>
            <a:off x="6583680" y="4800600"/>
            <a:ext cx="4480560" cy="292608"/>
          </a:xfrm>
          <a:prstGeom prst="rect">
            <a:avLst/>
          </a:prstGeom>
          <a:noFill/>
          <a:ln/>
        </p:spPr>
        <p:txBody>
          <a:bodyPr wrap="square" lIns="0" tIns="0" rIns="0" bIns="0" rtlCol="0" anchor="ctr"/>
          <a:lstStyle/>
          <a:p>
            <a:pPr marL="0" indent="0">
              <a:buNone/>
            </a:pPr>
            <a:r>
              <a:rPr lang="en-US" sz="1400" b="1" dirty="0">
                <a:solidFill>
                  <a:srgbClr val="1A2438"/>
                </a:solidFill>
                <a:latin typeface="Cambria" pitchFamily="34" charset="0"/>
                <a:ea typeface="Cambria" pitchFamily="34" charset="-122"/>
                <a:cs typeface="Cambria" pitchFamily="34" charset="-120"/>
              </a:rPr>
              <a:t>Dashboard/reporting interface</a:t>
            </a:r>
            <a:endParaRPr lang="en-US" sz="1400" dirty="0"/>
          </a:p>
        </p:txBody>
      </p:sp>
      <p:sp>
        <p:nvSpPr>
          <p:cNvPr id="28" name="Text 26"/>
          <p:cNvSpPr/>
          <p:nvPr/>
        </p:nvSpPr>
        <p:spPr>
          <a:xfrm>
            <a:off x="6583680" y="5093208"/>
            <a:ext cx="4480560" cy="45720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Interactive visualization of the spec curve and disclosure choices.</a:t>
            </a:r>
            <a:endParaRPr lang="en-US" sz="1100" dirty="0"/>
          </a:p>
        </p:txBody>
      </p:sp>
      <p:sp>
        <p:nvSpPr>
          <p:cNvPr id="29" name="Text 27"/>
          <p:cNvSpPr/>
          <p:nvPr/>
        </p:nvSpPr>
        <p:spPr>
          <a:xfrm>
            <a:off x="6583680" y="5577840"/>
            <a:ext cx="4480560" cy="292608"/>
          </a:xfrm>
          <a:prstGeom prst="rect">
            <a:avLst/>
          </a:prstGeom>
          <a:noFill/>
          <a:ln/>
        </p:spPr>
        <p:txBody>
          <a:bodyPr wrap="square" lIns="0" tIns="0" rIns="0" bIns="0" rtlCol="0" anchor="ctr"/>
          <a:lstStyle/>
          <a:p>
            <a:pPr marL="0" indent="0">
              <a:buNone/>
            </a:pPr>
            <a:r>
              <a:rPr lang="en-US" sz="1400" b="1" dirty="0">
                <a:solidFill>
                  <a:srgbClr val="1A2438"/>
                </a:solidFill>
                <a:latin typeface="Cambria" pitchFamily="34" charset="0"/>
                <a:ea typeface="Cambria" pitchFamily="34" charset="-122"/>
                <a:cs typeface="Cambria" pitchFamily="34" charset="-120"/>
              </a:rPr>
              <a:t>Reproducible pipeline</a:t>
            </a:r>
            <a:endParaRPr lang="en-US" sz="1400" dirty="0"/>
          </a:p>
        </p:txBody>
      </p:sp>
      <p:sp>
        <p:nvSpPr>
          <p:cNvPr id="30" name="Text 28"/>
          <p:cNvSpPr/>
          <p:nvPr/>
        </p:nvSpPr>
        <p:spPr>
          <a:xfrm>
            <a:off x="6583680" y="5870448"/>
            <a:ext cx="4480560" cy="457200"/>
          </a:xfrm>
          <a:prstGeom prst="rect">
            <a:avLst/>
          </a:prstGeom>
          <a:noFill/>
          <a:ln/>
        </p:spPr>
        <p:txBody>
          <a:bodyPr wrap="square" lIns="0" tIns="0" rIns="0" bIns="0" rtlCol="0" anchor="t"/>
          <a:lstStyle/>
          <a:p>
            <a:pPr marL="0" indent="0">
              <a:buNone/>
            </a:pPr>
            <a:r>
              <a:rPr lang="en-US" sz="1100" dirty="0">
                <a:solidFill>
                  <a:srgbClr val="4A4A4A"/>
                </a:solidFill>
                <a:latin typeface="Calibri" pitchFamily="34" charset="0"/>
                <a:ea typeface="Calibri" pitchFamily="34" charset="-122"/>
                <a:cs typeface="Calibri" pitchFamily="34" charset="-120"/>
              </a:rPr>
              <a:t>Public GitHub repo: tobibussiek/TransitKPIFramework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438"/>
        </a:solidFill>
        <a:effectLst/>
      </p:bgPr>
    </p:bg>
    <p:spTree>
      <p:nvGrpSpPr>
        <p:cNvPr id="1" name=""/>
        <p:cNvGrpSpPr/>
        <p:nvPr/>
      </p:nvGrpSpPr>
      <p:grpSpPr>
        <a:xfrm>
          <a:off x="0" y="0"/>
          <a:ext cx="0" cy="0"/>
          <a:chOff x="0" y="0"/>
          <a:chExt cx="0" cy="0"/>
        </a:xfrm>
      </p:grpSpPr>
      <p:sp>
        <p:nvSpPr>
          <p:cNvPr id="2" name="Text 0"/>
          <p:cNvSpPr/>
          <p:nvPr/>
        </p:nvSpPr>
        <p:spPr>
          <a:xfrm>
            <a:off x="731520" y="640080"/>
            <a:ext cx="5486400" cy="365760"/>
          </a:xfrm>
          <a:prstGeom prst="rect">
            <a:avLst/>
          </a:prstGeom>
          <a:noFill/>
          <a:ln/>
        </p:spPr>
        <p:txBody>
          <a:bodyPr wrap="square" lIns="0" tIns="0" rIns="0" bIns="0" rtlCol="0" anchor="ctr"/>
          <a:lstStyle/>
          <a:p>
            <a:pPr marL="0" indent="0">
              <a:buNone/>
            </a:pPr>
            <a:r>
              <a:rPr lang="en-US" sz="1100" b="1" kern="0" spc="800" dirty="0">
                <a:solidFill>
                  <a:srgbClr val="E8B547"/>
                </a:solidFill>
                <a:latin typeface="Calibri" pitchFamily="34" charset="0"/>
                <a:ea typeface="Calibri" pitchFamily="34" charset="-122"/>
                <a:cs typeface="Calibri" pitchFamily="34" charset="-120"/>
              </a:rPr>
              <a:t>THANK YOU</a:t>
            </a:r>
            <a:endParaRPr lang="en-US" sz="1100" dirty="0"/>
          </a:p>
        </p:txBody>
      </p:sp>
      <p:sp>
        <p:nvSpPr>
          <p:cNvPr id="3" name="Text 1"/>
          <p:cNvSpPr/>
          <p:nvPr/>
        </p:nvSpPr>
        <p:spPr>
          <a:xfrm>
            <a:off x="731520" y="1828800"/>
            <a:ext cx="10698480" cy="109728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Questions?</a:t>
            </a:r>
            <a:endParaRPr lang="en-US" sz="6400" dirty="0"/>
          </a:p>
        </p:txBody>
      </p:sp>
      <p:sp>
        <p:nvSpPr>
          <p:cNvPr id="4" name="Text 2"/>
          <p:cNvSpPr/>
          <p:nvPr/>
        </p:nvSpPr>
        <p:spPr>
          <a:xfrm>
            <a:off x="731520" y="3108960"/>
            <a:ext cx="10698480" cy="640080"/>
          </a:xfrm>
          <a:prstGeom prst="rect">
            <a:avLst/>
          </a:prstGeom>
          <a:noFill/>
          <a:ln/>
        </p:spPr>
        <p:txBody>
          <a:bodyPr wrap="square" lIns="0" tIns="0" rIns="0" bIns="0" rtlCol="0" anchor="ctr"/>
          <a:lstStyle/>
          <a:p>
            <a:pPr marL="0" indent="0">
              <a:buNone/>
            </a:pPr>
            <a:r>
              <a:rPr lang="en-US" sz="1800" i="1" dirty="0">
                <a:solidFill>
                  <a:srgbClr val="E8B547"/>
                </a:solidFill>
                <a:latin typeface="Cambria" pitchFamily="34" charset="0"/>
                <a:ea typeface="Cambria" pitchFamily="34" charset="-122"/>
                <a:cs typeface="Cambria" pitchFamily="34" charset="-120"/>
              </a:rPr>
              <a:t>OTP cannot be reported as a single unqualified number when computed from public GTFS-RT data.</a:t>
            </a:r>
            <a:endParaRPr lang="en-US" sz="1800" dirty="0"/>
          </a:p>
        </p:txBody>
      </p:sp>
      <p:sp>
        <p:nvSpPr>
          <p:cNvPr id="5" name="Text 3"/>
          <p:cNvSpPr/>
          <p:nvPr/>
        </p:nvSpPr>
        <p:spPr>
          <a:xfrm>
            <a:off x="731520" y="3749040"/>
            <a:ext cx="10698480" cy="640080"/>
          </a:xfrm>
          <a:prstGeom prst="rect">
            <a:avLst/>
          </a:prstGeom>
          <a:noFill/>
          <a:ln/>
        </p:spPr>
        <p:txBody>
          <a:bodyPr wrap="square" lIns="0" tIns="0" rIns="0" bIns="0" rtlCol="0" anchor="ctr"/>
          <a:lstStyle/>
          <a:p>
            <a:pPr marL="0" indent="0">
              <a:buNone/>
            </a:pPr>
            <a:r>
              <a:rPr lang="en-US" sz="1400" dirty="0">
                <a:solidFill>
                  <a:srgbClr val="B8B5A8"/>
                </a:solidFill>
                <a:latin typeface="Calibri" pitchFamily="34" charset="0"/>
                <a:ea typeface="Calibri" pitchFamily="34" charset="-122"/>
                <a:cs typeface="Calibri" pitchFamily="34" charset="-120"/>
              </a:rPr>
              <a:t>Disclose how stop events were reconstructed, how on-time was defined, and how sensitive the result is to reasonable alternatives.</a:t>
            </a:r>
            <a:endParaRPr lang="en-US" sz="1400" dirty="0"/>
          </a:p>
        </p:txBody>
      </p:sp>
      <p:sp>
        <p:nvSpPr>
          <p:cNvPr id="6" name="Shape 4"/>
          <p:cNvSpPr/>
          <p:nvPr/>
        </p:nvSpPr>
        <p:spPr>
          <a:xfrm>
            <a:off x="731520" y="4937760"/>
            <a:ext cx="4572000" cy="0"/>
          </a:xfrm>
          <a:prstGeom prst="line">
            <a:avLst/>
          </a:prstGeom>
          <a:noFill/>
          <a:ln w="12700">
            <a:solidFill>
              <a:srgbClr val="E8B547"/>
            </a:solidFill>
            <a:prstDash val="solid"/>
          </a:ln>
        </p:spPr>
        <p:txBody>
          <a:bodyPr/>
          <a:lstStyle/>
          <a:p>
            <a:endParaRPr lang="en-US"/>
          </a:p>
        </p:txBody>
      </p:sp>
      <p:sp>
        <p:nvSpPr>
          <p:cNvPr id="7" name="Text 5"/>
          <p:cNvSpPr/>
          <p:nvPr/>
        </p:nvSpPr>
        <p:spPr>
          <a:xfrm>
            <a:off x="731520" y="5212080"/>
            <a:ext cx="10058400" cy="365760"/>
          </a:xfrm>
          <a:prstGeom prst="rect">
            <a:avLst/>
          </a:prstGeom>
          <a:noFill/>
          <a:ln/>
        </p:spPr>
        <p:txBody>
          <a:bodyPr wrap="square" lIns="0" tIns="0" rIns="0" bIns="0" rtlCol="0" anchor="ctr"/>
          <a:lstStyle/>
          <a:p>
            <a:pPr marL="0" indent="0">
              <a:buNone/>
            </a:pPr>
            <a:r>
              <a:rPr lang="en-US" sz="1600" b="1" dirty="0">
                <a:solidFill>
                  <a:srgbClr val="E8B547"/>
                </a:solidFill>
                <a:latin typeface="Calibri" pitchFamily="34" charset="0"/>
                <a:ea typeface="Calibri" pitchFamily="34" charset="-122"/>
                <a:cs typeface="Calibri" pitchFamily="34" charset="-120"/>
              </a:rPr>
              <a:t>Tobias Bussiek</a:t>
            </a:r>
            <a:endParaRPr lang="en-US" sz="1600" dirty="0"/>
          </a:p>
        </p:txBody>
      </p:sp>
      <p:sp>
        <p:nvSpPr>
          <p:cNvPr id="8" name="Text 6"/>
          <p:cNvSpPr/>
          <p:nvPr/>
        </p:nvSpPr>
        <p:spPr>
          <a:xfrm>
            <a:off x="731520" y="5577840"/>
            <a:ext cx="10058400" cy="320040"/>
          </a:xfrm>
          <a:prstGeom prst="rect">
            <a:avLst/>
          </a:prstGeom>
          <a:noFill/>
          <a:ln/>
        </p:spPr>
        <p:txBody>
          <a:bodyPr wrap="square" lIns="0" tIns="0" rIns="0" bIns="0" rtlCol="0" anchor="ctr"/>
          <a:lstStyle/>
          <a:p>
            <a:pPr marL="0" indent="0">
              <a:buNone/>
            </a:pPr>
            <a:r>
              <a:rPr lang="en-US" sz="1200" dirty="0">
                <a:solidFill>
                  <a:srgbClr val="B8B5A8"/>
                </a:solidFill>
                <a:latin typeface="Calibri" pitchFamily="34" charset="0"/>
                <a:ea typeface="Calibri" pitchFamily="34" charset="-122"/>
                <a:cs typeface="Calibri" pitchFamily="34" charset="-120"/>
              </a:rPr>
              <a:t>West Chester University of Pennsylvania  ·  M.S. Computer Science</a:t>
            </a:r>
            <a:endParaRPr lang="en-US" sz="1200" dirty="0"/>
          </a:p>
        </p:txBody>
      </p:sp>
      <p:sp>
        <p:nvSpPr>
          <p:cNvPr id="9" name="Text 7"/>
          <p:cNvSpPr/>
          <p:nvPr/>
        </p:nvSpPr>
        <p:spPr>
          <a:xfrm>
            <a:off x="731520" y="5943600"/>
            <a:ext cx="10058400" cy="320040"/>
          </a:xfrm>
          <a:prstGeom prst="rect">
            <a:avLst/>
          </a:prstGeom>
          <a:noFill/>
          <a:ln/>
        </p:spPr>
        <p:txBody>
          <a:bodyPr wrap="square" lIns="0" tIns="0" rIns="0" bIns="0" rtlCol="0" anchor="ctr"/>
          <a:lstStyle/>
          <a:p>
            <a:pPr marL="0" indent="0">
              <a:buNone/>
            </a:pPr>
            <a:r>
              <a:rPr lang="en-US" sz="1200" dirty="0">
                <a:solidFill>
                  <a:srgbClr val="B8B5A8"/>
                </a:solidFill>
                <a:latin typeface="Consolas" pitchFamily="34" charset="0"/>
                <a:ea typeface="Consolas" pitchFamily="34" charset="-122"/>
                <a:cs typeface="Consolas" pitchFamily="34" charset="-120"/>
              </a:rPr>
              <a:t>github.com/tobibussiek/TransitKPIFramework</a:t>
            </a:r>
            <a:endParaRPr lang="en-US" sz="1200" dirty="0"/>
          </a:p>
        </p:txBody>
      </p:sp>
      <p:pic>
        <p:nvPicPr>
          <p:cNvPr id="10" name="Image 0" descr="preencoded.png"/>
          <p:cNvPicPr>
            <a:picLocks noChangeAspect="1"/>
          </p:cNvPicPr>
          <p:nvPr/>
        </p:nvPicPr>
        <p:blipFill>
          <a:blip r:embed="rId3"/>
          <a:stretch>
            <a:fillRect/>
          </a:stretch>
        </p:blipFill>
        <p:spPr>
          <a:xfrm>
            <a:off x="10058400" y="5303520"/>
            <a:ext cx="1280160" cy="1280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3518</Words>
  <Application>Microsoft Office PowerPoint</Application>
  <PresentationFormat>Widescreen</PresentationFormat>
  <Paragraphs>320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Robustness in OTP Measurement</dc:title>
  <dc:subject>PptxGenJS Presentation</dc:subject>
  <dc:creator>Tobias Bussiek</dc:creator>
  <cp:lastModifiedBy>Bussiek, Tobias</cp:lastModifiedBy>
  <cp:revision>4</cp:revision>
  <dcterms:created xsi:type="dcterms:W3CDTF">2026-04-27T06:49:58Z</dcterms:created>
  <dcterms:modified xsi:type="dcterms:W3CDTF">2026-04-27T22:14:29Z</dcterms:modified>
</cp:coreProperties>
</file>