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34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OTP range (pp)</c:v>
                </c:pt>
              </c:strCache>
            </c:strRef>
          </c:tx>
          <c:spPr>
            <a:solidFill>
              <a:srgbClr val="E8B547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2438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Snapshot rule</c:v>
                </c:pt>
                <c:pt idx="1">
                  <c:v>Lateness window</c:v>
                </c:pt>
                <c:pt idx="2">
                  <c:v>Early treatment</c:v>
                </c:pt>
                <c:pt idx="3">
                  <c:v>Stop selection</c:v>
                </c:pt>
                <c:pt idx="4">
                  <c:v>Time of day</c:v>
                </c:pt>
                <c:pt idx="5">
                  <c:v>Delay basis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30.7</c:v>
                </c:pt>
                <c:pt idx="1">
                  <c:v>27.3</c:v>
                </c:pt>
                <c:pt idx="2">
                  <c:v>14.8</c:v>
                </c:pt>
                <c:pt idx="3">
                  <c:v>9.6</c:v>
                </c:pt>
                <c:pt idx="4">
                  <c:v>7.5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8D-4985-AE3D-EC9964BF600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243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5433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Robustness in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On-Time Performance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B8B5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sensitive is OTP to defensible methodological choices?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5212080"/>
            <a:ext cx="4572000" cy="0"/>
          </a:xfrm>
          <a:prstGeom prst="line">
            <a:avLst/>
          </a:prstGeom>
          <a:noFill/>
          <a:ln w="12700">
            <a:solidFill>
              <a:srgbClr val="E8B5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5486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Tobias Bussiek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852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Chester University of Pennsylvania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217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2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530352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10698480" cy="1188720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40" y="109728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OTP is reported as a single percentage.</a:t>
            </a:r>
            <a:endParaRPr lang="en-US" sz="2200" dirty="0"/>
          </a:p>
          <a:p>
            <a:pPr marL="0" indent="0">
              <a:buNone/>
            </a:pPr>
            <a:r>
              <a:rPr lang="en-US" sz="1400" dirty="0">
                <a:solidFill>
                  <a:srgbClr val="B8B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computing OTP from public GTFS-RT data requires methodological choices </a:t>
            </a:r>
            <a:endParaRPr lang="en-US" sz="2200" dirty="0"/>
          </a:p>
          <a:p>
            <a:pPr marL="0" indent="0">
              <a:buNone/>
            </a:pPr>
            <a:r>
              <a:rPr lang="en-US" sz="1400" dirty="0">
                <a:solidFill>
                  <a:srgbClr val="B8B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reasonable choices produce dramatically different numbers.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329184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2651760"/>
            <a:ext cx="3291840" cy="54864"/>
          </a:xfrm>
          <a:prstGeom prst="rect">
            <a:avLst/>
          </a:prstGeom>
          <a:solidFill>
            <a:srgbClr val="E8B547"/>
          </a:solidFill>
          <a:ln w="12700">
            <a:solidFill>
              <a:srgbClr val="E8B5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88720" y="3017520"/>
            <a:ext cx="502920" cy="502920"/>
          </a:xfrm>
          <a:prstGeom prst="rect">
            <a:avLst/>
          </a:prstGeom>
          <a:solidFill>
            <a:srgbClr val="E8B547"/>
          </a:solidFill>
          <a:ln w="12700">
            <a:solidFill>
              <a:srgbClr val="E8B5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887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88720" y="3749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Hidden choices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03960" y="4407408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OTP from GTFS-RT requires picking lateness windows, handling early arrivals, selecting stops, and deduplicating overlapping real-time predictions.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34840" y="2651760"/>
            <a:ext cx="329184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34840" y="2651760"/>
            <a:ext cx="3291840" cy="54864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00600" y="3017520"/>
            <a:ext cx="502920" cy="502920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006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800600" y="3749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Invisible upstream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815840" y="4407408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choices are recognizable as methodology (e.g., the 5-minute window). Others happen earlier, during stop-event reconstruction, and rarely appear in published reports.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046720" y="2651760"/>
            <a:ext cx="329184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046720" y="2651760"/>
            <a:ext cx="3291840" cy="54864"/>
          </a:xfrm>
          <a:prstGeom prst="rect">
            <a:avLst/>
          </a:prstGeom>
          <a:solidFill>
            <a:srgbClr val="4A7BC2"/>
          </a:solidFill>
          <a:ln w="12700">
            <a:solidFill>
              <a:srgbClr val="4A7B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412480" y="3017520"/>
            <a:ext cx="502920" cy="502920"/>
          </a:xfrm>
          <a:prstGeom prst="rect">
            <a:avLst/>
          </a:prstGeom>
          <a:solidFill>
            <a:srgbClr val="4A7BC2"/>
          </a:solidFill>
          <a:ln w="12700">
            <a:solidFill>
              <a:srgbClr val="4A7B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4124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12480" y="365825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data, different number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427720" y="4407408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reasonable choices, the same underlying data can be reported as 20% on-time, 99% on-time, or anywhere in between. The reader cannot tell which methodology produced the number.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CHOICES LIVE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GTFS-RT pipeline choices are part of KPI methodology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in reconstructing a stop event from real-time predictions involves a methodological choice.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1993392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194560"/>
            <a:ext cx="1993392" cy="54864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237744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2750681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 feed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15468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GTFS-RT every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seconds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34056" y="27432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889504" y="2194560"/>
            <a:ext cx="1993392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889504" y="2194560"/>
            <a:ext cx="1993392" cy="54864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072384" y="237744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072384" y="2750681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to schedule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72384" y="315468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ID + stop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92040" y="27432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047488" y="2194560"/>
            <a:ext cx="1993392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047488" y="2194560"/>
            <a:ext cx="1993392" cy="54864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230368" y="237744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230368" y="2750681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 service date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30368" y="315468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4 AM Eastern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50024" y="27432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05472" y="2194560"/>
            <a:ext cx="1993392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205472" y="2194560"/>
            <a:ext cx="1993392" cy="54864"/>
          </a:xfrm>
          <a:prstGeom prst="rect">
            <a:avLst/>
          </a:prstGeom>
          <a:solidFill>
            <a:srgbClr val="E8B547"/>
          </a:solidFill>
          <a:ln w="12700">
            <a:solidFill>
              <a:srgbClr val="E8B5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388352" y="237744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388352" y="265176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 stop event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88352" y="315468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which prediction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the stop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08008" y="27432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363456" y="2194560"/>
            <a:ext cx="1993392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363456" y="2194560"/>
            <a:ext cx="1993392" cy="54864"/>
          </a:xfrm>
          <a:prstGeom prst="rect">
            <a:avLst/>
          </a:prstGeom>
          <a:solidFill>
            <a:srgbClr val="4A7BC2"/>
          </a:solidFill>
          <a:ln w="12700">
            <a:solidFill>
              <a:srgbClr val="4A7B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546336" y="237744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4A7B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546336" y="2651760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OTP definition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546336" y="315468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Lateness window,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treatment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4023360"/>
            <a:ext cx="1069848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31520" y="4023360"/>
            <a:ext cx="91440" cy="2286000"/>
          </a:xfrm>
          <a:prstGeom prst="rect">
            <a:avLst/>
          </a:prstGeom>
          <a:solidFill>
            <a:srgbClr val="E8B547"/>
          </a:solidFill>
          <a:ln w="12700">
            <a:solidFill>
              <a:srgbClr val="E8B5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005840" y="4297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GETS MUCH LESS ATTENTION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05840" y="4663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Snapshot selection: which prediction represents the stop event?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1005840" y="516636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GTFS-RT is a stream of overlapping live predictions, not a finished historical record.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scheduled stop appears in many snapshots as the bus approaches. The analyst must pick one.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study compares three rules: </a:t>
            </a:r>
            <a:r>
              <a:rPr lang="en-US" sz="1300" b="1" dirty="0">
                <a:solidFill>
                  <a:srgbClr val="1A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closest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(prediction nearest scheduled time), </a:t>
            </a:r>
            <a:r>
              <a:rPr lang="en-US" sz="1300" b="1" dirty="0">
                <a:solidFill>
                  <a:srgbClr val="1A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last_before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(last prediction before scheduled time), and </a:t>
            </a:r>
            <a:r>
              <a:rPr lang="en-US" sz="1300" b="1" dirty="0">
                <a:solidFill>
                  <a:srgbClr val="1A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latest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(chronologically last, treated here as the closest GTFS-RT-only proxy).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specification dimensions, fully crossed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specification-curve and multiverse analysis (Simonsohn et al. 2020; Steegen et al. 2016) to descriptive KPI measurement.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103120"/>
          <a:ext cx="10698480" cy="3200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controls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24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 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closest · last_before · latest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prediction represents each stop event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24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Lateness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0/+3 · −1/+5 · −2/+7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Schedule-deviation range counted as on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24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treatment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count_early_as_late · ignore_early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Whether early arrivals count as failures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24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selection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all_stops · timepoints · terminals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stops contribute to route-level OTP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24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of 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AM peak · midday · PM peak · evening · all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window of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24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basis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arrival · departure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Scheduled time used as the 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3 × 2 × 3 × 5 × 2 = 540 specifications per route   </a:t>
            </a:r>
            <a:r>
              <a:rPr lang="en-US" sz="1400" b="1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1,080 total across both routes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1: THE SPREAD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Reasonable choices produce ~80 percentage points of variation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of OTP across high-sample specifications, 432 per route.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521208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5212080" cy="73152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05840" y="25146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 23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05840" y="306324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79.5 pp</a:t>
            </a:r>
            <a:endParaRPr lang="en-US" sz="8000" dirty="0"/>
          </a:p>
        </p:txBody>
      </p:sp>
      <p:sp>
        <p:nvSpPr>
          <p:cNvPr id="10" name="Text 8"/>
          <p:cNvSpPr/>
          <p:nvPr/>
        </p:nvSpPr>
        <p:spPr>
          <a:xfrm>
            <a:off x="1005840" y="4343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of OTP values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4983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52578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20.3%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560320" y="4983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560320" y="52578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67.0%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14800" y="4983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0" y="52578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99.8%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05840" y="58521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data · 432 high-sample specs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2286000"/>
            <a:ext cx="521208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2286000"/>
            <a:ext cx="5212080" cy="73152"/>
          </a:xfrm>
          <a:prstGeom prst="rect">
            <a:avLst/>
          </a:prstGeom>
          <a:solidFill>
            <a:srgbClr val="E8B547"/>
          </a:solidFill>
          <a:ln w="12700">
            <a:solidFill>
              <a:srgbClr val="E8B5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92240" y="25146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 47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92240" y="306324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E8B5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79.0 pp</a:t>
            </a:r>
            <a:endParaRPr lang="en-US" sz="8000" dirty="0"/>
          </a:p>
        </p:txBody>
      </p:sp>
      <p:sp>
        <p:nvSpPr>
          <p:cNvPr id="22" name="Text 20"/>
          <p:cNvSpPr/>
          <p:nvPr/>
        </p:nvSpPr>
        <p:spPr>
          <a:xfrm>
            <a:off x="6492240" y="4343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of OTP values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4983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92240" y="52578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20.3%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046720" y="4983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046720" y="52578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60.0%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601200" y="49834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601200" y="52578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99.3%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492240" y="58521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data · 432 high-sample specs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059470A-FF29-893D-9886-11C24B889B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7840" y="640080"/>
            <a:ext cx="10424160" cy="621792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-12323"/>
            <a:ext cx="12161520" cy="640080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1: THE SPREAD (VISUALIZED)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5636" y="889462"/>
            <a:ext cx="28263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specification curve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5636" y="1684427"/>
            <a:ext cx="28263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is one high-sample OTP estimate, sorted from lowest to highest.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0" y="6410897"/>
            <a:ext cx="5601229" cy="440575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261851" y="6386251"/>
            <a:ext cx="526611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curve is the answer.  No single point is “correct”.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2: PIPELINE CHOICES MATTER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Sensitivity by specification dimension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OTP range when varying each dimension while holding all others fixed.</a:t>
            </a:r>
            <a:endParaRPr lang="en-US" sz="13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731520" y="2103120"/>
          <a:ext cx="73152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21040" y="2103120"/>
            <a:ext cx="3108960" cy="4297680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95360" y="23774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95360" y="2743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Snapshot selection is largest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595360" y="3474720"/>
            <a:ext cx="2560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30.7 pp mean range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C8C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dimension, even above the well-studied lateness window.</a:t>
            </a:r>
            <a:endParaRPr lang="en-US" sz="13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C8C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visible because it happens upstream during event reconstruction.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3: A CLOSER LOOK AT SNAPSHOT SELECTION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Snapshot selection alone shifts OTP by 30+ percentage points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dimensions held fixed at one reference specification (−1/+5 window, count early as late, all stops, all day, arrival).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194560"/>
          <a:ext cx="10698480" cy="28346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 rule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4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24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closest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 nearest scheduled 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2D9B8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87.4%</a:t>
                      </a:r>
                      <a:endParaRPr lang="en-US" sz="2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2D9B8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86.2%</a:t>
                      </a:r>
                      <a:endParaRPr lang="en-US" sz="2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24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last_before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prediction before scheduled 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A243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60.7%</a:t>
                      </a:r>
                      <a:endParaRPr lang="en-US" sz="2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A243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55.9%</a:t>
                      </a:r>
                      <a:endParaRPr lang="en-US" sz="2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243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latest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Chronologically last prediction (GTFS-RT-only proxy)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C0392B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56.0%</a:t>
                      </a:r>
                      <a:endParaRPr lang="en-US" sz="2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C0392B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48.8%</a:t>
                      </a:r>
                      <a:endParaRPr lang="en-US" sz="2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" y="5349240"/>
            <a:ext cx="10698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31520" y="5349240"/>
            <a:ext cx="91440" cy="1280160"/>
          </a:xfrm>
          <a:prstGeom prst="rect">
            <a:avLst/>
          </a:prstGeom>
          <a:solidFill>
            <a:srgbClr val="E8B547"/>
          </a:solidFill>
          <a:ln w="12700">
            <a:solidFill>
              <a:srgbClr val="E8B5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6"/>
          <p:cNvSpPr/>
          <p:nvPr/>
        </p:nvSpPr>
        <p:spPr>
          <a:xfrm>
            <a:off x="1005840" y="55321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HAPPENS — SELECTION BIAS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05840" y="58521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300" b="1" dirty="0">
                <a:solidFill>
                  <a:srgbClr val="1A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closest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 selects the prediction nearest scheduled time. OTP rewards closeness to scheduled time. 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1A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selection rule and the metric measure overlapping properties since the rule biases toward predictions that already look on time.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EXTREMES EXPLAINED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Extreme values come from combinations of methodological choices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endpoint is the single 'correct' value since each answers a different question.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194560"/>
            <a:ext cx="521208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194560"/>
            <a:ext cx="5212080" cy="54864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7280" y="25603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 END  ~ 99%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2971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Specs that produce very high OTP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143000" y="3749040"/>
            <a:ext cx="109728" cy="109728"/>
          </a:xfrm>
          <a:prstGeom prst="ellipse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371600" y="36576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closest snapshot rule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43000" y="4114800"/>
            <a:ext cx="109728" cy="109728"/>
          </a:xfrm>
          <a:prstGeom prst="ellipse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371600" y="4023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ignore_early arrivals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143000" y="4480560"/>
            <a:ext cx="109728" cy="109728"/>
          </a:xfrm>
          <a:prstGeom prst="ellipse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371600" y="43891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wider lateness window (−2/+7)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43000" y="4846320"/>
            <a:ext cx="109728" cy="109728"/>
          </a:xfrm>
          <a:prstGeom prst="ellipse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371600" y="4754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 peak only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530352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buses run early in light traffic. Combined with </a:t>
            </a:r>
            <a:r>
              <a:rPr lang="en-US" sz="1200" b="1" dirty="0">
                <a:solidFill>
                  <a:srgbClr val="1A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ignore_early</a:t>
            </a: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those early arrivals get classified as on-time.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2194560"/>
            <a:ext cx="521208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17920" y="2194560"/>
            <a:ext cx="521208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583680" y="25603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 END  ~ 20%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2971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Specs that produce low OTP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629400" y="3749040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58000" y="36576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last_before snapshot rule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29400" y="4114800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858000" y="4023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count_early_as_late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629400" y="4480560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858000" y="43891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strict 0/+3 lateness window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29400" y="4846320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858000" y="4754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4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terminals only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0" y="530352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Stricter reconstruction, strict symmetric window, treats early as failure, focuses on high-variability stops on a route.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CONTRIBUTION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1211907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 disclosure checklist for GTFS-RT-based OTP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13232" y="1806267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publish OTP from public GTFS-RT data, disclose these alongside the number.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28254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Snapshot-selection rule</a:t>
            </a: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Often missing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55264"/>
            <a:ext cx="292608" cy="292608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13232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320954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Lateness window</a:t>
            </a: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What counts as on time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639312"/>
            <a:ext cx="292608" cy="292608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3639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35935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Early-arrival treatment</a:t>
            </a: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Whether early service is a failure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023360"/>
            <a:ext cx="292608" cy="292608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9776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Stop-selection rule</a:t>
            </a: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All stops, timepoints, or terminals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4407408"/>
            <a:ext cx="292608" cy="292608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152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43000" y="436168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Service-date boundary</a:t>
            </a: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How midnight-crossing trips are assigned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4791456"/>
            <a:ext cx="292608" cy="292608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791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43000" y="474573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Trip-matching rule</a:t>
            </a: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How real-time updates map to scheduled events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2871216"/>
            <a:ext cx="292608" cy="292608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17920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629400" y="28254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 and service filters</a:t>
            </a: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Scope of the reported KPI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3255264"/>
            <a:ext cx="292608" cy="292608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21792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29400" y="320954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</a:t>
            </a: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How many observations support the value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217920" y="3639312"/>
            <a:ext cx="292608" cy="292608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217920" y="3639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29400" y="35935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trips/records</a:t>
            </a: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Filtering choices (Owl, cancellations)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217920" y="4023360"/>
            <a:ext cx="292608" cy="292608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21792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629400" y="39776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GTFS-RT feed type and interval</a:t>
            </a: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What real-time data is available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217920" y="4407408"/>
            <a:ext cx="292608" cy="292608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21792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629400" y="436168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GTFS version</a:t>
            </a: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Schedule benchmark</a:t>
            </a:r>
            <a:endParaRPr lang="en-US" sz="1300" dirty="0"/>
          </a:p>
        </p:txBody>
      </p:sp>
      <p:sp>
        <p:nvSpPr>
          <p:cNvPr id="42" name="Shape 7">
            <a:extLst>
              <a:ext uri="{FF2B5EF4-FFF2-40B4-BE49-F238E27FC236}">
                <a16:creationId xmlns:a16="http://schemas.microsoft.com/office/drawing/2014/main" id="{2683808F-D40A-FB81-8DD9-C4634580EDCB}"/>
              </a:ext>
            </a:extLst>
          </p:cNvPr>
          <p:cNvSpPr/>
          <p:nvPr/>
        </p:nvSpPr>
        <p:spPr>
          <a:xfrm>
            <a:off x="729857" y="2871216"/>
            <a:ext cx="292608" cy="292608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40080"/>
          </a:xfrm>
          <a:prstGeom prst="rect">
            <a:avLst/>
          </a:prstGeom>
          <a:solidFill>
            <a:srgbClr val="1A2438"/>
          </a:solidFill>
          <a:ln w="12700">
            <a:solidFill>
              <a:srgbClr val="1A24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AND 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work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5212080" cy="4846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521208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0" y="2011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24688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routes, one agency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7614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23 and 47, SEPTA. Magnitudes may differ across feeds.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32461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weeks of data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35387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4 to Apr 25, 2026. Weekday day-service only.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97280" y="402336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AVL ground truth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43159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is treated as the closest GTFS-RT-only proxy for actual arrivals — but it remains a proxy.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97280" y="48006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dimensions, not all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50932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matching, missing-data thresholds, weekend/Owl scope could matter.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" y="55778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OTP, not headway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58704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high-frequency service, headway regularity may better represent rider experience.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1691640"/>
            <a:ext cx="5212080" cy="4846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5C8"/>
            </a:solidFill>
            <a:prstDash val="solid"/>
          </a:ln>
          <a:effectLst>
            <a:outerShdw blurRad="76200" dist="127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1691640"/>
            <a:ext cx="5212080" cy="54864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0" y="2011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0" y="24688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Cross-agency comparison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583680" y="27614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snapshot-rule effect generalize beyond SEPTA?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0" y="32461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AVL ground-truth comparison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35387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GTFS-RT reconstruction rule best approximates actual arrivals?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0" y="402336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Headway-based reliability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83680" y="43159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same robustness protocol to high-frequency service metrics.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0" y="48006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Dashboard/reporting interface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83680" y="50932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visualization of the spec curve and disclosure choices.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83680" y="55778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pipeline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583680" y="58704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GitHub repo: tobibussiek/TransitKPIFramework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4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731520" y="31089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8B5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OTP cannot be reported as a single unqualified number when computed from public GTFS-RT data.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749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B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how stop events were reconstructed, how on-time was defined, and how sensitive the result is to reasonable alternatives.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4572000" cy="0"/>
          </a:xfrm>
          <a:prstGeom prst="line">
            <a:avLst/>
          </a:prstGeom>
          <a:noFill/>
          <a:ln w="12700">
            <a:solidFill>
              <a:srgbClr val="E8B5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Tobias Bussiek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577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Chester University of Pennsylvania  ·  M.S. Computer Science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5943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8B5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github.com/tobibussiek/TransitKPIFramework</a:t>
            </a:r>
            <a:endParaRPr lang="en-US" sz="12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530352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1275</Words>
  <Application>Microsoft Office PowerPoint</Application>
  <PresentationFormat>Widescreen</PresentationFormat>
  <Paragraphs>223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KPI Robustness in OTP Measurement</dc:title>
  <dc:subject>PptxGenJS Presentation</dc:subject>
  <dc:creator>Tobias Bussiek</dc:creator>
  <cp:lastModifiedBy>Bussiek, Tobias</cp:lastModifiedBy>
  <cp:revision>10</cp:revision>
  <dcterms:created xsi:type="dcterms:W3CDTF">2026-04-27T06:49:58Z</dcterms:created>
  <dcterms:modified xsi:type="dcterms:W3CDTF">2026-04-28T02:07:06Z</dcterms:modified>
</cp:coreProperties>
</file>