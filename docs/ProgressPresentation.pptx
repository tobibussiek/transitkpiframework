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60" r:id="rId4"/>
    <p:sldId id="261" r:id="rId5"/>
    <p:sldId id="262"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A838"/>
    <a:srgbClr val="0D94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3" d="100"/>
          <a:sy n="153" d="100"/>
        </p:scale>
        <p:origin x="372"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1001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"Today I'm presenting my research proposal for this semester. It's centered on public transit performance measurement — specifically, on a problem that I think is more serious than it looks on the surface. The core question is: when an agency publishes an on-time performance number, how much should we actually trust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"Let me start with why this matters. SEPTA — Philadelphia's transit authority — defines a bus as on-time if it arrives within 5 minutes of schedule. But what if that window were 3 minutes? The number changes. What if they only measured at certain stops? Changes again. What if canceled trips counted as late instead of being excluded? Changes again.
None of those choices are wrong — they're all defensible. But they produce different numbers, and those numbers get reported publicly as precise facts. This creates three concrete problems..."
[Point to cards — keep it brief, the cards speak for themselves]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"In terms of where things stand — this is already running.
I have the GTFS static schedule downloaded — about 2.4 million rows across 42,000 trips. More importantly, I have a live archiver polling SEPTA's bus feed every 60 seconds and storing timestamped snapshots. SEPTA doesn't publish historical real-time data, so if I hadn't started collecting this now, I'd have nothing to analyze later.
The infrastructure is in place. The next step is to scope down to 2 or 3 specific bus routes and formally define the specification set."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"I've broken the semester into four phases. Right now I'm in Phase 1 — scoping routes and analyzing the static schedule. Phase 2 is parsing the real-time feeds and matching trips. Phase 3 is the core robustness analysis. Phase 4 is the dashboard and paper.
The sequencing is intentional — I want to fully understand the static data before touching real-time parsing, because that's where the complexity lives.
Let me also flag three risks I'm watching. First, SEPTA doesn't archive real-time data, so I'm self-archiving from week 1. Second, GTFS-RT gives predictions, not ground truth — I'm handling that by defining two separate KPI families. Third, scope — the research document describes seven KPIs. I'm starting with OTP only and expanding to headway metrics only if time permits."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"Let me close with the expected contribution, stated as clearly as I can.
The research questions are on screen. First: how much does OTP actually move when you vary reasonable preprocessing choices? Second: which choices drive the most variation?
The contribution has three parts. A sensitivity analysis showing how much OTP shifts under defensible specifications. An identification of which decisions — threshold, stop selection, cancellations — matter most. And a proposed minimum reporting standard so that any agency publishing a KPI can document its sensitivity range.
The pipeline, dashboard, and protocol checklist support that — they're the artifacts, not the finding.
Thank you.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83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A838"/>
          </a:solidFill>
          <a:ln/>
        </p:spPr>
        <p:txBody>
          <a:bodyPr/>
          <a:lstStyle/>
          <a:p>
            <a:endParaRPr lang="en-US"/>
          </a:p>
        </p:txBody>
      </p:sp>
      <p:sp>
        <p:nvSpPr>
          <p:cNvPr id="3" name="Text 1"/>
          <p:cNvSpPr/>
          <p:nvPr/>
        </p:nvSpPr>
        <p:spPr>
          <a:xfrm>
            <a:off x="548640" y="365760"/>
            <a:ext cx="7315200" cy="320040"/>
          </a:xfrm>
          <a:prstGeom prst="rect">
            <a:avLst/>
          </a:prstGeom>
          <a:noFill/>
          <a:ln/>
        </p:spPr>
        <p:txBody>
          <a:bodyPr wrap="square" lIns="0" tIns="0" rIns="0" bIns="0" rtlCol="0" anchor="ctr"/>
          <a:lstStyle/>
          <a:p>
            <a:pPr marL="0" indent="0">
              <a:buNone/>
            </a:pPr>
            <a:r>
              <a:rPr lang="en-US" sz="1100" b="1" kern="0" spc="400">
                <a:solidFill>
                  <a:srgbClr val="E8A838"/>
                </a:solidFill>
                <a:latin typeface="Calibri"/>
                <a:ea typeface="Calibri"/>
                <a:cs typeface="Calibri"/>
              </a:rPr>
              <a:t>PROGRESS UPDATE</a:t>
            </a:r>
            <a:endParaRPr lang="en-US" sz="1100">
              <a:latin typeface="Calibri"/>
              <a:ea typeface="Calibri"/>
              <a:cs typeface="Calibri"/>
            </a:endParaRPr>
          </a:p>
        </p:txBody>
      </p:sp>
      <p:sp>
        <p:nvSpPr>
          <p:cNvPr id="4" name="Text 2"/>
          <p:cNvSpPr/>
          <p:nvPr/>
        </p:nvSpPr>
        <p:spPr>
          <a:xfrm>
            <a:off x="548640" y="868680"/>
            <a:ext cx="6858000" cy="2011680"/>
          </a:xfrm>
          <a:prstGeom prst="rect">
            <a:avLst/>
          </a:prstGeom>
          <a:noFill/>
          <a:ln/>
        </p:spPr>
        <p:txBody>
          <a:bodyPr wrap="square" lIns="0" tIns="0" rIns="0" bIns="0" rtlCol="0" anchor="ctr"/>
          <a:lstStyle/>
          <a:p>
            <a:pPr marL="0" indent="0">
              <a:lnSpc>
                <a:spcPct val="115000"/>
              </a:lnSpc>
              <a:buNone/>
            </a:pPr>
            <a:r>
              <a:rPr lang="en-US" sz="3600" b="1" dirty="0">
                <a:solidFill>
                  <a:srgbClr val="FFFFFF"/>
                </a:solidFill>
                <a:latin typeface="Georgia" pitchFamily="34" charset="0"/>
                <a:ea typeface="Georgia" pitchFamily="34" charset="-122"/>
                <a:cs typeface="Georgia" pitchFamily="34" charset="-120"/>
              </a:rPr>
              <a:t>How Sensitive Is On-Time</a:t>
            </a:r>
            <a:endParaRPr lang="en-US" sz="3600" dirty="0"/>
          </a:p>
          <a:p>
            <a:pPr marL="0" indent="0">
              <a:lnSpc>
                <a:spcPct val="115000"/>
              </a:lnSpc>
              <a:buNone/>
            </a:pPr>
            <a:r>
              <a:rPr lang="en-US" sz="3600" b="1" dirty="0">
                <a:solidFill>
                  <a:srgbClr val="FFFFFF"/>
                </a:solidFill>
                <a:latin typeface="Georgia" pitchFamily="34" charset="0"/>
                <a:ea typeface="Georgia" pitchFamily="34" charset="-122"/>
                <a:cs typeface="Georgia" pitchFamily="34" charset="-120"/>
              </a:rPr>
              <a:t>Performance to</a:t>
            </a:r>
            <a:endParaRPr lang="en-US" sz="3600" dirty="0"/>
          </a:p>
          <a:p>
            <a:pPr marL="0" indent="0">
              <a:lnSpc>
                <a:spcPct val="115000"/>
              </a:lnSpc>
              <a:buNone/>
            </a:pPr>
            <a:r>
              <a:rPr lang="en-US" sz="3600" b="1" dirty="0">
                <a:solidFill>
                  <a:srgbClr val="FFFFFF"/>
                </a:solidFill>
                <a:latin typeface="Georgia" pitchFamily="34" charset="0"/>
                <a:ea typeface="Georgia" pitchFamily="34" charset="-122"/>
                <a:cs typeface="Georgia" pitchFamily="34" charset="-120"/>
              </a:rPr>
              <a:t>Measurement Choices?</a:t>
            </a:r>
            <a:endParaRPr lang="en-US" sz="3600" dirty="0"/>
          </a:p>
        </p:txBody>
      </p:sp>
      <p:sp>
        <p:nvSpPr>
          <p:cNvPr id="5" name="Text 3"/>
          <p:cNvSpPr/>
          <p:nvPr/>
        </p:nvSpPr>
        <p:spPr>
          <a:xfrm>
            <a:off x="548640" y="2971800"/>
            <a:ext cx="6400800" cy="457200"/>
          </a:xfrm>
          <a:prstGeom prst="rect">
            <a:avLst/>
          </a:prstGeom>
          <a:noFill/>
          <a:ln/>
        </p:spPr>
        <p:txBody>
          <a:bodyPr wrap="square" lIns="0" tIns="0" rIns="0" bIns="0" rtlCol="0" anchor="ctr"/>
          <a:lstStyle/>
          <a:p>
            <a:pPr marL="0" indent="0">
              <a:buNone/>
            </a:pPr>
            <a:r>
              <a:rPr lang="en-US" sz="1700" i="1" dirty="0">
                <a:solidFill>
                  <a:srgbClr val="94A3B8"/>
                </a:solidFill>
                <a:latin typeface="Calibri" pitchFamily="34" charset="0"/>
                <a:ea typeface="Calibri" pitchFamily="34" charset="-122"/>
                <a:cs typeface="Calibri" pitchFamily="34" charset="-120"/>
              </a:rPr>
              <a:t>A Robustness Protocol for Public Transit KPIs</a:t>
            </a:r>
            <a:endParaRPr lang="en-US" sz="1700" dirty="0"/>
          </a:p>
        </p:txBody>
      </p:sp>
      <p:sp>
        <p:nvSpPr>
          <p:cNvPr id="6" name="Shape 4"/>
          <p:cNvSpPr/>
          <p:nvPr/>
        </p:nvSpPr>
        <p:spPr>
          <a:xfrm>
            <a:off x="548640" y="4114800"/>
            <a:ext cx="5029200" cy="0"/>
          </a:xfrm>
          <a:prstGeom prst="line">
            <a:avLst/>
          </a:prstGeom>
          <a:noFill/>
          <a:ln w="9525">
            <a:solidFill>
              <a:srgbClr val="64748B"/>
            </a:solidFill>
            <a:prstDash val="solid"/>
          </a:ln>
        </p:spPr>
        <p:txBody>
          <a:bodyPr/>
          <a:lstStyle/>
          <a:p>
            <a:endParaRPr lang="en-US"/>
          </a:p>
        </p:txBody>
      </p:sp>
      <p:sp>
        <p:nvSpPr>
          <p:cNvPr id="7" name="Text 5"/>
          <p:cNvSpPr/>
          <p:nvPr/>
        </p:nvSpPr>
        <p:spPr>
          <a:xfrm>
            <a:off x="548640" y="4251960"/>
            <a:ext cx="7315200" cy="320040"/>
          </a:xfrm>
          <a:prstGeom prst="rect">
            <a:avLst/>
          </a:prstGeom>
          <a:noFill/>
          <a:ln/>
        </p:spPr>
        <p:txBody>
          <a:bodyPr wrap="square" lIns="0" tIns="0" rIns="0" bIns="0" rtlCol="0" anchor="ctr"/>
          <a:lstStyle/>
          <a:p>
            <a:pPr marL="0" indent="0">
              <a:buNone/>
            </a:pPr>
            <a:r>
              <a:rPr lang="en-US" sz="1300" b="1" dirty="0">
                <a:solidFill>
                  <a:srgbClr val="E8A838"/>
                </a:solidFill>
                <a:latin typeface="Calibri" pitchFamily="34" charset="0"/>
                <a:ea typeface="Calibri" pitchFamily="34" charset="-122"/>
                <a:cs typeface="Calibri" pitchFamily="34" charset="-120"/>
              </a:rPr>
              <a:t>Tobias Bussiek</a:t>
            </a:r>
            <a:endParaRPr lang="en-US" sz="1300" dirty="0"/>
          </a:p>
        </p:txBody>
      </p:sp>
      <p:sp>
        <p:nvSpPr>
          <p:cNvPr id="8" name="Text 6"/>
          <p:cNvSpPr/>
          <p:nvPr/>
        </p:nvSpPr>
        <p:spPr>
          <a:xfrm>
            <a:off x="548640" y="4572000"/>
            <a:ext cx="365760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April 2026</a:t>
            </a:r>
            <a:endParaRPr lang="en-US" sz="1100" dirty="0"/>
          </a:p>
        </p:txBody>
      </p:sp>
      <p:pic>
        <p:nvPicPr>
          <p:cNvPr id="9" name="Image 0" descr="preencoded.png"/>
          <p:cNvPicPr>
            <a:picLocks noChangeAspect="1"/>
          </p:cNvPicPr>
          <p:nvPr/>
        </p:nvPicPr>
        <p:blipFill>
          <a:blip r:embed="rId3"/>
          <a:stretch>
            <a:fillRect/>
          </a:stretch>
        </p:blipFill>
        <p:spPr>
          <a:xfrm>
            <a:off x="8046720" y="3931920"/>
            <a:ext cx="731520" cy="731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2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2838"/>
          </a:solidFill>
          <a:ln/>
        </p:spPr>
        <p:txBody>
          <a:bodyPr/>
          <a:lstStyle/>
          <a:p>
            <a:endParaRPr lang="en-US"/>
          </a:p>
        </p:txBody>
      </p:sp>
      <p:sp>
        <p:nvSpPr>
          <p:cNvPr id="3" name="Text 1"/>
          <p:cNvSpPr/>
          <p:nvPr/>
        </p:nvSpPr>
        <p:spPr>
          <a:xfrm>
            <a:off x="457200" y="137160"/>
            <a:ext cx="4572000" cy="365760"/>
          </a:xfrm>
          <a:prstGeom prst="rect">
            <a:avLst/>
          </a:prstGeom>
          <a:noFill/>
          <a:ln/>
        </p:spPr>
        <p:txBody>
          <a:bodyPr wrap="square" lIns="0" tIns="0" rIns="0" bIns="0" rtlCol="0" anchor="ctr"/>
          <a:lstStyle/>
          <a:p>
            <a:pPr marL="0" indent="0">
              <a:buNone/>
            </a:pPr>
            <a:r>
              <a:rPr lang="en-US" sz="1200" b="1" kern="0" spc="400" dirty="0">
                <a:solidFill>
                  <a:srgbClr val="E8A838"/>
                </a:solidFill>
                <a:latin typeface="Calibri" pitchFamily="34" charset="0"/>
                <a:ea typeface="Calibri" pitchFamily="34" charset="-122"/>
                <a:cs typeface="Calibri" pitchFamily="34" charset="-120"/>
              </a:rPr>
              <a:t>MOTIVATION</a:t>
            </a:r>
            <a:endParaRPr lang="en-US" sz="1200" dirty="0"/>
          </a:p>
        </p:txBody>
      </p:sp>
      <p:sp>
        <p:nvSpPr>
          <p:cNvPr id="4" name="Shape 2"/>
          <p:cNvSpPr/>
          <p:nvPr/>
        </p:nvSpPr>
        <p:spPr>
          <a:xfrm>
            <a:off x="457200" y="868680"/>
            <a:ext cx="8229600" cy="914400"/>
          </a:xfrm>
          <a:prstGeom prst="rect">
            <a:avLst/>
          </a:prstGeom>
          <a:solidFill>
            <a:srgbClr val="243447"/>
          </a:solidFill>
          <a:ln/>
        </p:spPr>
        <p:txBody>
          <a:bodyPr/>
          <a:lstStyle/>
          <a:p>
            <a:endParaRPr lang="en-US"/>
          </a:p>
        </p:txBody>
      </p:sp>
      <p:sp>
        <p:nvSpPr>
          <p:cNvPr id="5" name="Text 3"/>
          <p:cNvSpPr/>
          <p:nvPr/>
        </p:nvSpPr>
        <p:spPr>
          <a:xfrm>
            <a:off x="731520" y="914400"/>
            <a:ext cx="7680960" cy="822960"/>
          </a:xfrm>
          <a:prstGeom prst="rect">
            <a:avLst/>
          </a:prstGeom>
          <a:noFill/>
          <a:ln/>
        </p:spPr>
        <p:txBody>
          <a:bodyPr wrap="square" lIns="0" tIns="0" rIns="0" bIns="0" rtlCol="0" anchor="ctr"/>
          <a:lstStyle/>
          <a:p>
            <a:pPr marL="0" indent="0">
              <a:buNone/>
            </a:pPr>
            <a:r>
              <a:rPr lang="en-US" sz="1400" i="1" dirty="0">
                <a:solidFill>
                  <a:srgbClr val="F8F9FA"/>
                </a:solidFill>
                <a:latin typeface="Calibri" pitchFamily="34" charset="0"/>
                <a:ea typeface="Calibri" pitchFamily="34" charset="-122"/>
                <a:cs typeface="Calibri" pitchFamily="34" charset="-120"/>
              </a:rPr>
              <a:t>SEPTA says a bus is on time if it's within 5 minutes of schedule.
</a:t>
            </a:r>
            <a:r>
              <a:rPr lang="en-US" sz="1300" i="1" dirty="0">
                <a:solidFill>
                  <a:srgbClr val="94A3B8"/>
                </a:solidFill>
                <a:latin typeface="Calibri" pitchFamily="34" charset="0"/>
                <a:ea typeface="Calibri" pitchFamily="34" charset="-122"/>
                <a:cs typeface="Calibri" pitchFamily="34" charset="-120"/>
              </a:rPr>
              <a:t>What if that window were 3 minutes? What if they only measured at certain stops?</a:t>
            </a:r>
            <a:endParaRPr lang="en-US" sz="1400" dirty="0"/>
          </a:p>
          <a:p>
            <a:pPr marL="0" indent="0">
              <a:buNone/>
            </a:pPr>
            <a:r>
              <a:rPr lang="en-US" sz="1300" i="1" dirty="0">
                <a:solidFill>
                  <a:srgbClr val="94A3B8"/>
                </a:solidFill>
                <a:latin typeface="Calibri" pitchFamily="34" charset="0"/>
                <a:ea typeface="Calibri" pitchFamily="34" charset="-122"/>
                <a:cs typeface="Calibri" pitchFamily="34" charset="-120"/>
              </a:rPr>
              <a:t>The number changes each time — but it's reported as a single fact.</a:t>
            </a:r>
            <a:endParaRPr lang="en-US" sz="1400" dirty="0"/>
          </a:p>
        </p:txBody>
      </p:sp>
      <p:sp>
        <p:nvSpPr>
          <p:cNvPr id="6" name="Shape 4"/>
          <p:cNvSpPr/>
          <p:nvPr/>
        </p:nvSpPr>
        <p:spPr>
          <a:xfrm>
            <a:off x="457200" y="2057400"/>
            <a:ext cx="2606040" cy="2788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7" name="Shape 5"/>
          <p:cNvSpPr/>
          <p:nvPr/>
        </p:nvSpPr>
        <p:spPr>
          <a:xfrm>
            <a:off x="457200" y="2057400"/>
            <a:ext cx="2606040" cy="54864"/>
          </a:xfrm>
          <a:prstGeom prst="rect">
            <a:avLst/>
          </a:prstGeom>
          <a:solidFill>
            <a:srgbClr val="E8A838"/>
          </a:solidFill>
          <a:ln/>
        </p:spPr>
        <p:txBody>
          <a:bodyPr/>
          <a:lstStyle/>
          <a:p>
            <a:endParaRPr lang="en-US"/>
          </a:p>
        </p:txBody>
      </p:sp>
      <p:sp>
        <p:nvSpPr>
          <p:cNvPr id="8" name="Text 6"/>
          <p:cNvSpPr/>
          <p:nvPr/>
        </p:nvSpPr>
        <p:spPr>
          <a:xfrm>
            <a:off x="640080" y="2331720"/>
            <a:ext cx="411480" cy="411480"/>
          </a:xfrm>
          <a:prstGeom prst="rect">
            <a:avLst/>
          </a:prstGeom>
          <a:solidFill>
            <a:srgbClr val="E8A838"/>
          </a:solid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9" name="Text 7"/>
          <p:cNvSpPr/>
          <p:nvPr/>
        </p:nvSpPr>
        <p:spPr>
          <a:xfrm>
            <a:off x="640080" y="2880360"/>
            <a:ext cx="2240280" cy="320040"/>
          </a:xfrm>
          <a:prstGeom prst="rect">
            <a:avLst/>
          </a:prstGeom>
          <a:noFill/>
          <a:ln/>
        </p:spPr>
        <p:txBody>
          <a:bodyPr wrap="square" lIns="0" tIns="0" rIns="0" bIns="0" rtlCol="0" anchor="ctr"/>
          <a:lstStyle/>
          <a:p>
            <a:pPr marL="0" indent="0">
              <a:buNone/>
            </a:pPr>
            <a:r>
              <a:rPr lang="en-US" sz="1600" b="1" dirty="0">
                <a:solidFill>
                  <a:srgbClr val="1E293B"/>
                </a:solidFill>
                <a:latin typeface="Georgia" pitchFamily="34" charset="0"/>
                <a:ea typeface="Georgia" pitchFamily="34" charset="-122"/>
                <a:cs typeface="Georgia" pitchFamily="34" charset="-120"/>
              </a:rPr>
              <a:t>Opaque numbers</a:t>
            </a:r>
            <a:endParaRPr lang="en-US" sz="1600" dirty="0"/>
          </a:p>
        </p:txBody>
      </p:sp>
      <p:sp>
        <p:nvSpPr>
          <p:cNvPr id="10" name="Text 8"/>
          <p:cNvSpPr/>
          <p:nvPr/>
        </p:nvSpPr>
        <p:spPr>
          <a:xfrm>
            <a:off x="640080" y="3246120"/>
            <a:ext cx="2240280" cy="1371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Agencies report OTP as one clean figure, hiding the definitional choices behind it.</a:t>
            </a:r>
            <a:endParaRPr lang="en-US" sz="1200" dirty="0"/>
          </a:p>
        </p:txBody>
      </p:sp>
      <p:sp>
        <p:nvSpPr>
          <p:cNvPr id="11" name="Shape 9"/>
          <p:cNvSpPr/>
          <p:nvPr/>
        </p:nvSpPr>
        <p:spPr>
          <a:xfrm>
            <a:off x="3291840" y="2057400"/>
            <a:ext cx="2606040" cy="2788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2" name="Shape 10"/>
          <p:cNvSpPr/>
          <p:nvPr/>
        </p:nvSpPr>
        <p:spPr>
          <a:xfrm>
            <a:off x="3291840" y="2057400"/>
            <a:ext cx="2606040" cy="54864"/>
          </a:xfrm>
          <a:prstGeom prst="rect">
            <a:avLst/>
          </a:prstGeom>
          <a:solidFill>
            <a:srgbClr val="0D9488"/>
          </a:solidFill>
          <a:ln/>
        </p:spPr>
        <p:txBody>
          <a:bodyPr/>
          <a:lstStyle/>
          <a:p>
            <a:endParaRPr lang="en-US"/>
          </a:p>
        </p:txBody>
      </p:sp>
      <p:sp>
        <p:nvSpPr>
          <p:cNvPr id="13" name="Text 11"/>
          <p:cNvSpPr/>
          <p:nvPr/>
        </p:nvSpPr>
        <p:spPr>
          <a:xfrm>
            <a:off x="3474720" y="2331720"/>
            <a:ext cx="411480" cy="411480"/>
          </a:xfrm>
          <a:prstGeom prst="rect">
            <a:avLst/>
          </a:prstGeom>
          <a:solidFill>
            <a:srgbClr val="0D9488"/>
          </a:solid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4" name="Text 12"/>
          <p:cNvSpPr/>
          <p:nvPr/>
        </p:nvSpPr>
        <p:spPr>
          <a:xfrm>
            <a:off x="3474720" y="2880360"/>
            <a:ext cx="2240280" cy="320040"/>
          </a:xfrm>
          <a:prstGeom prst="rect">
            <a:avLst/>
          </a:prstGeom>
          <a:noFill/>
          <a:ln/>
        </p:spPr>
        <p:txBody>
          <a:bodyPr wrap="square" lIns="0" tIns="0" rIns="0" bIns="0" rtlCol="0" anchor="ctr"/>
          <a:lstStyle/>
          <a:p>
            <a:pPr marL="0" indent="0">
              <a:buNone/>
            </a:pPr>
            <a:r>
              <a:rPr lang="en-US" sz="1600" b="1" dirty="0">
                <a:solidFill>
                  <a:srgbClr val="1E293B"/>
                </a:solidFill>
                <a:latin typeface="Georgia" pitchFamily="34" charset="0"/>
                <a:ea typeface="Georgia" pitchFamily="34" charset="-122"/>
                <a:cs typeface="Georgia" pitchFamily="34" charset="-120"/>
              </a:rPr>
              <a:t>Incomparable metrics</a:t>
            </a:r>
            <a:endParaRPr lang="en-US" sz="1600" dirty="0"/>
          </a:p>
        </p:txBody>
      </p:sp>
      <p:sp>
        <p:nvSpPr>
          <p:cNvPr id="15" name="Text 13"/>
          <p:cNvSpPr/>
          <p:nvPr/>
        </p:nvSpPr>
        <p:spPr>
          <a:xfrm>
            <a:off x="3474720" y="3246120"/>
            <a:ext cx="2240280" cy="1371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Two agencies both report "OTP" but measure it differently — comparisons are meaningless.</a:t>
            </a:r>
            <a:endParaRPr lang="en-US" sz="1200" dirty="0"/>
          </a:p>
        </p:txBody>
      </p:sp>
      <p:sp>
        <p:nvSpPr>
          <p:cNvPr id="16" name="Shape 14"/>
          <p:cNvSpPr/>
          <p:nvPr/>
        </p:nvSpPr>
        <p:spPr>
          <a:xfrm>
            <a:off x="6126480" y="2057400"/>
            <a:ext cx="2606040" cy="2788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7" name="Shape 15"/>
          <p:cNvSpPr/>
          <p:nvPr/>
        </p:nvSpPr>
        <p:spPr>
          <a:xfrm>
            <a:off x="6126480" y="2057400"/>
            <a:ext cx="2606040" cy="54864"/>
          </a:xfrm>
          <a:prstGeom prst="rect">
            <a:avLst/>
          </a:prstGeom>
          <a:solidFill>
            <a:srgbClr val="3B82F6"/>
          </a:solidFill>
          <a:ln/>
        </p:spPr>
        <p:txBody>
          <a:bodyPr/>
          <a:lstStyle/>
          <a:p>
            <a:endParaRPr lang="en-US"/>
          </a:p>
        </p:txBody>
      </p:sp>
      <p:sp>
        <p:nvSpPr>
          <p:cNvPr id="18" name="Text 16"/>
          <p:cNvSpPr/>
          <p:nvPr/>
        </p:nvSpPr>
        <p:spPr>
          <a:xfrm>
            <a:off x="6309360" y="2331720"/>
            <a:ext cx="411480" cy="411480"/>
          </a:xfrm>
          <a:prstGeom prst="rect">
            <a:avLst/>
          </a:prstGeom>
          <a:solidFill>
            <a:srgbClr val="3B82F6"/>
          </a:solidFill>
          <a:ln/>
        </p:spPr>
        <p:txBody>
          <a:bodyPr wrap="square"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9" name="Text 17"/>
          <p:cNvSpPr/>
          <p:nvPr/>
        </p:nvSpPr>
        <p:spPr>
          <a:xfrm>
            <a:off x="6309360" y="2880360"/>
            <a:ext cx="2240280" cy="320040"/>
          </a:xfrm>
          <a:prstGeom prst="rect">
            <a:avLst/>
          </a:prstGeom>
          <a:noFill/>
          <a:ln/>
        </p:spPr>
        <p:txBody>
          <a:bodyPr wrap="square" lIns="0" tIns="0" rIns="0" bIns="0" rtlCol="0" anchor="ctr"/>
          <a:lstStyle/>
          <a:p>
            <a:pPr marL="0" indent="0">
              <a:buNone/>
            </a:pPr>
            <a:r>
              <a:rPr lang="en-US" sz="1600" b="1" dirty="0">
                <a:solidFill>
                  <a:srgbClr val="1E293B"/>
                </a:solidFill>
                <a:latin typeface="Georgia" pitchFamily="34" charset="0"/>
                <a:ea typeface="Georgia" pitchFamily="34" charset="-122"/>
                <a:cs typeface="Georgia" pitchFamily="34" charset="-120"/>
              </a:rPr>
              <a:t>No sensitivity standard</a:t>
            </a:r>
            <a:endParaRPr lang="en-US" sz="1600" dirty="0"/>
          </a:p>
        </p:txBody>
      </p:sp>
      <p:sp>
        <p:nvSpPr>
          <p:cNvPr id="20" name="Text 18"/>
          <p:cNvSpPr/>
          <p:nvPr/>
        </p:nvSpPr>
        <p:spPr>
          <a:xfrm>
            <a:off x="6309360" y="3246120"/>
            <a:ext cx="2240280" cy="1371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Transit agencies do not appear to use a standard protocol for reporting how sensitive their KPIs are to definition choices.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2838"/>
          </a:solidFill>
          <a:ln/>
        </p:spPr>
        <p:txBody>
          <a:bodyPr/>
          <a:lstStyle/>
          <a:p>
            <a:endParaRPr lang="en-US"/>
          </a:p>
        </p:txBody>
      </p:sp>
      <p:sp>
        <p:nvSpPr>
          <p:cNvPr id="3" name="Text 1"/>
          <p:cNvSpPr/>
          <p:nvPr/>
        </p:nvSpPr>
        <p:spPr>
          <a:xfrm>
            <a:off x="457200" y="137160"/>
            <a:ext cx="7315200" cy="365760"/>
          </a:xfrm>
          <a:prstGeom prst="rect">
            <a:avLst/>
          </a:prstGeom>
          <a:noFill/>
          <a:ln/>
        </p:spPr>
        <p:txBody>
          <a:bodyPr wrap="square" lIns="0" tIns="0" rIns="0" bIns="0" rtlCol="0" anchor="ctr"/>
          <a:lstStyle/>
          <a:p>
            <a:pPr marL="0" indent="0">
              <a:buNone/>
            </a:pPr>
            <a:r>
              <a:rPr lang="en-US" sz="1200" b="1" kern="0" spc="400" dirty="0">
                <a:solidFill>
                  <a:srgbClr val="E8A838"/>
                </a:solidFill>
                <a:latin typeface="Calibri" pitchFamily="34" charset="0"/>
                <a:ea typeface="Calibri" pitchFamily="34" charset="-122"/>
                <a:cs typeface="Calibri" pitchFamily="34" charset="-120"/>
              </a:rPr>
              <a:t>DATA &amp; CURRENT STATUS</a:t>
            </a:r>
            <a:endParaRPr lang="en-US" sz="1200" dirty="0"/>
          </a:p>
        </p:txBody>
      </p:sp>
      <p:sp>
        <p:nvSpPr>
          <p:cNvPr id="4" name="Text 2"/>
          <p:cNvSpPr/>
          <p:nvPr/>
        </p:nvSpPr>
        <p:spPr>
          <a:xfrm>
            <a:off x="457200" y="822960"/>
            <a:ext cx="8229600" cy="411480"/>
          </a:xfrm>
          <a:prstGeom prst="rect">
            <a:avLst/>
          </a:prstGeom>
          <a:noFill/>
          <a:ln/>
        </p:spPr>
        <p:txBody>
          <a:bodyPr wrap="square" lIns="0" tIns="0" rIns="0" bIns="0" rtlCol="0" anchor="ctr"/>
          <a:lstStyle/>
          <a:p>
            <a:pPr marL="0" indent="0">
              <a:buNone/>
            </a:pPr>
            <a:r>
              <a:rPr lang="en-US" sz="2200" b="1" dirty="0">
                <a:solidFill>
                  <a:srgbClr val="1E293B"/>
                </a:solidFill>
                <a:latin typeface="Georgia" pitchFamily="34" charset="0"/>
                <a:ea typeface="Georgia" pitchFamily="34" charset="-122"/>
                <a:cs typeface="Georgia" pitchFamily="34" charset="-120"/>
              </a:rPr>
              <a:t>Current Progress</a:t>
            </a:r>
            <a:endParaRPr lang="en-US" sz="2200" dirty="0"/>
          </a:p>
        </p:txBody>
      </p:sp>
      <p:sp>
        <p:nvSpPr>
          <p:cNvPr id="5" name="Text 3"/>
          <p:cNvSpPr/>
          <p:nvPr/>
        </p:nvSpPr>
        <p:spPr>
          <a:xfrm>
            <a:off x="457200" y="1371600"/>
            <a:ext cx="3657600" cy="274320"/>
          </a:xfrm>
          <a:prstGeom prst="rect">
            <a:avLst/>
          </a:prstGeom>
          <a:noFill/>
          <a:ln/>
        </p:spPr>
        <p:txBody>
          <a:bodyPr wrap="square" lIns="0" tIns="0" rIns="0" bIns="0" rtlCol="0" anchor="ctr"/>
          <a:lstStyle/>
          <a:p>
            <a:pPr marL="0" indent="0">
              <a:buNone/>
            </a:pPr>
            <a:r>
              <a:rPr lang="en-US" sz="1000" b="1" kern="0" spc="300" dirty="0">
                <a:solidFill>
                  <a:srgbClr val="E8A838"/>
                </a:solidFill>
                <a:latin typeface="Calibri" pitchFamily="34" charset="0"/>
                <a:ea typeface="Calibri" pitchFamily="34" charset="-122"/>
                <a:cs typeface="Calibri" pitchFamily="34" charset="-120"/>
              </a:rPr>
              <a:t>DATA SOURCES</a:t>
            </a:r>
            <a:endParaRPr lang="en-US" sz="1000" dirty="0"/>
          </a:p>
        </p:txBody>
      </p:sp>
      <p:sp>
        <p:nvSpPr>
          <p:cNvPr id="6" name="Shape 4"/>
          <p:cNvSpPr/>
          <p:nvPr/>
        </p:nvSpPr>
        <p:spPr>
          <a:xfrm>
            <a:off x="457200" y="1737360"/>
            <a:ext cx="3931920" cy="685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7" name="Shape 5"/>
          <p:cNvSpPr/>
          <p:nvPr/>
        </p:nvSpPr>
        <p:spPr>
          <a:xfrm>
            <a:off x="457200" y="1737360"/>
            <a:ext cx="54864" cy="685800"/>
          </a:xfrm>
          <a:prstGeom prst="rect">
            <a:avLst/>
          </a:prstGeom>
          <a:solidFill>
            <a:srgbClr val="E8A838"/>
          </a:solidFill>
          <a:ln/>
        </p:spPr>
        <p:txBody>
          <a:bodyPr/>
          <a:lstStyle/>
          <a:p>
            <a:endParaRPr lang="en-US"/>
          </a:p>
        </p:txBody>
      </p:sp>
      <p:sp>
        <p:nvSpPr>
          <p:cNvPr id="8" name="Text 6"/>
          <p:cNvSpPr/>
          <p:nvPr/>
        </p:nvSpPr>
        <p:spPr>
          <a:xfrm>
            <a:off x="685800" y="1810512"/>
            <a:ext cx="347472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SEPTA GTFS Static</a:t>
            </a:r>
            <a:endParaRPr lang="en-US" sz="1200" dirty="0"/>
          </a:p>
        </p:txBody>
      </p:sp>
      <p:sp>
        <p:nvSpPr>
          <p:cNvPr id="9" name="Text 7"/>
          <p:cNvSpPr/>
          <p:nvPr/>
        </p:nvSpPr>
        <p:spPr>
          <a:xfrm>
            <a:off x="685800" y="2084832"/>
            <a:ext cx="3474720" cy="274320"/>
          </a:xfrm>
          <a:prstGeom prst="rect">
            <a:avLst/>
          </a:prstGeom>
          <a:noFill/>
          <a:ln/>
        </p:spPr>
        <p:txBody>
          <a:bodyPr wrap="square" lIns="0" tIns="0" rIns="0" bIns="0" rtlCol="0" anchor="ctr"/>
          <a:lstStyle/>
          <a:p>
            <a:pPr marL="0" indent="0">
              <a:buNone/>
            </a:pPr>
            <a:r>
              <a:rPr lang="en-US" sz="1050">
                <a:solidFill>
                  <a:srgbClr val="64748B"/>
                </a:solidFill>
                <a:latin typeface="Calibri"/>
                <a:ea typeface="Calibri"/>
                <a:cs typeface="Calibri"/>
              </a:rPr>
              <a:t>Routes 23 &amp; 47, weekday service, April 2026</a:t>
            </a:r>
          </a:p>
        </p:txBody>
      </p:sp>
      <p:sp>
        <p:nvSpPr>
          <p:cNvPr id="10" name="Shape 8"/>
          <p:cNvSpPr/>
          <p:nvPr/>
        </p:nvSpPr>
        <p:spPr>
          <a:xfrm>
            <a:off x="457200" y="2560320"/>
            <a:ext cx="3931920" cy="685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1" name="Shape 9"/>
          <p:cNvSpPr/>
          <p:nvPr/>
        </p:nvSpPr>
        <p:spPr>
          <a:xfrm>
            <a:off x="457200" y="2560320"/>
            <a:ext cx="54864" cy="685800"/>
          </a:xfrm>
          <a:prstGeom prst="rect">
            <a:avLst/>
          </a:prstGeom>
          <a:solidFill>
            <a:srgbClr val="E8A838"/>
          </a:solidFill>
          <a:ln/>
        </p:spPr>
        <p:txBody>
          <a:bodyPr/>
          <a:lstStyle/>
          <a:p>
            <a:endParaRPr lang="en-US"/>
          </a:p>
        </p:txBody>
      </p:sp>
      <p:sp>
        <p:nvSpPr>
          <p:cNvPr id="12" name="Text 10"/>
          <p:cNvSpPr/>
          <p:nvPr/>
        </p:nvSpPr>
        <p:spPr>
          <a:xfrm>
            <a:off x="685800" y="2633472"/>
            <a:ext cx="347472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SEPTA GTFS-RT</a:t>
            </a:r>
            <a:endParaRPr lang="en-US" sz="1200" dirty="0"/>
          </a:p>
        </p:txBody>
      </p:sp>
      <p:sp>
        <p:nvSpPr>
          <p:cNvPr id="13" name="Text 11"/>
          <p:cNvSpPr/>
          <p:nvPr/>
        </p:nvSpPr>
        <p:spPr>
          <a:xfrm>
            <a:off x="685800" y="2907792"/>
            <a:ext cx="347472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Bus trip updates, self-archived since April 4th — SEPTA publishes no historical data</a:t>
            </a:r>
            <a:endParaRPr lang="en-US" sz="1050" dirty="0"/>
          </a:p>
        </p:txBody>
      </p:sp>
      <p:sp>
        <p:nvSpPr>
          <p:cNvPr id="14" name="Shape 12"/>
          <p:cNvSpPr/>
          <p:nvPr/>
        </p:nvSpPr>
        <p:spPr>
          <a:xfrm>
            <a:off x="457200" y="3383280"/>
            <a:ext cx="3931920" cy="685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5" name="Shape 13"/>
          <p:cNvSpPr/>
          <p:nvPr/>
        </p:nvSpPr>
        <p:spPr>
          <a:xfrm>
            <a:off x="457200" y="3383280"/>
            <a:ext cx="54864" cy="685800"/>
          </a:xfrm>
          <a:prstGeom prst="rect">
            <a:avLst/>
          </a:prstGeom>
          <a:solidFill>
            <a:srgbClr val="E8A838"/>
          </a:solidFill>
          <a:ln/>
        </p:spPr>
        <p:txBody>
          <a:bodyPr/>
          <a:lstStyle/>
          <a:p>
            <a:endParaRPr lang="en-US"/>
          </a:p>
        </p:txBody>
      </p:sp>
      <p:sp>
        <p:nvSpPr>
          <p:cNvPr id="16" name="Text 14"/>
          <p:cNvSpPr/>
          <p:nvPr/>
        </p:nvSpPr>
        <p:spPr>
          <a:xfrm>
            <a:off x="685800" y="3456432"/>
            <a:ext cx="347472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Analysis to date</a:t>
            </a:r>
            <a:endParaRPr lang="en-US" sz="1200" dirty="0"/>
          </a:p>
        </p:txBody>
      </p:sp>
      <p:sp>
        <p:nvSpPr>
          <p:cNvPr id="17" name="Text 15"/>
          <p:cNvSpPr/>
          <p:nvPr/>
        </p:nvSpPr>
        <p:spPr>
          <a:xfrm>
            <a:off x="685800" y="3730752"/>
            <a:ext cx="3474720" cy="2743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April 7th used as proof of concept — full multi-week rerun before May submission</a:t>
            </a:r>
            <a:endParaRPr lang="en-US" sz="1050" dirty="0"/>
          </a:p>
        </p:txBody>
      </p:sp>
      <p:sp>
        <p:nvSpPr>
          <p:cNvPr id="18" name="Text 16"/>
          <p:cNvSpPr/>
          <p:nvPr/>
        </p:nvSpPr>
        <p:spPr>
          <a:xfrm>
            <a:off x="4754880" y="1371600"/>
            <a:ext cx="4114800" cy="274320"/>
          </a:xfrm>
          <a:prstGeom prst="rect">
            <a:avLst/>
          </a:prstGeom>
          <a:noFill/>
          <a:ln/>
        </p:spPr>
        <p:txBody>
          <a:bodyPr wrap="square" lIns="0" tIns="0" rIns="0" bIns="0" rtlCol="0" anchor="ctr"/>
          <a:lstStyle/>
          <a:p>
            <a:pPr marL="0" indent="0">
              <a:buNone/>
            </a:pPr>
            <a:r>
              <a:rPr lang="en-US" sz="1000" b="1" kern="0" spc="300" dirty="0">
                <a:solidFill>
                  <a:srgbClr val="E8A838"/>
                </a:solidFill>
                <a:latin typeface="Calibri" pitchFamily="34" charset="0"/>
              </a:rPr>
              <a:t>EARLY RESULTS</a:t>
            </a:r>
          </a:p>
        </p:txBody>
      </p:sp>
      <p:sp>
        <p:nvSpPr>
          <p:cNvPr id="60" name="Shape 60"/>
          <p:cNvSpPr/>
          <p:nvPr/>
        </p:nvSpPr>
        <p:spPr>
          <a:xfrm>
            <a:off x="4754880" y="1691638"/>
            <a:ext cx="4023360" cy="731521"/>
          </a:xfrm>
          <a:prstGeom prst="rect">
            <a:avLst/>
          </a:prstGeom>
          <a:solidFill>
            <a:srgbClr val="1B2838"/>
          </a:solidFill>
          <a:ln/>
          <a:effectLst>
            <a:outerShdw blurRad="50800" dist="25400" dir="8100000" algn="bl" rotWithShape="0">
              <a:srgbClr val="000000">
                <a:alpha val="8000"/>
              </a:srgbClr>
            </a:outerShdw>
          </a:effectLst>
        </p:spPr>
        <p:txBody>
          <a:bodyPr wrap="square" lIns="182880" tIns="91440" rIns="182880" bIns="91440" rtlCol="0" anchor="ctr"/>
          <a:lstStyle/>
          <a:p>
            <a:pPr marL="0" indent="0" algn="ctr">
              <a:buNone/>
            </a:pPr>
            <a:r>
              <a:rPr lang="en-US" b="1" dirty="0">
                <a:solidFill>
                  <a:srgbClr val="FFFFFF"/>
                </a:solidFill>
                <a:latin typeface="Georgia" pitchFamily="34" charset="0"/>
              </a:rPr>
              <a:t>OTP ranged from 49% to 95%</a:t>
            </a:r>
          </a:p>
          <a:p>
            <a:pPr marL="0" indent="0" algn="ctr">
              <a:buNone/>
            </a:pPr>
            <a:r>
              <a:rPr lang="en-US" sz="900" dirty="0">
                <a:solidFill>
                  <a:srgbClr val="94A3B8"/>
                </a:solidFill>
                <a:latin typeface="Calibri" pitchFamily="34" charset="0"/>
              </a:rPr>
              <a:t>same buses · same day · different definitions</a:t>
            </a:r>
          </a:p>
        </p:txBody>
      </p:sp>
      <p:sp>
        <p:nvSpPr>
          <p:cNvPr id="61" name="Shape 61"/>
          <p:cNvSpPr/>
          <p:nvPr/>
        </p:nvSpPr>
        <p:spPr>
          <a:xfrm>
            <a:off x="4754880" y="2514600"/>
            <a:ext cx="402336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62" name="Text 62"/>
          <p:cNvSpPr/>
          <p:nvPr/>
        </p:nvSpPr>
        <p:spPr>
          <a:xfrm>
            <a:off x="4845960" y="2560320"/>
            <a:ext cx="3840480" cy="228600"/>
          </a:xfrm>
          <a:prstGeom prst="rect">
            <a:avLst/>
          </a:prstGeom>
          <a:noFill/>
          <a:ln/>
        </p:spPr>
        <p:txBody>
          <a:bodyPr wrap="square" lIns="91440" tIns="0" rIns="91440" bIns="0" rtlCol="0" anchor="ctr"/>
          <a:lstStyle/>
          <a:p>
            <a:pPr marL="0" indent="0">
              <a:buNone/>
            </a:pPr>
            <a:r>
              <a:rPr lang="en-US" sz="850" b="1" dirty="0">
                <a:solidFill>
                  <a:srgbClr val="94A3B8"/>
                </a:solidFill>
                <a:latin typeface="Calibri" pitchFamily="34" charset="0"/>
              </a:rPr>
              <a:t>Route           Strict (0–3)       Standard (−1 to +5)     Lenient (−2 to +7)</a:t>
            </a:r>
          </a:p>
        </p:txBody>
      </p:sp>
      <p:sp>
        <p:nvSpPr>
          <p:cNvPr id="63" name="Shape 63"/>
          <p:cNvSpPr/>
          <p:nvPr/>
        </p:nvSpPr>
        <p:spPr>
          <a:xfrm>
            <a:off x="4845960" y="2834640"/>
            <a:ext cx="3840480" cy="0"/>
          </a:xfrm>
          <a:prstGeom prst="line">
            <a:avLst/>
          </a:prstGeom>
          <a:noFill/>
          <a:ln w="9525">
            <a:solidFill>
              <a:srgbClr val="E2E8F0"/>
            </a:solidFill>
          </a:ln>
        </p:spPr>
        <p:txBody>
          <a:bodyPr/>
          <a:lstStyle/>
          <a:p>
            <a:endParaRPr lang="en-US"/>
          </a:p>
        </p:txBody>
      </p:sp>
      <p:sp>
        <p:nvSpPr>
          <p:cNvPr id="64" name="Text 64"/>
          <p:cNvSpPr/>
          <p:nvPr/>
        </p:nvSpPr>
        <p:spPr>
          <a:xfrm>
            <a:off x="4845960" y="2880360"/>
            <a:ext cx="3840480" cy="320040"/>
          </a:xfrm>
          <a:prstGeom prst="rect">
            <a:avLst/>
          </a:prstGeom>
          <a:noFill/>
          <a:ln/>
        </p:spPr>
        <p:txBody>
          <a:bodyPr wrap="square" lIns="91440" tIns="0" rIns="91440" bIns="0" rtlCol="0" anchor="ctr"/>
          <a:lstStyle/>
          <a:p>
            <a:pPr marL="0" indent="0">
              <a:buNone/>
            </a:pPr>
            <a:r>
              <a:rPr lang="en-US" sz="1100" b="1" dirty="0">
                <a:solidFill>
                  <a:srgbClr val="E8A838"/>
                </a:solidFill>
                <a:latin typeface="Calibri" pitchFamily="34" charset="0"/>
              </a:rPr>
              <a:t>Rt 23         </a:t>
            </a:r>
            <a:r>
              <a:rPr lang="en-US" sz="1100" dirty="0">
                <a:solidFill>
                  <a:srgbClr val="1E293B"/>
                </a:solidFill>
                <a:latin typeface="Calibri" pitchFamily="34" charset="0"/>
              </a:rPr>
              <a:t>49.2%              85.9%                    94.5%</a:t>
            </a:r>
          </a:p>
        </p:txBody>
      </p:sp>
      <p:sp>
        <p:nvSpPr>
          <p:cNvPr id="65" name="Text 65"/>
          <p:cNvSpPr/>
          <p:nvPr/>
        </p:nvSpPr>
        <p:spPr>
          <a:xfrm>
            <a:off x="4845960" y="3200400"/>
            <a:ext cx="3840480" cy="320040"/>
          </a:xfrm>
          <a:prstGeom prst="rect">
            <a:avLst/>
          </a:prstGeom>
          <a:noFill/>
          <a:ln/>
        </p:spPr>
        <p:txBody>
          <a:bodyPr wrap="square" lIns="91440" tIns="0" rIns="91440" bIns="0" rtlCol="0" anchor="ctr"/>
          <a:lstStyle/>
          <a:p>
            <a:pPr marL="0" indent="0">
              <a:buNone/>
            </a:pPr>
            <a:r>
              <a:rPr lang="en-US" sz="1100" b="1" dirty="0">
                <a:solidFill>
                  <a:srgbClr val="E8A838"/>
                </a:solidFill>
                <a:latin typeface="Calibri" pitchFamily="34" charset="0"/>
              </a:rPr>
              <a:t>Rt 47         </a:t>
            </a:r>
            <a:r>
              <a:rPr lang="en-US" sz="1100" dirty="0">
                <a:solidFill>
                  <a:srgbClr val="1E293B"/>
                </a:solidFill>
                <a:latin typeface="Calibri" pitchFamily="34" charset="0"/>
              </a:rPr>
              <a:t>44.3%              79.8%                    91.3%</a:t>
            </a:r>
          </a:p>
        </p:txBody>
      </p:sp>
      <p:sp>
        <p:nvSpPr>
          <p:cNvPr id="66" name="Text 66"/>
          <p:cNvSpPr/>
          <p:nvPr/>
        </p:nvSpPr>
        <p:spPr>
          <a:xfrm>
            <a:off x="4845960" y="3566160"/>
            <a:ext cx="3840480" cy="228600"/>
          </a:xfrm>
          <a:prstGeom prst="rect">
            <a:avLst/>
          </a:prstGeom>
          <a:noFill/>
          <a:ln/>
        </p:spPr>
        <p:txBody>
          <a:bodyPr wrap="square" lIns="91440" tIns="0" rIns="91440" bIns="0" rtlCol="0" anchor="ctr"/>
          <a:lstStyle/>
          <a:p>
            <a:pPr marL="0" indent="0">
              <a:buNone/>
            </a:pPr>
            <a:r>
              <a:rPr lang="en-US" sz="900" i="1" dirty="0">
                <a:solidFill>
                  <a:srgbClr val="64748B"/>
                </a:solidFill>
                <a:latin typeface="Calibri" pitchFamily="34" charset="0"/>
              </a:rPr>
              <a:t>Threshold alone drives a 45pp swing on Route 23</a:t>
            </a:r>
          </a:p>
        </p:txBody>
      </p:sp>
      <p:sp>
        <p:nvSpPr>
          <p:cNvPr id="23" name="Shape 21"/>
          <p:cNvSpPr/>
          <p:nvPr/>
        </p:nvSpPr>
        <p:spPr>
          <a:xfrm>
            <a:off x="457200" y="4434840"/>
            <a:ext cx="822960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pic>
        <p:nvPicPr>
          <p:cNvPr id="24" name="Image 0" descr="preencoded.png"/>
          <p:cNvPicPr>
            <a:picLocks noChangeAspect="1"/>
          </p:cNvPicPr>
          <p:nvPr/>
        </p:nvPicPr>
        <p:blipFill>
          <a:blip r:embed="rId3"/>
          <a:stretch>
            <a:fillRect/>
          </a:stretch>
        </p:blipFill>
        <p:spPr>
          <a:xfrm>
            <a:off x="640080" y="4526280"/>
            <a:ext cx="228600" cy="228600"/>
          </a:xfrm>
          <a:prstGeom prst="rect">
            <a:avLst/>
          </a:prstGeom>
        </p:spPr>
      </p:pic>
      <p:sp>
        <p:nvSpPr>
          <p:cNvPr id="25" name="Text 22"/>
          <p:cNvSpPr/>
          <p:nvPr/>
        </p:nvSpPr>
        <p:spPr>
          <a:xfrm>
            <a:off x="1005840" y="4462272"/>
            <a:ext cx="7315200" cy="411480"/>
          </a:xfrm>
          <a:prstGeom prst="rect">
            <a:avLst/>
          </a:prstGeom>
          <a:noFill/>
          <a:ln/>
        </p:spPr>
        <p:txBody>
          <a:bodyPr wrap="square" lIns="0" tIns="0" rIns="0" bIns="0" rtlCol="0" anchor="ctr"/>
          <a:lstStyle/>
          <a:p>
            <a:pPr marL="0" indent="0">
              <a:buNone/>
            </a:pPr>
            <a:r>
              <a:rPr lang="en-US" sz="1300" b="1" i="1" dirty="0">
                <a:solidFill>
                  <a:srgbClr val="1E293B"/>
                </a:solidFill>
                <a:latin typeface="Calibri" pitchFamily="34" charset="0"/>
                <a:ea typeface="Calibri" pitchFamily="34" charset="-122"/>
                <a:cs typeface="Calibri" pitchFamily="34" charset="-120"/>
              </a:rPr>
              <a:t>Phase 2 complete — current results from 1 weekday (Apr 7). Full analysis will use 3–4 weeks of weekday data collected by May.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EFF2F5"/>
        </a:solidFill>
        <a:effectLst/>
      </p:bgPr>
    </p:bg>
    <p:spTree>
      <p:nvGrpSpPr>
        <p:cNvPr id="1" name=""/>
        <p:cNvGrpSpPr/>
        <p:nvPr/>
      </p:nvGrpSpPr>
      <p:grpSpPr>
        <a:xfrm>
          <a:off x="0" y="0"/>
          <a:ext cx="0" cy="0"/>
          <a:chOff x="0" y="0"/>
          <a:chExt cx="0" cy="0"/>
        </a:xfrm>
      </p:grpSpPr>
      <p:sp>
        <p:nvSpPr>
          <p:cNvPr id="20" name="Shape 18"/>
          <p:cNvSpPr/>
          <p:nvPr/>
        </p:nvSpPr>
        <p:spPr>
          <a:xfrm>
            <a:off x="320040" y="927239"/>
            <a:ext cx="2011680" cy="2697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2" name="Shape 0"/>
          <p:cNvSpPr/>
          <p:nvPr/>
        </p:nvSpPr>
        <p:spPr>
          <a:xfrm>
            <a:off x="0" y="0"/>
            <a:ext cx="9144000" cy="640080"/>
          </a:xfrm>
          <a:prstGeom prst="rect">
            <a:avLst/>
          </a:prstGeom>
          <a:solidFill>
            <a:srgbClr val="1B2838"/>
          </a:solidFill>
          <a:ln/>
        </p:spPr>
        <p:txBody>
          <a:bodyPr/>
          <a:lstStyle/>
          <a:p>
            <a:endParaRPr lang="en-US"/>
          </a:p>
        </p:txBody>
      </p:sp>
      <p:sp>
        <p:nvSpPr>
          <p:cNvPr id="3" name="Text 1"/>
          <p:cNvSpPr/>
          <p:nvPr/>
        </p:nvSpPr>
        <p:spPr>
          <a:xfrm>
            <a:off x="457200" y="137160"/>
            <a:ext cx="4572000" cy="365760"/>
          </a:xfrm>
          <a:prstGeom prst="rect">
            <a:avLst/>
          </a:prstGeom>
          <a:noFill/>
          <a:ln/>
        </p:spPr>
        <p:txBody>
          <a:bodyPr wrap="square" lIns="0" tIns="0" rIns="0" bIns="0" rtlCol="0" anchor="ctr"/>
          <a:lstStyle/>
          <a:p>
            <a:pPr marL="0" indent="0">
              <a:buNone/>
            </a:pPr>
            <a:r>
              <a:rPr lang="en-US" sz="1200" b="1" kern="0" spc="400" dirty="0">
                <a:solidFill>
                  <a:srgbClr val="E8A838"/>
                </a:solidFill>
                <a:latin typeface="Calibri" pitchFamily="34" charset="0"/>
                <a:ea typeface="Calibri" pitchFamily="34" charset="-122"/>
                <a:cs typeface="Calibri" pitchFamily="34" charset="-120"/>
              </a:rPr>
              <a:t>TIMELINE &amp; RISKS</a:t>
            </a:r>
            <a:endParaRPr lang="en-US" sz="1200" dirty="0"/>
          </a:p>
        </p:txBody>
      </p:sp>
      <p:sp>
        <p:nvSpPr>
          <p:cNvPr id="4" name="Shape 2"/>
          <p:cNvSpPr/>
          <p:nvPr/>
        </p:nvSpPr>
        <p:spPr>
          <a:xfrm>
            <a:off x="4709160" y="923544"/>
            <a:ext cx="2011680" cy="2642616"/>
          </a:xfrm>
          <a:prstGeom prst="rect">
            <a:avLst/>
          </a:prstGeom>
          <a:solidFill>
            <a:srgbClr val="1B2838"/>
          </a:solidFill>
          <a:ln/>
          <a:effectLst>
            <a:outerShdw blurRad="50800" dist="25400" dir="8100000" algn="bl" rotWithShape="0">
              <a:srgbClr val="000000">
                <a:alpha val="8000"/>
              </a:srgbClr>
            </a:outerShdw>
          </a:effectLst>
        </p:spPr>
        <p:txBody>
          <a:bodyPr/>
          <a:lstStyle/>
          <a:p>
            <a:endParaRPr lang="en-US"/>
          </a:p>
        </p:txBody>
      </p:sp>
      <p:sp>
        <p:nvSpPr>
          <p:cNvPr id="5" name="Shape 3"/>
          <p:cNvSpPr/>
          <p:nvPr/>
        </p:nvSpPr>
        <p:spPr>
          <a:xfrm>
            <a:off x="4709160" y="863920"/>
            <a:ext cx="2011680" cy="54864"/>
          </a:xfrm>
          <a:prstGeom prst="rect">
            <a:avLst/>
          </a:prstGeom>
          <a:solidFill>
            <a:srgbClr val="E8A838"/>
          </a:solidFill>
          <a:ln/>
        </p:spPr>
        <p:txBody>
          <a:bodyPr/>
          <a:lstStyle/>
          <a:p>
            <a:endParaRPr lang="en-US"/>
          </a:p>
        </p:txBody>
      </p:sp>
      <p:sp>
        <p:nvSpPr>
          <p:cNvPr id="6" name="Text 4"/>
          <p:cNvSpPr/>
          <p:nvPr/>
        </p:nvSpPr>
        <p:spPr>
          <a:xfrm>
            <a:off x="4846320" y="1051560"/>
            <a:ext cx="1737360" cy="201168"/>
          </a:xfrm>
          <a:prstGeom prst="rect">
            <a:avLst/>
          </a:prstGeom>
          <a:noFill/>
          <a:ln/>
        </p:spPr>
        <p:txBody>
          <a:bodyPr wrap="square" lIns="0" tIns="0" rIns="0" bIns="0" rtlCol="0" anchor="ctr"/>
          <a:lstStyle/>
          <a:p>
            <a:pPr marL="0" indent="0">
              <a:buNone/>
            </a:pPr>
            <a:r>
              <a:rPr lang="en-US" sz="900" b="1" kern="0" spc="300" dirty="0">
                <a:solidFill>
                  <a:srgbClr val="E8A838"/>
                </a:solidFill>
                <a:latin typeface="Calibri" pitchFamily="34" charset="0"/>
                <a:ea typeface="Calibri" pitchFamily="34" charset="-122"/>
                <a:cs typeface="Calibri" pitchFamily="34" charset="-120"/>
              </a:rPr>
              <a:t>NOW</a:t>
            </a:r>
            <a:endParaRPr lang="en-US" sz="900" dirty="0"/>
          </a:p>
        </p:txBody>
      </p:sp>
      <p:sp>
        <p:nvSpPr>
          <p:cNvPr id="7" name="Text 5"/>
          <p:cNvSpPr/>
          <p:nvPr/>
        </p:nvSpPr>
        <p:spPr>
          <a:xfrm>
            <a:off x="457200" y="1252728"/>
            <a:ext cx="1737360" cy="2286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Phase 1</a:t>
            </a:r>
            <a:endParaRPr lang="en-US" sz="1200" dirty="0"/>
          </a:p>
        </p:txBody>
      </p:sp>
      <p:sp>
        <p:nvSpPr>
          <p:cNvPr id="8" name="Text 6"/>
          <p:cNvSpPr/>
          <p:nvPr/>
        </p:nvSpPr>
        <p:spPr>
          <a:xfrm>
            <a:off x="457200" y="1508760"/>
            <a:ext cx="1737360" cy="502920"/>
          </a:xfrm>
          <a:prstGeom prst="rect">
            <a:avLst/>
          </a:prstGeom>
          <a:noFill/>
          <a:ln/>
        </p:spPr>
        <p:txBody>
          <a:bodyPr wrap="square" lIns="0" tIns="0" rIns="0" bIns="0" rtlCol="0" anchor="ctr"/>
          <a:lstStyle/>
          <a:p>
            <a:pPr marL="0" indent="0">
              <a:buNone/>
            </a:pPr>
            <a:r>
              <a:rPr lang="en-US" sz="1400" b="1" dirty="0">
                <a:solidFill>
                  <a:srgbClr val="0D9488"/>
                </a:solidFill>
                <a:latin typeface="Georgia" pitchFamily="34" charset="0"/>
                <a:ea typeface="Georgia" pitchFamily="34" charset="-122"/>
                <a:cs typeface="Georgia" pitchFamily="34" charset="-120"/>
              </a:rPr>
              <a:t>Scope + Static</a:t>
            </a:r>
            <a:endParaRPr lang="en-US" sz="1400" dirty="0">
              <a:solidFill>
                <a:srgbClr val="0D9488"/>
              </a:solidFill>
            </a:endParaRPr>
          </a:p>
          <a:p>
            <a:pPr marL="0" indent="0">
              <a:buNone/>
            </a:pPr>
            <a:r>
              <a:rPr lang="en-US" sz="1400" b="1" dirty="0">
                <a:solidFill>
                  <a:srgbClr val="0D9488"/>
                </a:solidFill>
                <a:latin typeface="Georgia" pitchFamily="34" charset="0"/>
                <a:ea typeface="Georgia" pitchFamily="34" charset="-122"/>
                <a:cs typeface="Georgia" pitchFamily="34" charset="-120"/>
              </a:rPr>
              <a:t>Analysis</a:t>
            </a:r>
            <a:endParaRPr lang="en-US" sz="1400" dirty="0">
              <a:solidFill>
                <a:srgbClr val="0D9488"/>
              </a:solidFill>
            </a:endParaRPr>
          </a:p>
        </p:txBody>
      </p:sp>
      <p:sp>
        <p:nvSpPr>
          <p:cNvPr id="9" name="Text 7"/>
          <p:cNvSpPr/>
          <p:nvPr/>
        </p:nvSpPr>
        <p:spPr>
          <a:xfrm>
            <a:off x="457200" y="2103120"/>
            <a:ext cx="1737360" cy="32004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  Routes 23 &amp; 47 selected</a:t>
            </a:r>
            <a:endParaRPr lang="en-US" sz="1050" dirty="0"/>
          </a:p>
        </p:txBody>
      </p:sp>
      <p:sp>
        <p:nvSpPr>
          <p:cNvPr id="10" name="Text 8"/>
          <p:cNvSpPr/>
          <p:nvPr/>
        </p:nvSpPr>
        <p:spPr>
          <a:xfrm>
            <a:off x="457200" y="2468880"/>
            <a:ext cx="1737360" cy="32004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  Initial Spec set defined (5 dimensions)</a:t>
            </a:r>
            <a:endParaRPr lang="en-US" sz="1050" dirty="0"/>
          </a:p>
        </p:txBody>
      </p:sp>
      <p:sp>
        <p:nvSpPr>
          <p:cNvPr id="11" name="Text 9"/>
          <p:cNvSpPr/>
          <p:nvPr/>
        </p:nvSpPr>
        <p:spPr>
          <a:xfrm>
            <a:off x="457200" y="2834640"/>
            <a:ext cx="1737360" cy="32004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  Headways + schedules explored</a:t>
            </a:r>
            <a:endParaRPr lang="en-US" sz="1050" dirty="0"/>
          </a:p>
        </p:txBody>
      </p:sp>
      <p:sp>
        <p:nvSpPr>
          <p:cNvPr id="12" name="Shape 10"/>
          <p:cNvSpPr/>
          <p:nvPr/>
        </p:nvSpPr>
        <p:spPr>
          <a:xfrm>
            <a:off x="2514600" y="868680"/>
            <a:ext cx="2011680" cy="2697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3" name="Shape 11"/>
          <p:cNvSpPr/>
          <p:nvPr/>
        </p:nvSpPr>
        <p:spPr>
          <a:xfrm>
            <a:off x="2514600" y="868680"/>
            <a:ext cx="2011680" cy="54864"/>
          </a:xfrm>
          <a:prstGeom prst="rect">
            <a:avLst/>
          </a:prstGeom>
          <a:solidFill>
            <a:srgbClr val="94A3B8"/>
          </a:solidFill>
          <a:ln/>
        </p:spPr>
        <p:txBody>
          <a:bodyPr/>
          <a:lstStyle/>
          <a:p>
            <a:endParaRPr lang="en-US"/>
          </a:p>
        </p:txBody>
      </p:sp>
      <p:sp>
        <p:nvSpPr>
          <p:cNvPr id="14" name="Text 12"/>
          <p:cNvSpPr/>
          <p:nvPr/>
        </p:nvSpPr>
        <p:spPr>
          <a:xfrm>
            <a:off x="2651760" y="1051560"/>
            <a:ext cx="1737360" cy="201168"/>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DONE</a:t>
            </a:r>
            <a:endParaRPr lang="en-US" sz="900" dirty="0"/>
          </a:p>
        </p:txBody>
      </p:sp>
      <p:sp>
        <p:nvSpPr>
          <p:cNvPr id="15" name="Text 13"/>
          <p:cNvSpPr/>
          <p:nvPr/>
        </p:nvSpPr>
        <p:spPr>
          <a:xfrm>
            <a:off x="2651760" y="1252728"/>
            <a:ext cx="173736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Phase 2</a:t>
            </a:r>
            <a:endParaRPr lang="en-US" sz="1200" dirty="0"/>
          </a:p>
        </p:txBody>
      </p:sp>
      <p:sp>
        <p:nvSpPr>
          <p:cNvPr id="16" name="Text 14"/>
          <p:cNvSpPr/>
          <p:nvPr/>
        </p:nvSpPr>
        <p:spPr>
          <a:xfrm>
            <a:off x="2651760" y="1508760"/>
            <a:ext cx="1737360" cy="502920"/>
          </a:xfrm>
          <a:prstGeom prst="rect">
            <a:avLst/>
          </a:prstGeom>
          <a:noFill/>
          <a:ln/>
        </p:spPr>
        <p:txBody>
          <a:bodyPr wrap="square" lIns="0" tIns="0" rIns="0" bIns="0" rtlCol="0" anchor="ctr"/>
          <a:lstStyle/>
          <a:p>
            <a:pPr marL="0" indent="0">
              <a:buNone/>
            </a:pPr>
            <a:r>
              <a:rPr lang="en-US" sz="1400" b="1" dirty="0">
                <a:solidFill>
                  <a:srgbClr val="0D9488"/>
                </a:solidFill>
                <a:latin typeface="Georgia" pitchFamily="34" charset="0"/>
                <a:ea typeface="Georgia" pitchFamily="34" charset="-122"/>
                <a:cs typeface="Georgia" pitchFamily="34" charset="-120"/>
              </a:rPr>
              <a:t>Parse</a:t>
            </a:r>
            <a:endParaRPr lang="en-US" sz="1400" dirty="0"/>
          </a:p>
          <a:p>
            <a:pPr marL="0" indent="0">
              <a:buNone/>
            </a:pPr>
            <a:r>
              <a:rPr lang="en-US" sz="1400" b="1" dirty="0">
                <a:solidFill>
                  <a:srgbClr val="0D9488"/>
                </a:solidFill>
                <a:latin typeface="Georgia" pitchFamily="34" charset="0"/>
                <a:ea typeface="Georgia" pitchFamily="34" charset="-122"/>
                <a:cs typeface="Georgia" pitchFamily="34" charset="-120"/>
              </a:rPr>
              <a:t>GTFS-RT</a:t>
            </a:r>
            <a:endParaRPr lang="en-US" sz="1400" dirty="0"/>
          </a:p>
        </p:txBody>
      </p:sp>
      <p:sp>
        <p:nvSpPr>
          <p:cNvPr id="17" name="Text 15"/>
          <p:cNvSpPr/>
          <p:nvPr/>
        </p:nvSpPr>
        <p:spPr>
          <a:xfrm>
            <a:off x="2651760" y="2103120"/>
            <a:ext cx="1737360" cy="320040"/>
          </a:xfrm>
          <a:prstGeom prst="rect">
            <a:avLst/>
          </a:prstGeom>
          <a:noFill/>
          <a:ln/>
        </p:spPr>
        <p:txBody>
          <a:bodyPr wrap="square" lIns="0" tIns="0" rIns="0" bIns="0" rtlCol="0" anchor="ctr"/>
          <a:lstStyle/>
          <a:p>
            <a:r>
              <a:rPr lang="en-US" sz="1050" dirty="0">
                <a:solidFill>
                  <a:srgbClr val="64748B"/>
                </a:solidFill>
                <a:latin typeface="Calibri"/>
                <a:ea typeface="Calibri"/>
                <a:cs typeface="Calibri"/>
              </a:rPr>
              <a:t>✓  Decoded GTFS-RT protobuf</a:t>
            </a:r>
            <a:endParaRPr lang="en-US" sz="1050" dirty="0"/>
          </a:p>
        </p:txBody>
      </p:sp>
      <p:sp>
        <p:nvSpPr>
          <p:cNvPr id="18" name="Text 16"/>
          <p:cNvSpPr/>
          <p:nvPr/>
        </p:nvSpPr>
        <p:spPr>
          <a:xfrm>
            <a:off x="2651760" y="2468880"/>
            <a:ext cx="1737360" cy="3200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Matched trips to schedule</a:t>
            </a:r>
            <a:endParaRPr lang="en-US" sz="1050" dirty="0"/>
          </a:p>
        </p:txBody>
      </p:sp>
      <p:sp>
        <p:nvSpPr>
          <p:cNvPr id="19" name="Text 17"/>
          <p:cNvSpPr/>
          <p:nvPr/>
        </p:nvSpPr>
        <p:spPr>
          <a:xfrm>
            <a:off x="2651760" y="2834640"/>
            <a:ext cx="1737360" cy="3200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First OTP results computed</a:t>
            </a:r>
            <a:endParaRPr lang="en-US" sz="1050" dirty="0"/>
          </a:p>
        </p:txBody>
      </p:sp>
      <p:sp>
        <p:nvSpPr>
          <p:cNvPr id="21" name="Shape 19"/>
          <p:cNvSpPr/>
          <p:nvPr/>
        </p:nvSpPr>
        <p:spPr>
          <a:xfrm>
            <a:off x="320040" y="875575"/>
            <a:ext cx="2011680" cy="54864"/>
          </a:xfrm>
          <a:prstGeom prst="rect">
            <a:avLst/>
          </a:prstGeom>
          <a:solidFill>
            <a:srgbClr val="94A3B8"/>
          </a:solidFill>
          <a:ln/>
        </p:spPr>
        <p:txBody>
          <a:bodyPr/>
          <a:lstStyle/>
          <a:p>
            <a:endParaRPr lang="en-US"/>
          </a:p>
        </p:txBody>
      </p:sp>
      <p:sp>
        <p:nvSpPr>
          <p:cNvPr id="23" name="Text 21"/>
          <p:cNvSpPr/>
          <p:nvPr/>
        </p:nvSpPr>
        <p:spPr>
          <a:xfrm>
            <a:off x="4846320" y="1252728"/>
            <a:ext cx="173736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Phase 3</a:t>
            </a:r>
            <a:endParaRPr lang="en-US" sz="1200" dirty="0"/>
          </a:p>
        </p:txBody>
      </p:sp>
      <p:sp>
        <p:nvSpPr>
          <p:cNvPr id="24" name="Text 22"/>
          <p:cNvSpPr/>
          <p:nvPr/>
        </p:nvSpPr>
        <p:spPr>
          <a:xfrm>
            <a:off x="4846320" y="1508760"/>
            <a:ext cx="1737360" cy="502920"/>
          </a:xfrm>
          <a:prstGeom prst="rect">
            <a:avLst/>
          </a:prstGeom>
          <a:noFill/>
          <a:ln/>
        </p:spPr>
        <p:txBody>
          <a:bodyPr wrap="square" lIns="0" tIns="0" rIns="0" bIns="0" rtlCol="0" anchor="ctr"/>
          <a:lstStyle/>
          <a:p>
            <a:pPr marL="0" indent="0">
              <a:buNone/>
            </a:pPr>
            <a:r>
              <a:rPr lang="en-US" sz="1400" b="1" dirty="0">
                <a:solidFill>
                  <a:srgbClr val="E8A838"/>
                </a:solidFill>
                <a:latin typeface="Georgia" pitchFamily="34" charset="0"/>
                <a:ea typeface="Georgia" pitchFamily="34" charset="-122"/>
                <a:cs typeface="Georgia" pitchFamily="34" charset="-120"/>
              </a:rPr>
              <a:t>Compute &amp;</a:t>
            </a:r>
            <a:endParaRPr lang="en-US" sz="1400" dirty="0">
              <a:solidFill>
                <a:srgbClr val="E8A838"/>
              </a:solidFill>
            </a:endParaRPr>
          </a:p>
          <a:p>
            <a:pPr marL="0" indent="0">
              <a:buNone/>
            </a:pPr>
            <a:r>
              <a:rPr lang="en-US" sz="1400" b="1" dirty="0">
                <a:solidFill>
                  <a:srgbClr val="E8A838"/>
                </a:solidFill>
                <a:latin typeface="Georgia" pitchFamily="34" charset="0"/>
                <a:ea typeface="Georgia" pitchFamily="34" charset="-122"/>
                <a:cs typeface="Georgia" pitchFamily="34" charset="-120"/>
              </a:rPr>
              <a:t>Compare</a:t>
            </a:r>
            <a:endParaRPr lang="en-US" sz="1400" dirty="0">
              <a:solidFill>
                <a:srgbClr val="E8A838"/>
              </a:solidFill>
            </a:endParaRPr>
          </a:p>
        </p:txBody>
      </p:sp>
      <p:sp>
        <p:nvSpPr>
          <p:cNvPr id="25" name="Text 23"/>
          <p:cNvSpPr/>
          <p:nvPr/>
        </p:nvSpPr>
        <p:spPr>
          <a:xfrm>
            <a:off x="4846320" y="2103120"/>
            <a:ext cx="1737360" cy="3200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More data (2+ weeks)</a:t>
            </a:r>
            <a:endParaRPr lang="en-US" sz="1050" dirty="0"/>
          </a:p>
        </p:txBody>
      </p:sp>
      <p:sp>
        <p:nvSpPr>
          <p:cNvPr id="26" name="Text 24"/>
          <p:cNvSpPr/>
          <p:nvPr/>
        </p:nvSpPr>
        <p:spPr>
          <a:xfrm>
            <a:off x="4846320" y="2468880"/>
            <a:ext cx="1737360" cy="3200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Driver variance analysis + more Specs </a:t>
            </a:r>
            <a:endParaRPr lang="en-US" sz="1050" dirty="0"/>
          </a:p>
        </p:txBody>
      </p:sp>
      <p:sp>
        <p:nvSpPr>
          <p:cNvPr id="27" name="Text 25"/>
          <p:cNvSpPr/>
          <p:nvPr/>
        </p:nvSpPr>
        <p:spPr>
          <a:xfrm>
            <a:off x="4846320" y="2834640"/>
            <a:ext cx="1737360" cy="3200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Power BI dashboard</a:t>
            </a:r>
            <a:endParaRPr lang="en-US" sz="1050" dirty="0"/>
          </a:p>
        </p:txBody>
      </p:sp>
      <p:sp>
        <p:nvSpPr>
          <p:cNvPr id="28" name="Shape 26"/>
          <p:cNvSpPr/>
          <p:nvPr/>
        </p:nvSpPr>
        <p:spPr>
          <a:xfrm>
            <a:off x="6903720" y="868680"/>
            <a:ext cx="2011680" cy="2697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29" name="Shape 27"/>
          <p:cNvSpPr/>
          <p:nvPr/>
        </p:nvSpPr>
        <p:spPr>
          <a:xfrm>
            <a:off x="6903720" y="868680"/>
            <a:ext cx="2011680" cy="54864"/>
          </a:xfrm>
          <a:prstGeom prst="rect">
            <a:avLst/>
          </a:prstGeom>
          <a:solidFill>
            <a:srgbClr val="94A3B8"/>
          </a:solidFill>
          <a:ln/>
        </p:spPr>
        <p:txBody>
          <a:bodyPr/>
          <a:lstStyle/>
          <a:p>
            <a:endParaRPr lang="en-US"/>
          </a:p>
        </p:txBody>
      </p:sp>
      <p:sp>
        <p:nvSpPr>
          <p:cNvPr id="30" name="Text 28"/>
          <p:cNvSpPr/>
          <p:nvPr/>
        </p:nvSpPr>
        <p:spPr>
          <a:xfrm>
            <a:off x="7040880" y="1051560"/>
            <a:ext cx="1737360" cy="201168"/>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FINAL</a:t>
            </a:r>
            <a:endParaRPr lang="en-US" sz="900" dirty="0"/>
          </a:p>
        </p:txBody>
      </p:sp>
      <p:sp>
        <p:nvSpPr>
          <p:cNvPr id="31" name="Text 29"/>
          <p:cNvSpPr/>
          <p:nvPr/>
        </p:nvSpPr>
        <p:spPr>
          <a:xfrm>
            <a:off x="7040880" y="1252728"/>
            <a:ext cx="173736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Phase 4</a:t>
            </a:r>
            <a:endParaRPr lang="en-US" sz="1200" dirty="0"/>
          </a:p>
        </p:txBody>
      </p:sp>
      <p:sp>
        <p:nvSpPr>
          <p:cNvPr id="32" name="Text 30"/>
          <p:cNvSpPr/>
          <p:nvPr/>
        </p:nvSpPr>
        <p:spPr>
          <a:xfrm>
            <a:off x="7040880" y="1508760"/>
            <a:ext cx="1737360" cy="502920"/>
          </a:xfrm>
          <a:prstGeom prst="rect">
            <a:avLst/>
          </a:prstGeom>
          <a:noFill/>
          <a:ln/>
        </p:spPr>
        <p:txBody>
          <a:bodyPr wrap="square" lIns="0" tIns="0" rIns="0" bIns="0" rtlCol="0" anchor="ctr"/>
          <a:lstStyle/>
          <a:p>
            <a:pPr marL="0" indent="0">
              <a:buNone/>
            </a:pPr>
            <a:r>
              <a:rPr lang="en-US" sz="1400" b="1" dirty="0">
                <a:solidFill>
                  <a:srgbClr val="0D9488"/>
                </a:solidFill>
                <a:latin typeface="Georgia" pitchFamily="34" charset="0"/>
                <a:ea typeface="Georgia" pitchFamily="34" charset="-122"/>
                <a:cs typeface="Georgia" pitchFamily="34" charset="-120"/>
              </a:rPr>
              <a:t>Results</a:t>
            </a:r>
            <a:endParaRPr lang="en-US" sz="1400" dirty="0"/>
          </a:p>
          <a:p>
            <a:pPr marL="0" indent="0">
              <a:buNone/>
            </a:pPr>
            <a:r>
              <a:rPr lang="en-US" sz="1400" b="1" dirty="0">
                <a:solidFill>
                  <a:srgbClr val="0D9488"/>
                </a:solidFill>
                <a:latin typeface="Georgia" pitchFamily="34" charset="0"/>
                <a:ea typeface="Georgia" pitchFamily="34" charset="-122"/>
                <a:cs typeface="Georgia" pitchFamily="34" charset="-120"/>
              </a:rPr>
              <a:t>+ Paper</a:t>
            </a:r>
            <a:endParaRPr lang="en-US" sz="1400" dirty="0"/>
          </a:p>
        </p:txBody>
      </p:sp>
      <p:sp>
        <p:nvSpPr>
          <p:cNvPr id="33" name="Text 31"/>
          <p:cNvSpPr/>
          <p:nvPr/>
        </p:nvSpPr>
        <p:spPr>
          <a:xfrm>
            <a:off x="7040880" y="2103120"/>
            <a:ext cx="1737360" cy="3200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Formulate findings</a:t>
            </a:r>
            <a:endParaRPr lang="en-US" sz="1050" dirty="0"/>
          </a:p>
        </p:txBody>
      </p:sp>
      <p:sp>
        <p:nvSpPr>
          <p:cNvPr id="34" name="Text 32"/>
          <p:cNvSpPr/>
          <p:nvPr/>
        </p:nvSpPr>
        <p:spPr>
          <a:xfrm>
            <a:off x="7040880" y="2468880"/>
            <a:ext cx="1737360" cy="3200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Reporting template</a:t>
            </a:r>
            <a:endParaRPr lang="en-US" sz="1050" dirty="0"/>
          </a:p>
        </p:txBody>
      </p:sp>
      <p:sp>
        <p:nvSpPr>
          <p:cNvPr id="35" name="Text 33"/>
          <p:cNvSpPr/>
          <p:nvPr/>
        </p:nvSpPr>
        <p:spPr>
          <a:xfrm>
            <a:off x="7040880" y="2834640"/>
            <a:ext cx="1737360" cy="32004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Reproducible repo</a:t>
            </a:r>
            <a:endParaRPr lang="en-US" sz="1050" dirty="0"/>
          </a:p>
        </p:txBody>
      </p:sp>
      <p:sp>
        <p:nvSpPr>
          <p:cNvPr id="36" name="Text 34"/>
          <p:cNvSpPr/>
          <p:nvPr/>
        </p:nvSpPr>
        <p:spPr>
          <a:xfrm>
            <a:off x="457200" y="3794760"/>
            <a:ext cx="3657600" cy="228600"/>
          </a:xfrm>
          <a:prstGeom prst="rect">
            <a:avLst/>
          </a:prstGeom>
          <a:noFill/>
          <a:ln/>
        </p:spPr>
        <p:txBody>
          <a:bodyPr wrap="square" lIns="0" tIns="0" rIns="0" bIns="0" rtlCol="0" anchor="ctr"/>
          <a:lstStyle/>
          <a:p>
            <a:pPr marL="0" indent="0">
              <a:buNone/>
            </a:pPr>
            <a:r>
              <a:rPr lang="en-US" sz="1000" b="1" kern="0" spc="200" dirty="0">
                <a:solidFill>
                  <a:srgbClr val="1E293B"/>
                </a:solidFill>
                <a:latin typeface="Calibri" pitchFamily="34" charset="0"/>
                <a:ea typeface="Calibri" pitchFamily="34" charset="-122"/>
                <a:cs typeface="Calibri" pitchFamily="34" charset="-120"/>
              </a:rPr>
              <a:t>KEY CHALLENGES RESOLVED</a:t>
            </a:r>
            <a:endParaRPr lang="en-US" sz="1000" dirty="0"/>
          </a:p>
        </p:txBody>
      </p:sp>
      <p:sp>
        <p:nvSpPr>
          <p:cNvPr id="37" name="Shape 35"/>
          <p:cNvSpPr/>
          <p:nvPr/>
        </p:nvSpPr>
        <p:spPr>
          <a:xfrm>
            <a:off x="457200" y="4114799"/>
            <a:ext cx="2651760" cy="858033"/>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40" name="Shape 38"/>
          <p:cNvSpPr/>
          <p:nvPr/>
        </p:nvSpPr>
        <p:spPr>
          <a:xfrm>
            <a:off x="3337560" y="4114799"/>
            <a:ext cx="2651760" cy="858033"/>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43" name="Shape 41"/>
          <p:cNvSpPr/>
          <p:nvPr/>
        </p:nvSpPr>
        <p:spPr>
          <a:xfrm>
            <a:off x="6217920" y="4114799"/>
            <a:ext cx="2651760" cy="858033"/>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46" name="Text 12">
            <a:extLst>
              <a:ext uri="{FF2B5EF4-FFF2-40B4-BE49-F238E27FC236}">
                <a16:creationId xmlns:a16="http://schemas.microsoft.com/office/drawing/2014/main" id="{1C3E78E5-3DCA-E569-DBF2-701A2AB712B2}"/>
              </a:ext>
            </a:extLst>
          </p:cNvPr>
          <p:cNvSpPr/>
          <p:nvPr/>
        </p:nvSpPr>
        <p:spPr>
          <a:xfrm>
            <a:off x="457200" y="1046914"/>
            <a:ext cx="1737360" cy="201168"/>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DONE</a:t>
            </a:r>
            <a:endParaRPr lang="en-US" sz="900" dirty="0"/>
          </a:p>
        </p:txBody>
      </p:sp>
      <p:sp>
        <p:nvSpPr>
          <p:cNvPr id="47" name="Text 13">
            <a:extLst>
              <a:ext uri="{FF2B5EF4-FFF2-40B4-BE49-F238E27FC236}">
                <a16:creationId xmlns:a16="http://schemas.microsoft.com/office/drawing/2014/main" id="{E5E37ADB-EBB9-4DB3-63DC-5D28ABBB546A}"/>
              </a:ext>
            </a:extLst>
          </p:cNvPr>
          <p:cNvSpPr/>
          <p:nvPr/>
        </p:nvSpPr>
        <p:spPr>
          <a:xfrm>
            <a:off x="457200" y="1254941"/>
            <a:ext cx="1737360" cy="22860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Phase 1</a:t>
            </a:r>
            <a:endParaRPr lang="en-US" sz="1200" dirty="0"/>
          </a:p>
        </p:txBody>
      </p:sp>
      <p:sp>
        <p:nvSpPr>
          <p:cNvPr id="48" name="Text 13">
            <a:extLst>
              <a:ext uri="{FF2B5EF4-FFF2-40B4-BE49-F238E27FC236}">
                <a16:creationId xmlns:a16="http://schemas.microsoft.com/office/drawing/2014/main" id="{75635D16-F1A0-739E-E303-ECA3E6FA22F3}"/>
              </a:ext>
            </a:extLst>
          </p:cNvPr>
          <p:cNvSpPr/>
          <p:nvPr/>
        </p:nvSpPr>
        <p:spPr>
          <a:xfrm>
            <a:off x="4846320" y="1254941"/>
            <a:ext cx="1737360" cy="228600"/>
          </a:xfrm>
          <a:prstGeom prst="rect">
            <a:avLst/>
          </a:prstGeom>
          <a:noFill/>
          <a:ln/>
        </p:spPr>
        <p:txBody>
          <a:bodyPr wrap="square" lIns="0" tIns="0" rIns="0" bIns="0" rtlCol="0" anchor="ctr"/>
          <a:lstStyle/>
          <a:p>
            <a:pPr marL="0" indent="0">
              <a:buNone/>
            </a:pPr>
            <a:r>
              <a:rPr lang="en-US" sz="1200" b="1" dirty="0">
                <a:solidFill>
                  <a:srgbClr val="E8A838"/>
                </a:solidFill>
                <a:latin typeface="Calibri" pitchFamily="34" charset="0"/>
                <a:ea typeface="Calibri" pitchFamily="34" charset="-122"/>
                <a:cs typeface="Calibri" pitchFamily="34" charset="-120"/>
              </a:rPr>
              <a:t>Phase 3</a:t>
            </a:r>
            <a:endParaRPr lang="en-US" sz="1200" dirty="0">
              <a:solidFill>
                <a:srgbClr val="E8A838"/>
              </a:solidFill>
            </a:endParaRPr>
          </a:p>
        </p:txBody>
      </p:sp>
      <p:sp>
        <p:nvSpPr>
          <p:cNvPr id="50" name="Text 36">
            <a:extLst>
              <a:ext uri="{FF2B5EF4-FFF2-40B4-BE49-F238E27FC236}">
                <a16:creationId xmlns:a16="http://schemas.microsoft.com/office/drawing/2014/main" id="{1A8C8FF6-0EB4-F5DD-A306-E21FCABFED9C}"/>
              </a:ext>
            </a:extLst>
          </p:cNvPr>
          <p:cNvSpPr/>
          <p:nvPr/>
        </p:nvSpPr>
        <p:spPr>
          <a:xfrm>
            <a:off x="566928" y="4133088"/>
            <a:ext cx="2423160" cy="274320"/>
          </a:xfrm>
          <a:prstGeom prst="rect">
            <a:avLst/>
          </a:prstGeom>
          <a:noFill/>
          <a:ln/>
        </p:spPr>
        <p:txBody>
          <a:bodyPr wrap="square" lIns="0" tIns="0" rIns="0" bIns="0" rtlCol="0" anchor="ctr"/>
          <a:lstStyle/>
          <a:p>
            <a:pPr marL="0" indent="0">
              <a:buNone/>
            </a:pPr>
            <a:r>
              <a:rPr lang="en-US" sz="1000" b="1" dirty="0">
                <a:solidFill>
                  <a:srgbClr val="DC3545"/>
                </a:solidFill>
                <a:latin typeface="Calibri" pitchFamily="34" charset="0"/>
                <a:ea typeface="Calibri" pitchFamily="34" charset="-122"/>
                <a:cs typeface="Calibri" pitchFamily="34" charset="-120"/>
              </a:rPr>
              <a:t>Timezone offset resolved</a:t>
            </a:r>
            <a:endParaRPr lang="en-US" sz="1000" dirty="0"/>
          </a:p>
        </p:txBody>
      </p:sp>
      <p:sp>
        <p:nvSpPr>
          <p:cNvPr id="51" name="Text 37">
            <a:extLst>
              <a:ext uri="{FF2B5EF4-FFF2-40B4-BE49-F238E27FC236}">
                <a16:creationId xmlns:a16="http://schemas.microsoft.com/office/drawing/2014/main" id="{CCD98DEC-5D7C-73C5-860C-EDCEA6A611C6}"/>
              </a:ext>
            </a:extLst>
          </p:cNvPr>
          <p:cNvSpPr/>
          <p:nvPr/>
        </p:nvSpPr>
        <p:spPr>
          <a:xfrm>
            <a:off x="566928" y="4407408"/>
            <a:ext cx="2423160" cy="43891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GTFS-RT timestamps are UTC; scheduled times are Eastern. Undetected, this produces 250-min delays on every bus — the kind of error that would silently invalidate a published analysis.</a:t>
            </a:r>
            <a:endParaRPr lang="en-US" sz="950" dirty="0"/>
          </a:p>
        </p:txBody>
      </p:sp>
      <p:sp>
        <p:nvSpPr>
          <p:cNvPr id="52" name="Text 39">
            <a:extLst>
              <a:ext uri="{FF2B5EF4-FFF2-40B4-BE49-F238E27FC236}">
                <a16:creationId xmlns:a16="http://schemas.microsoft.com/office/drawing/2014/main" id="{F213D5B8-AD75-E835-BEC0-089BC09B9DDA}"/>
              </a:ext>
            </a:extLst>
          </p:cNvPr>
          <p:cNvSpPr/>
          <p:nvPr/>
        </p:nvSpPr>
        <p:spPr>
          <a:xfrm>
            <a:off x="3447288" y="4133088"/>
            <a:ext cx="2423160" cy="274320"/>
          </a:xfrm>
          <a:prstGeom prst="rect">
            <a:avLst/>
          </a:prstGeom>
          <a:noFill/>
          <a:ln/>
        </p:spPr>
        <p:txBody>
          <a:bodyPr wrap="square" lIns="0" tIns="0" rIns="0" bIns="0" rtlCol="0" anchor="ctr"/>
          <a:lstStyle/>
          <a:p>
            <a:pPr marL="0" indent="0">
              <a:buNone/>
            </a:pPr>
            <a:r>
              <a:rPr lang="en-US" sz="1000" b="1" dirty="0">
                <a:solidFill>
                  <a:srgbClr val="DC3545"/>
                </a:solidFill>
                <a:latin typeface="Calibri" pitchFamily="34" charset="0"/>
                <a:ea typeface="Calibri" pitchFamily="34" charset="-122"/>
                <a:cs typeface="Calibri" pitchFamily="34" charset="-120"/>
              </a:rPr>
              <a:t>5 specification dimensions implemented</a:t>
            </a:r>
            <a:endParaRPr lang="en-US" sz="1000" dirty="0"/>
          </a:p>
        </p:txBody>
      </p:sp>
      <p:sp>
        <p:nvSpPr>
          <p:cNvPr id="53" name="Text 40">
            <a:extLst>
              <a:ext uri="{FF2B5EF4-FFF2-40B4-BE49-F238E27FC236}">
                <a16:creationId xmlns:a16="http://schemas.microsoft.com/office/drawing/2014/main" id="{ADE00480-0B4F-2B28-18D3-74E17C2F49F3}"/>
              </a:ext>
            </a:extLst>
          </p:cNvPr>
          <p:cNvSpPr/>
          <p:nvPr/>
        </p:nvSpPr>
        <p:spPr>
          <a:xfrm>
            <a:off x="3447288" y="4407408"/>
            <a:ext cx="2423160" cy="43891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Lateness threshold · Early departure treatment · Stop selection · Time of day · Stop position in route</a:t>
            </a:r>
            <a:endParaRPr lang="en-US" sz="950" dirty="0"/>
          </a:p>
        </p:txBody>
      </p:sp>
      <p:sp>
        <p:nvSpPr>
          <p:cNvPr id="54" name="Text 42">
            <a:extLst>
              <a:ext uri="{FF2B5EF4-FFF2-40B4-BE49-F238E27FC236}">
                <a16:creationId xmlns:a16="http://schemas.microsoft.com/office/drawing/2014/main" id="{35D8704F-6165-2AC6-E420-FE1F272B6C32}"/>
              </a:ext>
            </a:extLst>
          </p:cNvPr>
          <p:cNvSpPr/>
          <p:nvPr/>
        </p:nvSpPr>
        <p:spPr>
          <a:xfrm>
            <a:off x="6327648" y="4133088"/>
            <a:ext cx="2423160" cy="274320"/>
          </a:xfrm>
          <a:prstGeom prst="rect">
            <a:avLst/>
          </a:prstGeom>
          <a:noFill/>
          <a:ln/>
        </p:spPr>
        <p:txBody>
          <a:bodyPr wrap="square" lIns="0" tIns="0" rIns="0" bIns="0" rtlCol="0" anchor="ctr"/>
          <a:lstStyle/>
          <a:p>
            <a:pPr marL="0" indent="0">
              <a:buNone/>
            </a:pPr>
            <a:r>
              <a:rPr lang="en-US" sz="1000" b="1" dirty="0">
                <a:solidFill>
                  <a:srgbClr val="DC3545"/>
                </a:solidFill>
                <a:latin typeface="Calibri" pitchFamily="34" charset="0"/>
                <a:ea typeface="Calibri" pitchFamily="34" charset="-122"/>
                <a:cs typeface="Calibri" pitchFamily="34" charset="-120"/>
              </a:rPr>
              <a:t>Pipeline fully reproducible</a:t>
            </a:r>
            <a:endParaRPr lang="en-US" sz="1000" dirty="0"/>
          </a:p>
        </p:txBody>
      </p:sp>
      <p:sp>
        <p:nvSpPr>
          <p:cNvPr id="55" name="Text 43">
            <a:extLst>
              <a:ext uri="{FF2B5EF4-FFF2-40B4-BE49-F238E27FC236}">
                <a16:creationId xmlns:a16="http://schemas.microsoft.com/office/drawing/2014/main" id="{9E009C8C-0715-8800-DB33-70B5389EB698}"/>
              </a:ext>
            </a:extLst>
          </p:cNvPr>
          <p:cNvSpPr/>
          <p:nvPr/>
        </p:nvSpPr>
        <p:spPr>
          <a:xfrm>
            <a:off x="6327648" y="4407408"/>
            <a:ext cx="2423160" cy="438912"/>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4 notebooks, DuckDB + Python, DigitalOcean archiver. Rerunning on full dataset requires changing one date filter — everything else is automated.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1B2838"/>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A838"/>
          </a:solidFill>
          <a:ln/>
        </p:spPr>
        <p:txBody>
          <a:bodyPr/>
          <a:lstStyle/>
          <a:p>
            <a:endParaRPr lang="en-US"/>
          </a:p>
        </p:txBody>
      </p:sp>
      <p:sp>
        <p:nvSpPr>
          <p:cNvPr id="3" name="Text 1"/>
          <p:cNvSpPr/>
          <p:nvPr/>
        </p:nvSpPr>
        <p:spPr>
          <a:xfrm>
            <a:off x="457200" y="274320"/>
            <a:ext cx="8229600" cy="320040"/>
          </a:xfrm>
          <a:prstGeom prst="rect">
            <a:avLst/>
          </a:prstGeom>
          <a:noFill/>
          <a:ln/>
        </p:spPr>
        <p:txBody>
          <a:bodyPr wrap="square" lIns="0" tIns="0" rIns="0" bIns="0" rtlCol="0" anchor="ctr"/>
          <a:lstStyle/>
          <a:p>
            <a:pPr marL="0" indent="0">
              <a:buNone/>
            </a:pPr>
            <a:r>
              <a:rPr lang="en-US" sz="1200" b="1" kern="0" spc="400" dirty="0">
                <a:solidFill>
                  <a:srgbClr val="E8A838"/>
                </a:solidFill>
                <a:latin typeface="Calibri" pitchFamily="34" charset="0"/>
                <a:ea typeface="Calibri" pitchFamily="34" charset="-122"/>
                <a:cs typeface="Calibri" pitchFamily="34" charset="-120"/>
              </a:rPr>
              <a:t>EARLY FINDINGS</a:t>
            </a:r>
            <a:endParaRPr lang="en-US" sz="1200" dirty="0"/>
          </a:p>
        </p:txBody>
      </p:sp>
      <p:sp>
        <p:nvSpPr>
          <p:cNvPr id="4" name="Shape 2"/>
          <p:cNvSpPr/>
          <p:nvPr/>
        </p:nvSpPr>
        <p:spPr>
          <a:xfrm>
            <a:off x="457200" y="777240"/>
            <a:ext cx="8229600" cy="1051560"/>
          </a:xfrm>
          <a:prstGeom prst="rect">
            <a:avLst/>
          </a:prstGeom>
          <a:solidFill>
            <a:srgbClr val="243447"/>
          </a:solidFill>
          <a:ln/>
        </p:spPr>
        <p:txBody>
          <a:bodyPr/>
          <a:lstStyle/>
          <a:p>
            <a:endParaRPr lang="en-US"/>
          </a:p>
        </p:txBody>
      </p:sp>
      <p:sp>
        <p:nvSpPr>
          <p:cNvPr id="5" name="Shape 3"/>
          <p:cNvSpPr/>
          <p:nvPr/>
        </p:nvSpPr>
        <p:spPr>
          <a:xfrm>
            <a:off x="457200" y="777240"/>
            <a:ext cx="54864" cy="1051560"/>
          </a:xfrm>
          <a:prstGeom prst="rect">
            <a:avLst/>
          </a:prstGeom>
          <a:solidFill>
            <a:srgbClr val="E8A838"/>
          </a:solidFill>
          <a:ln/>
        </p:spPr>
        <p:txBody>
          <a:bodyPr/>
          <a:lstStyle/>
          <a:p>
            <a:endParaRPr lang="en-US"/>
          </a:p>
        </p:txBody>
      </p:sp>
      <p:sp>
        <p:nvSpPr>
          <p:cNvPr id="6" name="Text 4"/>
          <p:cNvSpPr/>
          <p:nvPr/>
        </p:nvSpPr>
        <p:spPr>
          <a:xfrm>
            <a:off x="731520" y="822960"/>
            <a:ext cx="7772400" cy="274320"/>
          </a:xfrm>
          <a:prstGeom prst="rect">
            <a:avLst/>
          </a:prstGeom>
          <a:noFill/>
          <a:ln/>
        </p:spPr>
        <p:txBody>
          <a:bodyPr wrap="square" lIns="0" tIns="0" rIns="0" bIns="0" rtlCol="0" anchor="ctr"/>
          <a:lstStyle/>
          <a:p>
            <a:pPr marL="0" indent="0">
              <a:buNone/>
            </a:pPr>
            <a:r>
              <a:rPr lang="en-US" sz="1000" b="1" kern="0" spc="200" dirty="0">
                <a:solidFill>
                  <a:srgbClr val="E8A838"/>
                </a:solidFill>
                <a:latin typeface="Calibri" pitchFamily="34" charset="0"/>
                <a:ea typeface="Calibri" pitchFamily="34" charset="-122"/>
                <a:cs typeface="Calibri" pitchFamily="34" charset="-120"/>
              </a:rPr>
              <a:t>Research questions</a:t>
            </a:r>
            <a:endParaRPr lang="en-US" sz="1000" dirty="0"/>
          </a:p>
        </p:txBody>
      </p:sp>
      <p:sp>
        <p:nvSpPr>
          <p:cNvPr id="7" name="Text 5"/>
          <p:cNvSpPr/>
          <p:nvPr/>
        </p:nvSpPr>
        <p:spPr>
          <a:xfrm>
            <a:off x="731520" y="1097280"/>
            <a:ext cx="7772400" cy="3200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RQ1:  Route 23 OTP ranges from 49.2% to 94.5% — a 45pp spread — across three</a:t>
            </a:r>
            <a:endParaRPr lang="en-US" sz="1250" dirty="0"/>
          </a:p>
          <a:p>
            <a:pPr marL="0" indent="0">
              <a:buNone/>
            </a:pPr>
            <a:r>
              <a:rPr lang="en-US" sz="1250" dirty="0">
                <a:solidFill>
                  <a:srgbClr val="FFFFFF"/>
                </a:solidFill>
                <a:latin typeface="Calibri" pitchFamily="34" charset="0"/>
                <a:ea typeface="Calibri" pitchFamily="34" charset="-122"/>
                <a:cs typeface="Calibri" pitchFamily="34" charset="-120"/>
              </a:rPr>
              <a:t>          reasonable lateness threshold definitions. Route 47 shows a similar 47pp spread.</a:t>
            </a:r>
            <a:endParaRPr lang="en-US" sz="1250" dirty="0"/>
          </a:p>
        </p:txBody>
      </p:sp>
      <p:sp>
        <p:nvSpPr>
          <p:cNvPr id="8" name="Text 6"/>
          <p:cNvSpPr/>
          <p:nvPr/>
        </p:nvSpPr>
        <p:spPr>
          <a:xfrm>
            <a:off x="731520" y="1463040"/>
            <a:ext cx="7772400" cy="27432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RQ2:  Lateness threshold (45pp) and early departure treatment (40pp) drive the most variance. Stop selection barely matters (2pp). Time of day matters for Route 47 (21pp PM peak gap).</a:t>
            </a:r>
            <a:endParaRPr lang="en-US" sz="1250" dirty="0"/>
          </a:p>
        </p:txBody>
      </p:sp>
      <p:sp>
        <p:nvSpPr>
          <p:cNvPr id="9" name="Shape 7"/>
          <p:cNvSpPr/>
          <p:nvPr/>
        </p:nvSpPr>
        <p:spPr>
          <a:xfrm>
            <a:off x="457200" y="2103120"/>
            <a:ext cx="2606040" cy="1920240"/>
          </a:xfrm>
          <a:prstGeom prst="rect">
            <a:avLst/>
          </a:prstGeom>
          <a:solidFill>
            <a:srgbClr val="243447"/>
          </a:solidFill>
          <a:ln/>
        </p:spPr>
        <p:txBody>
          <a:bodyPr/>
          <a:lstStyle/>
          <a:p>
            <a:endParaRPr lang="en-US"/>
          </a:p>
        </p:txBody>
      </p:sp>
      <p:sp>
        <p:nvSpPr>
          <p:cNvPr id="12" name="Text 10"/>
          <p:cNvSpPr/>
          <p:nvPr/>
        </p:nvSpPr>
        <p:spPr>
          <a:xfrm>
            <a:off x="594360" y="2514600"/>
            <a:ext cx="224028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Sensitivity Analysis</a:t>
            </a:r>
            <a:endParaRPr lang="en-US" sz="1500" dirty="0"/>
          </a:p>
        </p:txBody>
      </p:sp>
      <p:sp>
        <p:nvSpPr>
          <p:cNvPr id="13" name="Text 11"/>
          <p:cNvSpPr/>
          <p:nvPr/>
        </p:nvSpPr>
        <p:spPr>
          <a:xfrm>
            <a:off x="594360" y="2880360"/>
            <a:ext cx="2240280" cy="68580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Route 23: 49.2% → 94.5% OTP across threshold definitions. Route 47: 44.2% → 91.3%. Same data, same buses.</a:t>
            </a:r>
            <a:endParaRPr lang="en-US" sz="1100" dirty="0"/>
          </a:p>
        </p:txBody>
      </p:sp>
      <p:sp>
        <p:nvSpPr>
          <p:cNvPr id="14" name="Shape 12"/>
          <p:cNvSpPr/>
          <p:nvPr/>
        </p:nvSpPr>
        <p:spPr>
          <a:xfrm>
            <a:off x="3291840" y="2103120"/>
            <a:ext cx="2606040" cy="1920240"/>
          </a:xfrm>
          <a:prstGeom prst="rect">
            <a:avLst/>
          </a:prstGeom>
          <a:solidFill>
            <a:srgbClr val="243447"/>
          </a:solidFill>
          <a:ln/>
        </p:spPr>
        <p:txBody>
          <a:bodyPr/>
          <a:lstStyle/>
          <a:p>
            <a:endParaRPr lang="en-US"/>
          </a:p>
        </p:txBody>
      </p:sp>
      <p:sp>
        <p:nvSpPr>
          <p:cNvPr id="17" name="Text 15"/>
          <p:cNvSpPr/>
          <p:nvPr/>
        </p:nvSpPr>
        <p:spPr>
          <a:xfrm>
            <a:off x="3429000" y="2514600"/>
            <a:ext cx="224028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Driver Identification</a:t>
            </a:r>
            <a:endParaRPr lang="en-US" sz="1500" dirty="0"/>
          </a:p>
        </p:txBody>
      </p:sp>
      <p:sp>
        <p:nvSpPr>
          <p:cNvPr id="18" name="Text 16"/>
          <p:cNvSpPr/>
          <p:nvPr/>
        </p:nvSpPr>
        <p:spPr>
          <a:xfrm>
            <a:off x="3429000" y="2880360"/>
            <a:ext cx="2240280" cy="68580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Threshold and early-departure rules dominate. Stop selection (timepoints vs all) contributes only 2pp — smaller than expected.</a:t>
            </a:r>
            <a:endParaRPr lang="en-US" sz="1100" dirty="0"/>
          </a:p>
        </p:txBody>
      </p:sp>
      <p:sp>
        <p:nvSpPr>
          <p:cNvPr id="19" name="Shape 17"/>
          <p:cNvSpPr/>
          <p:nvPr/>
        </p:nvSpPr>
        <p:spPr>
          <a:xfrm>
            <a:off x="6126480" y="2103120"/>
            <a:ext cx="2606040" cy="1920240"/>
          </a:xfrm>
          <a:prstGeom prst="rect">
            <a:avLst/>
          </a:prstGeom>
          <a:solidFill>
            <a:srgbClr val="243447"/>
          </a:solidFill>
          <a:ln/>
        </p:spPr>
        <p:txBody>
          <a:bodyPr/>
          <a:lstStyle/>
          <a:p>
            <a:endParaRPr lang="en-US"/>
          </a:p>
        </p:txBody>
      </p:sp>
      <p:sp>
        <p:nvSpPr>
          <p:cNvPr id="22" name="Text 20"/>
          <p:cNvSpPr/>
          <p:nvPr/>
        </p:nvSpPr>
        <p:spPr>
          <a:xfrm>
            <a:off x="6263640" y="2514600"/>
            <a:ext cx="224028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Georgia" pitchFamily="34" charset="0"/>
                <a:ea typeface="Georgia" pitchFamily="34" charset="-122"/>
                <a:cs typeface="Georgia" pitchFamily="34" charset="-120"/>
              </a:rPr>
              <a:t>Reporting Standard</a:t>
            </a:r>
            <a:endParaRPr lang="en-US" sz="1500" dirty="0"/>
          </a:p>
        </p:txBody>
      </p:sp>
      <p:sp>
        <p:nvSpPr>
          <p:cNvPr id="23" name="Text 21"/>
          <p:cNvSpPr/>
          <p:nvPr/>
        </p:nvSpPr>
        <p:spPr>
          <a:xfrm>
            <a:off x="6263640" y="2880360"/>
            <a:ext cx="2240280" cy="68580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Any agency publishing OTP must disclose threshold, early-departure rule, and time-of-day scope. These three choices alone explain most of the variance.</a:t>
            </a:r>
            <a:endParaRPr lang="en-US" sz="1100" dirty="0"/>
          </a:p>
        </p:txBody>
      </p:sp>
      <p:sp>
        <p:nvSpPr>
          <p:cNvPr id="24" name="Text 22"/>
          <p:cNvSpPr/>
          <p:nvPr/>
        </p:nvSpPr>
        <p:spPr>
          <a:xfrm>
            <a:off x="457200" y="4251960"/>
            <a:ext cx="8229600" cy="27432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Pipeline: 4 notebooks · DuckDB + Python · DigitalOcean archiver · GitHub: tobibussiek/TransitKPIFramework</a:t>
            </a:r>
            <a:endParaRPr lang="en-US" sz="1050" dirty="0"/>
          </a:p>
        </p:txBody>
      </p:sp>
      <p:sp>
        <p:nvSpPr>
          <p:cNvPr id="25" name="Text 23"/>
          <p:cNvSpPr/>
          <p:nvPr/>
        </p:nvSpPr>
        <p:spPr>
          <a:xfrm>
            <a:off x="457200" y="4617720"/>
            <a:ext cx="8229600" cy="274320"/>
          </a:xfrm>
          <a:prstGeom prst="rect">
            <a:avLst/>
          </a:prstGeom>
          <a:noFill/>
          <a:ln/>
        </p:spPr>
        <p:txBody>
          <a:bodyPr wrap="square" lIns="0" tIns="0" rIns="0" bIns="0" rtlCol="0" anchor="ctr"/>
          <a:lstStyle/>
          <a:p>
            <a:pPr marL="0" indent="0">
              <a:buNone/>
            </a:pPr>
            <a:r>
              <a:rPr lang="en-US" sz="1300" dirty="0">
                <a:solidFill>
                  <a:srgbClr val="E8A838"/>
                </a:solidFill>
                <a:latin typeface="Calibri" pitchFamily="34" charset="0"/>
                <a:ea typeface="Calibri" pitchFamily="34" charset="-122"/>
                <a:cs typeface="Calibri" pitchFamily="34" charset="-120"/>
              </a:rPr>
              <a:t>Thank you — happy to take questions.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244</TotalTime>
  <Words>1230</Words>
  <Application>Microsoft Office PowerPoint</Application>
  <PresentationFormat>On-screen Show (16:9)</PresentationFormat>
  <Paragraphs>97</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KPI Robustness in Public Transit</dc:title>
  <dc:subject>PptxGenJS Presentation</dc:subject>
  <dc:creator>Graduate Student</dc:creator>
  <cp:lastModifiedBy>Bussiek, Tobias</cp:lastModifiedBy>
  <cp:revision>18</cp:revision>
  <dcterms:created xsi:type="dcterms:W3CDTF">2026-03-23T20:34:09Z</dcterms:created>
  <dcterms:modified xsi:type="dcterms:W3CDTF">2026-04-13T21:08:00Z</dcterms:modified>
</cp:coreProperties>
</file>